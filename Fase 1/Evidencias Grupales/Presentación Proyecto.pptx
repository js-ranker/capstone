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8288000" cy="10287000"/>
  <p:notesSz cx="6858000" cy="9144000"/>
  <p:embeddedFontLst>
    <p:embeddedFont>
      <p:font typeface="Montserrat Bold" panose="020B0604020202020204" charset="0"/>
      <p:regular r:id="rId12"/>
    </p:embeddedFont>
    <p:embeddedFont>
      <p:font typeface="Source Sans 3" panose="020B0604020202020204" charset="0"/>
      <p:regular r:id="rId1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08" userDrawn="1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58220"/>
    <a:srgbClr val="0878B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353" autoAdjust="0"/>
    <p:restoredTop sz="94622" autoAdjust="0"/>
  </p:normalViewPr>
  <p:slideViewPr>
    <p:cSldViewPr>
      <p:cViewPr>
        <p:scale>
          <a:sx n="69" d="100"/>
          <a:sy n="69" d="100"/>
        </p:scale>
        <p:origin x="66" y="66"/>
      </p:cViewPr>
      <p:guideLst>
        <p:guide orient="horz" pos="1608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-6" y="-18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2.fntdata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CL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C9A961B-54C5-4E60-A31A-A69090C7D62D}" type="datetimeFigureOut">
              <a:rPr lang="es-CL" smtClean="0"/>
              <a:t>10-09-2026</a:t>
            </a:fld>
            <a:endParaRPr lang="es-CL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CL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CL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A082FA4-1ED1-4347-A84E-CB528A22EA7B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04549778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L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A082FA4-1ED1-4347-A84E-CB528A22EA7B}" type="slidenum">
              <a:rPr lang="es-CL" smtClean="0"/>
              <a:t>5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41602980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9/10/2026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svg"/><Relationship Id="rId5" Type="http://schemas.openxmlformats.org/officeDocument/2006/relationships/image" Target="../media/image5.svg"/><Relationship Id="rId4" Type="http://schemas.openxmlformats.org/officeDocument/2006/relationships/image" Target="../media/image4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13" Type="http://schemas.openxmlformats.org/officeDocument/2006/relationships/image" Target="../media/image18.pn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12" Type="http://schemas.openxmlformats.org/officeDocument/2006/relationships/image" Target="../media/image17.png"/><Relationship Id="rId17" Type="http://schemas.openxmlformats.org/officeDocument/2006/relationships/image" Target="../media/image22.png"/><Relationship Id="rId2" Type="http://schemas.openxmlformats.org/officeDocument/2006/relationships/image" Target="../media/image2.png"/><Relationship Id="rId16" Type="http://schemas.openxmlformats.org/officeDocument/2006/relationships/image" Target="../media/image2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png"/><Relationship Id="rId11" Type="http://schemas.openxmlformats.org/officeDocument/2006/relationships/image" Target="../media/image16.png"/><Relationship Id="rId5" Type="http://schemas.openxmlformats.org/officeDocument/2006/relationships/image" Target="../media/image10.png"/><Relationship Id="rId15" Type="http://schemas.openxmlformats.org/officeDocument/2006/relationships/image" Target="../media/image20.png"/><Relationship Id="rId10" Type="http://schemas.openxmlformats.org/officeDocument/2006/relationships/image" Target="../media/image15.png"/><Relationship Id="rId4" Type="http://schemas.openxmlformats.org/officeDocument/2006/relationships/image" Target="../media/image9.png"/><Relationship Id="rId9" Type="http://schemas.openxmlformats.org/officeDocument/2006/relationships/image" Target="../media/image14.png"/><Relationship Id="rId14" Type="http://schemas.openxmlformats.org/officeDocument/2006/relationships/image" Target="../media/image19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png"/><Relationship Id="rId13" Type="http://schemas.openxmlformats.org/officeDocument/2006/relationships/image" Target="../media/image32.png"/><Relationship Id="rId18" Type="http://schemas.openxmlformats.org/officeDocument/2006/relationships/image" Target="../media/image37.png"/><Relationship Id="rId3" Type="http://schemas.openxmlformats.org/officeDocument/2006/relationships/image" Target="../media/image2.png"/><Relationship Id="rId7" Type="http://schemas.openxmlformats.org/officeDocument/2006/relationships/image" Target="../media/image26.png"/><Relationship Id="rId12" Type="http://schemas.openxmlformats.org/officeDocument/2006/relationships/image" Target="../media/image31.png"/><Relationship Id="rId17" Type="http://schemas.openxmlformats.org/officeDocument/2006/relationships/image" Target="../media/image36.png"/><Relationship Id="rId2" Type="http://schemas.openxmlformats.org/officeDocument/2006/relationships/notesSlide" Target="../notesSlides/notesSlide1.xml"/><Relationship Id="rId16" Type="http://schemas.openxmlformats.org/officeDocument/2006/relationships/image" Target="../media/image35.png"/><Relationship Id="rId20" Type="http://schemas.openxmlformats.org/officeDocument/2006/relationships/image" Target="../media/image39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5.png"/><Relationship Id="rId11" Type="http://schemas.openxmlformats.org/officeDocument/2006/relationships/image" Target="../media/image30.png"/><Relationship Id="rId5" Type="http://schemas.openxmlformats.org/officeDocument/2006/relationships/image" Target="../media/image24.png"/><Relationship Id="rId15" Type="http://schemas.openxmlformats.org/officeDocument/2006/relationships/image" Target="../media/image34.png"/><Relationship Id="rId10" Type="http://schemas.openxmlformats.org/officeDocument/2006/relationships/image" Target="../media/image29.png"/><Relationship Id="rId19" Type="http://schemas.openxmlformats.org/officeDocument/2006/relationships/image" Target="../media/image38.png"/><Relationship Id="rId4" Type="http://schemas.openxmlformats.org/officeDocument/2006/relationships/image" Target="../media/image23.png"/><Relationship Id="rId9" Type="http://schemas.openxmlformats.org/officeDocument/2006/relationships/image" Target="../media/image28.png"/><Relationship Id="rId14" Type="http://schemas.openxmlformats.org/officeDocument/2006/relationships/image" Target="../media/image33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38100" y="0"/>
            <a:ext cx="10191750" cy="10287000"/>
          </a:xfrm>
          <a:custGeom>
            <a:avLst/>
            <a:gdLst/>
            <a:ahLst/>
            <a:cxnLst/>
            <a:rect l="l" t="t" r="r" b="b"/>
            <a:pathLst>
              <a:path w="10191750" h="10287000">
                <a:moveTo>
                  <a:pt x="0" y="0"/>
                </a:moveTo>
                <a:lnTo>
                  <a:pt x="10191750" y="0"/>
                </a:lnTo>
                <a:lnTo>
                  <a:pt x="1019175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39719" r="-39719"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s-CL" noProof="0" dirty="0"/>
          </a:p>
        </p:txBody>
      </p:sp>
      <p:grpSp>
        <p:nvGrpSpPr>
          <p:cNvPr id="7" name="Group 7"/>
          <p:cNvGrpSpPr/>
          <p:nvPr/>
        </p:nvGrpSpPr>
        <p:grpSpPr>
          <a:xfrm>
            <a:off x="11087100" y="7524750"/>
            <a:ext cx="1000125" cy="76200"/>
            <a:chOff x="0" y="0"/>
            <a:chExt cx="1333500" cy="1016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1333500" cy="101600"/>
            </a:xfrm>
            <a:custGeom>
              <a:avLst/>
              <a:gdLst/>
              <a:ahLst/>
              <a:cxnLst/>
              <a:rect l="l" t="t" r="r" b="b"/>
              <a:pathLst>
                <a:path w="1333500" h="101600">
                  <a:moveTo>
                    <a:pt x="0" y="0"/>
                  </a:moveTo>
                  <a:lnTo>
                    <a:pt x="1333500" y="0"/>
                  </a:lnTo>
                  <a:lnTo>
                    <a:pt x="1333500" y="101600"/>
                  </a:lnTo>
                  <a:lnTo>
                    <a:pt x="0" y="101600"/>
                  </a:lnTo>
                  <a:close/>
                </a:path>
              </a:pathLst>
            </a:custGeom>
            <a:solidFill>
              <a:srgbClr val="F58220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s-CL" noProof="0" dirty="0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0" y="-38100"/>
              <a:ext cx="1333500" cy="1397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 lang="es-CL" noProof="0" dirty="0"/>
            </a:p>
          </p:txBody>
        </p:sp>
      </p:grpSp>
      <p:sp>
        <p:nvSpPr>
          <p:cNvPr id="10" name="TextBox 10"/>
          <p:cNvSpPr txBox="1"/>
          <p:nvPr/>
        </p:nvSpPr>
        <p:spPr>
          <a:xfrm>
            <a:off x="11039475" y="2962275"/>
            <a:ext cx="8096250" cy="19773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560"/>
              </a:lnSpc>
            </a:pPr>
            <a:r>
              <a:rPr lang="es-CL" sz="8400" b="1" noProof="0" dirty="0">
                <a:solidFill>
                  <a:srgbClr val="082B4C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TTDH</a:t>
            </a:r>
          </a:p>
          <a:p>
            <a:pPr algn="l">
              <a:lnSpc>
                <a:spcPts val="7560"/>
              </a:lnSpc>
            </a:pPr>
            <a:r>
              <a:rPr lang="es-CL" sz="8400" b="1" noProof="0" dirty="0" err="1">
                <a:solidFill>
                  <a:srgbClr val="082B4C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Automation</a:t>
            </a:r>
            <a:endParaRPr lang="es-CL" sz="8400" b="1" noProof="0" dirty="0">
              <a:solidFill>
                <a:srgbClr val="082B4C"/>
              </a:solidFill>
              <a:latin typeface="Montserrat Bold"/>
              <a:ea typeface="Montserrat Bold"/>
              <a:cs typeface="Montserrat Bold"/>
              <a:sym typeface="Montserrat Bold"/>
            </a:endParaRPr>
          </a:p>
        </p:txBody>
      </p:sp>
      <p:sp>
        <p:nvSpPr>
          <p:cNvPr id="11" name="TextBox 11"/>
          <p:cNvSpPr txBox="1"/>
          <p:nvPr/>
        </p:nvSpPr>
        <p:spPr>
          <a:xfrm>
            <a:off x="11087100" y="5095875"/>
            <a:ext cx="6191250" cy="4305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69"/>
              </a:lnSpc>
            </a:pPr>
            <a:r>
              <a:rPr lang="es-CL" sz="2550" b="1" noProof="0" dirty="0">
                <a:solidFill>
                  <a:srgbClr val="0878B9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Proyecto APT – </a:t>
            </a:r>
            <a:r>
              <a:rPr lang="es-CL" sz="2550" b="1" noProof="0" dirty="0" err="1">
                <a:solidFill>
                  <a:srgbClr val="0878B9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Capstone</a:t>
            </a:r>
            <a:endParaRPr lang="es-CL" sz="2550" b="1" noProof="0" dirty="0">
              <a:solidFill>
                <a:srgbClr val="0878B9"/>
              </a:solidFill>
              <a:latin typeface="Montserrat Bold"/>
              <a:ea typeface="Montserrat Bold"/>
              <a:cs typeface="Montserrat Bold"/>
              <a:sym typeface="Montserrat Bold"/>
            </a:endParaRPr>
          </a:p>
        </p:txBody>
      </p:sp>
      <p:sp>
        <p:nvSpPr>
          <p:cNvPr id="12" name="TextBox 12"/>
          <p:cNvSpPr txBox="1"/>
          <p:nvPr/>
        </p:nvSpPr>
        <p:spPr>
          <a:xfrm>
            <a:off x="11087100" y="5743575"/>
            <a:ext cx="5715000" cy="3000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37"/>
              </a:lnSpc>
            </a:pPr>
            <a:r>
              <a:rPr lang="es-CL" sz="1875" noProof="0" dirty="0">
                <a:solidFill>
                  <a:srgbClr val="082B4C"/>
                </a:solidFill>
                <a:latin typeface="Source Sans 3"/>
                <a:ea typeface="Source Sans 3"/>
                <a:cs typeface="Source Sans 3"/>
                <a:sym typeface="Source Sans 3"/>
              </a:rPr>
              <a:t>Ingeniería en Informática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1087100" y="8067675"/>
            <a:ext cx="6858000" cy="2400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95"/>
              </a:lnSpc>
            </a:pPr>
            <a:r>
              <a:rPr lang="es-CL" sz="1425" b="1" spc="114" noProof="0" dirty="0">
                <a:solidFill>
                  <a:srgbClr val="0878B9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Automatización · Integración · Trazabilidad</a:t>
            </a:r>
          </a:p>
        </p:txBody>
      </p:sp>
      <p:pic>
        <p:nvPicPr>
          <p:cNvPr id="15" name="Imagen 14">
            <a:extLst>
              <a:ext uri="{FF2B5EF4-FFF2-40B4-BE49-F238E27FC236}">
                <a16:creationId xmlns:a16="http://schemas.microsoft.com/office/drawing/2014/main" id="{DC49464E-EF54-6087-13A7-7F5A12B8FCA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946415" y="424842"/>
            <a:ext cx="2960585" cy="1084872"/>
          </a:xfrm>
          <a:prstGeom prst="rect">
            <a:avLst/>
          </a:prstGeom>
        </p:spPr>
      </p:pic>
    </p:spTree>
  </p:cSld>
  <p:clrMapOvr>
    <a:masterClrMapping/>
  </p:clrMapOvr>
  <p:transition spd="med">
    <p:pull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6"/>
          <p:cNvSpPr txBox="1"/>
          <p:nvPr/>
        </p:nvSpPr>
        <p:spPr>
          <a:xfrm>
            <a:off x="857250" y="1551623"/>
            <a:ext cx="14287500" cy="5438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52"/>
              </a:lnSpc>
            </a:pPr>
            <a:r>
              <a:rPr lang="es-CL" sz="4050" b="1" noProof="0" dirty="0">
                <a:solidFill>
                  <a:srgbClr val="082B4C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Integrantes del Proyecto</a:t>
            </a:r>
          </a:p>
        </p:txBody>
      </p:sp>
      <p:grpSp>
        <p:nvGrpSpPr>
          <p:cNvPr id="18" name="Group 18"/>
          <p:cNvGrpSpPr/>
          <p:nvPr/>
        </p:nvGrpSpPr>
        <p:grpSpPr>
          <a:xfrm>
            <a:off x="9239250" y="2905125"/>
            <a:ext cx="7524750" cy="2714625"/>
            <a:chOff x="0" y="0"/>
            <a:chExt cx="10033000" cy="3619500"/>
          </a:xfrm>
        </p:grpSpPr>
        <p:grpSp>
          <p:nvGrpSpPr>
            <p:cNvPr id="19" name="Group 19"/>
            <p:cNvGrpSpPr/>
            <p:nvPr/>
          </p:nvGrpSpPr>
          <p:grpSpPr>
            <a:xfrm>
              <a:off x="0" y="0"/>
              <a:ext cx="10033000" cy="3619500"/>
              <a:chOff x="0" y="0"/>
              <a:chExt cx="10033000" cy="3619500"/>
            </a:xfrm>
          </p:grpSpPr>
          <p:sp>
            <p:nvSpPr>
              <p:cNvPr id="20" name="Freeform 20"/>
              <p:cNvSpPr/>
              <p:nvPr/>
            </p:nvSpPr>
            <p:spPr>
              <a:xfrm>
                <a:off x="0" y="0"/>
                <a:ext cx="10033000" cy="3619500"/>
              </a:xfrm>
              <a:custGeom>
                <a:avLst/>
                <a:gdLst/>
                <a:ahLst/>
                <a:cxnLst/>
                <a:rect l="l" t="t" r="r" b="b"/>
                <a:pathLst>
                  <a:path w="10033000" h="3619500">
                    <a:moveTo>
                      <a:pt x="0" y="0"/>
                    </a:moveTo>
                    <a:lnTo>
                      <a:pt x="10033000" y="0"/>
                    </a:lnTo>
                    <a:lnTo>
                      <a:pt x="10033000" y="3619500"/>
                    </a:lnTo>
                    <a:lnTo>
                      <a:pt x="0" y="3619500"/>
                    </a:lnTo>
                    <a:close/>
                  </a:path>
                </a:pathLst>
              </a:custGeom>
              <a:solidFill>
                <a:srgbClr val="FFFFFF"/>
              </a:solidFill>
              <a:ln w="9525" cap="sq">
                <a:solidFill>
                  <a:srgbClr val="D7E0E8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s-CL" noProof="0" dirty="0"/>
              </a:p>
            </p:txBody>
          </p:sp>
          <p:sp>
            <p:nvSpPr>
              <p:cNvPr id="21" name="TextBox 21"/>
              <p:cNvSpPr txBox="1"/>
              <p:nvPr/>
            </p:nvSpPr>
            <p:spPr>
              <a:xfrm>
                <a:off x="0" y="-38100"/>
                <a:ext cx="10033000" cy="36576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679"/>
                  </a:lnSpc>
                </a:pPr>
                <a:endParaRPr lang="es-CL" noProof="0" dirty="0"/>
              </a:p>
            </p:txBody>
          </p:sp>
        </p:grpSp>
        <p:grpSp>
          <p:nvGrpSpPr>
            <p:cNvPr id="22" name="Group 22"/>
            <p:cNvGrpSpPr/>
            <p:nvPr/>
          </p:nvGrpSpPr>
          <p:grpSpPr>
            <a:xfrm>
              <a:off x="431800" y="381000"/>
              <a:ext cx="1270000" cy="1270000"/>
              <a:chOff x="0" y="0"/>
              <a:chExt cx="1270000" cy="1270000"/>
            </a:xfrm>
          </p:grpSpPr>
          <p:sp>
            <p:nvSpPr>
              <p:cNvPr id="23" name="Freeform 23"/>
              <p:cNvSpPr/>
              <p:nvPr/>
            </p:nvSpPr>
            <p:spPr>
              <a:xfrm>
                <a:off x="0" y="0"/>
                <a:ext cx="1270000" cy="1270000"/>
              </a:xfrm>
              <a:custGeom>
                <a:avLst/>
                <a:gdLst/>
                <a:ahLst/>
                <a:cxnLst/>
                <a:rect l="l" t="t" r="r" b="b"/>
                <a:pathLst>
                  <a:path w="1270000" h="1270000">
                    <a:moveTo>
                      <a:pt x="0" y="0"/>
                    </a:moveTo>
                    <a:lnTo>
                      <a:pt x="1270000" y="0"/>
                    </a:lnTo>
                    <a:lnTo>
                      <a:pt x="1270000" y="1270000"/>
                    </a:lnTo>
                    <a:lnTo>
                      <a:pt x="0" y="1270000"/>
                    </a:lnTo>
                    <a:close/>
                  </a:path>
                </a:pathLst>
              </a:custGeom>
              <a:solidFill>
                <a:srgbClr val="0878B9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es-CL" noProof="0" dirty="0"/>
              </a:p>
            </p:txBody>
          </p:sp>
          <p:sp>
            <p:nvSpPr>
              <p:cNvPr id="24" name="TextBox 24"/>
              <p:cNvSpPr txBox="1"/>
              <p:nvPr/>
            </p:nvSpPr>
            <p:spPr>
              <a:xfrm>
                <a:off x="0" y="-38100"/>
                <a:ext cx="1270000" cy="13081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679"/>
                  </a:lnSpc>
                </a:pPr>
                <a:endParaRPr lang="es-CL" noProof="0" dirty="0"/>
              </a:p>
            </p:txBody>
          </p:sp>
        </p:grpSp>
        <p:sp>
          <p:nvSpPr>
            <p:cNvPr id="26" name="TextBox 26"/>
            <p:cNvSpPr txBox="1"/>
            <p:nvPr/>
          </p:nvSpPr>
          <p:spPr>
            <a:xfrm>
              <a:off x="2222500" y="473075"/>
              <a:ext cx="7493000" cy="45656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640"/>
                </a:lnSpc>
              </a:pPr>
              <a:r>
                <a:rPr lang="es-CL" sz="2400" b="1" noProof="0" dirty="0">
                  <a:solidFill>
                    <a:srgbClr val="082B4C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Tomás Catalán Madariaga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2222500" y="1266825"/>
              <a:ext cx="7493000" cy="31051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995"/>
                </a:lnSpc>
              </a:pPr>
              <a:r>
                <a:rPr lang="es-CL" sz="1425" b="1" spc="114" noProof="0" dirty="0">
                  <a:solidFill>
                    <a:srgbClr val="0878B9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BASES DE DATOS Y ETL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2222500" y="1949450"/>
              <a:ext cx="7493000" cy="8001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437"/>
                </a:lnSpc>
              </a:pPr>
              <a:r>
                <a:rPr lang="es-CL" sz="1875" noProof="0" dirty="0">
                  <a:solidFill>
                    <a:srgbClr val="082B4C"/>
                  </a:solidFill>
                  <a:latin typeface="Source Sans 3"/>
                  <a:ea typeface="Source Sans 3"/>
                  <a:cs typeface="Source Sans 3"/>
                  <a:sym typeface="Source Sans 3"/>
                </a:rPr>
                <a:t>Diseño e implementación de bases de datos, procesos ETL y gestión histórica</a:t>
              </a:r>
            </a:p>
          </p:txBody>
        </p:sp>
      </p:grpSp>
      <p:grpSp>
        <p:nvGrpSpPr>
          <p:cNvPr id="41" name="Group 41"/>
          <p:cNvGrpSpPr/>
          <p:nvPr/>
        </p:nvGrpSpPr>
        <p:grpSpPr>
          <a:xfrm>
            <a:off x="9239250" y="6238875"/>
            <a:ext cx="7524750" cy="2714625"/>
            <a:chOff x="0" y="0"/>
            <a:chExt cx="10033000" cy="3619500"/>
          </a:xfrm>
        </p:grpSpPr>
        <p:sp>
          <p:nvSpPr>
            <p:cNvPr id="42" name="Freeform 42"/>
            <p:cNvSpPr/>
            <p:nvPr/>
          </p:nvSpPr>
          <p:spPr>
            <a:xfrm>
              <a:off x="0" y="0"/>
              <a:ext cx="10033000" cy="3619500"/>
            </a:xfrm>
            <a:custGeom>
              <a:avLst/>
              <a:gdLst/>
              <a:ahLst/>
              <a:cxnLst/>
              <a:rect l="l" t="t" r="r" b="b"/>
              <a:pathLst>
                <a:path w="10033000" h="3619500">
                  <a:moveTo>
                    <a:pt x="0" y="0"/>
                  </a:moveTo>
                  <a:lnTo>
                    <a:pt x="10033000" y="0"/>
                  </a:lnTo>
                  <a:lnTo>
                    <a:pt x="10033000" y="3619500"/>
                  </a:lnTo>
                  <a:lnTo>
                    <a:pt x="0" y="3619500"/>
                  </a:ln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D7E0E8"/>
              </a:solidFill>
              <a:prstDash val="solid"/>
              <a:miter/>
            </a:ln>
          </p:spPr>
          <p:txBody>
            <a:bodyPr/>
            <a:lstStyle/>
            <a:p>
              <a:endParaRPr lang="es-CL" noProof="0" dirty="0"/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0" y="-38100"/>
              <a:ext cx="10033000" cy="36576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 lang="es-CL" noProof="0" dirty="0"/>
            </a:p>
          </p:txBody>
        </p:sp>
      </p:grpSp>
      <p:sp>
        <p:nvSpPr>
          <p:cNvPr id="48" name="TextBox 48"/>
          <p:cNvSpPr txBox="1"/>
          <p:nvPr/>
        </p:nvSpPr>
        <p:spPr>
          <a:xfrm>
            <a:off x="10906125" y="6593681"/>
            <a:ext cx="5619750" cy="3424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lang="es-CL" sz="2400" b="1" noProof="0" dirty="0">
                <a:solidFill>
                  <a:srgbClr val="082B4C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Héctor Sanhueza Castro</a:t>
            </a:r>
          </a:p>
        </p:txBody>
      </p:sp>
      <p:sp>
        <p:nvSpPr>
          <p:cNvPr id="49" name="TextBox 49"/>
          <p:cNvSpPr txBox="1"/>
          <p:nvPr/>
        </p:nvSpPr>
        <p:spPr>
          <a:xfrm>
            <a:off x="10906125" y="7188994"/>
            <a:ext cx="5619750" cy="2328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95"/>
              </a:lnSpc>
            </a:pPr>
            <a:r>
              <a:rPr lang="es-CL" sz="1425" b="1" spc="114" noProof="0" dirty="0">
                <a:solidFill>
                  <a:srgbClr val="0878B9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IA Y PRUEBAS</a:t>
            </a:r>
          </a:p>
        </p:txBody>
      </p:sp>
      <p:sp>
        <p:nvSpPr>
          <p:cNvPr id="50" name="TextBox 50"/>
          <p:cNvSpPr txBox="1"/>
          <p:nvPr/>
        </p:nvSpPr>
        <p:spPr>
          <a:xfrm>
            <a:off x="10906125" y="7700963"/>
            <a:ext cx="5619750" cy="295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37"/>
              </a:lnSpc>
            </a:pPr>
            <a:r>
              <a:rPr lang="es-CL" sz="1875" noProof="0" dirty="0">
                <a:solidFill>
                  <a:srgbClr val="082B4C"/>
                </a:solidFill>
                <a:latin typeface="Source Sans 3"/>
                <a:ea typeface="Source Sans 3"/>
                <a:cs typeface="Source Sans 3"/>
                <a:sym typeface="Source Sans 3"/>
              </a:rPr>
              <a:t>Análisis IA, pruebas e integración</a:t>
            </a:r>
          </a:p>
        </p:txBody>
      </p:sp>
      <p:grpSp>
        <p:nvGrpSpPr>
          <p:cNvPr id="56" name="Grupo 55">
            <a:extLst>
              <a:ext uri="{FF2B5EF4-FFF2-40B4-BE49-F238E27FC236}">
                <a16:creationId xmlns:a16="http://schemas.microsoft.com/office/drawing/2014/main" id="{BC35A9AA-D854-65AC-5F45-E982A979C2CB}"/>
              </a:ext>
            </a:extLst>
          </p:cNvPr>
          <p:cNvGrpSpPr/>
          <p:nvPr/>
        </p:nvGrpSpPr>
        <p:grpSpPr>
          <a:xfrm>
            <a:off x="857250" y="266700"/>
            <a:ext cx="16725900" cy="914400"/>
            <a:chOff x="857250" y="266700"/>
            <a:chExt cx="16725900" cy="914400"/>
          </a:xfrm>
        </p:grpSpPr>
        <p:sp>
          <p:nvSpPr>
            <p:cNvPr id="3" name="TextBox 3"/>
            <p:cNvSpPr txBox="1"/>
            <p:nvPr/>
          </p:nvSpPr>
          <p:spPr>
            <a:xfrm>
              <a:off x="857250" y="647700"/>
              <a:ext cx="6858000" cy="23750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995"/>
                </a:lnSpc>
              </a:pPr>
              <a:r>
                <a:rPr lang="es-CL" sz="1425" b="1" spc="114" noProof="0" dirty="0">
                  <a:solidFill>
                    <a:srgbClr val="0878B9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Proyecto “TTDH </a:t>
              </a:r>
              <a:r>
                <a:rPr lang="es-CL" sz="1425" b="1" spc="114" noProof="0" dirty="0" err="1">
                  <a:solidFill>
                    <a:srgbClr val="0878B9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Automation</a:t>
              </a:r>
              <a:r>
                <a:rPr lang="es-CL" sz="1425" b="1" spc="114" noProof="0" dirty="0">
                  <a:solidFill>
                    <a:srgbClr val="0878B9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”</a:t>
              </a:r>
            </a:p>
          </p:txBody>
        </p:sp>
        <p:pic>
          <p:nvPicPr>
            <p:cNvPr id="53" name="Imagen 52">
              <a:extLst>
                <a:ext uri="{FF2B5EF4-FFF2-40B4-BE49-F238E27FC236}">
                  <a16:creationId xmlns:a16="http://schemas.microsoft.com/office/drawing/2014/main" id="{9341C206-B676-C166-9BE2-03774A84D4E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5163800" y="266700"/>
              <a:ext cx="2419350" cy="886543"/>
            </a:xfrm>
            <a:prstGeom prst="rect">
              <a:avLst/>
            </a:prstGeom>
          </p:spPr>
        </p:pic>
        <p:sp>
          <p:nvSpPr>
            <p:cNvPr id="55" name="AutoShape 5">
              <a:extLst>
                <a:ext uri="{FF2B5EF4-FFF2-40B4-BE49-F238E27FC236}">
                  <a16:creationId xmlns:a16="http://schemas.microsoft.com/office/drawing/2014/main" id="{BE14F98C-1342-BEE5-C07F-E14D54826629}"/>
                </a:ext>
              </a:extLst>
            </p:cNvPr>
            <p:cNvSpPr/>
            <p:nvPr/>
          </p:nvSpPr>
          <p:spPr>
            <a:xfrm>
              <a:off x="857250" y="1181100"/>
              <a:ext cx="16573500" cy="0"/>
            </a:xfrm>
            <a:prstGeom prst="line">
              <a:avLst/>
            </a:prstGeom>
            <a:ln w="25400" cap="flat">
              <a:solidFill>
                <a:srgbClr val="D7E0E8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es-CL" noProof="0" dirty="0"/>
            </a:p>
          </p:txBody>
        </p:sp>
      </p:grpSp>
      <p:grpSp>
        <p:nvGrpSpPr>
          <p:cNvPr id="59" name="Grupo 58">
            <a:extLst>
              <a:ext uri="{FF2B5EF4-FFF2-40B4-BE49-F238E27FC236}">
                <a16:creationId xmlns:a16="http://schemas.microsoft.com/office/drawing/2014/main" id="{E79AB83C-8ED7-FF0A-6A85-3926B6FD9786}"/>
              </a:ext>
            </a:extLst>
          </p:cNvPr>
          <p:cNvGrpSpPr/>
          <p:nvPr/>
        </p:nvGrpSpPr>
        <p:grpSpPr>
          <a:xfrm>
            <a:off x="857250" y="2849280"/>
            <a:ext cx="7548563" cy="2770470"/>
            <a:chOff x="857250" y="2849280"/>
            <a:chExt cx="7548563" cy="2770470"/>
          </a:xfrm>
        </p:grpSpPr>
        <p:grpSp>
          <p:nvGrpSpPr>
            <p:cNvPr id="8" name="Group 8"/>
            <p:cNvGrpSpPr/>
            <p:nvPr/>
          </p:nvGrpSpPr>
          <p:grpSpPr>
            <a:xfrm>
              <a:off x="857250" y="2849280"/>
              <a:ext cx="7548563" cy="2770470"/>
              <a:chOff x="0" y="-74460"/>
              <a:chExt cx="10064751" cy="3693960"/>
            </a:xfrm>
          </p:grpSpPr>
          <p:sp>
            <p:nvSpPr>
              <p:cNvPr id="9" name="Freeform 9"/>
              <p:cNvSpPr/>
              <p:nvPr/>
            </p:nvSpPr>
            <p:spPr>
              <a:xfrm>
                <a:off x="31751" y="-74460"/>
                <a:ext cx="10033000" cy="3619500"/>
              </a:xfrm>
              <a:custGeom>
                <a:avLst/>
                <a:gdLst/>
                <a:ahLst/>
                <a:cxnLst/>
                <a:rect l="l" t="t" r="r" b="b"/>
                <a:pathLst>
                  <a:path w="10033000" h="3619500">
                    <a:moveTo>
                      <a:pt x="0" y="0"/>
                    </a:moveTo>
                    <a:lnTo>
                      <a:pt x="10033000" y="0"/>
                    </a:lnTo>
                    <a:lnTo>
                      <a:pt x="10033000" y="3619500"/>
                    </a:lnTo>
                    <a:lnTo>
                      <a:pt x="0" y="3619500"/>
                    </a:lnTo>
                    <a:close/>
                  </a:path>
                </a:pathLst>
              </a:custGeom>
              <a:solidFill>
                <a:srgbClr val="FFFFFF"/>
              </a:solidFill>
              <a:ln w="9525" cap="sq">
                <a:solidFill>
                  <a:srgbClr val="D7E0E8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s-CL" noProof="0" dirty="0"/>
              </a:p>
            </p:txBody>
          </p:sp>
          <p:sp>
            <p:nvSpPr>
              <p:cNvPr id="10" name="TextBox 10"/>
              <p:cNvSpPr txBox="1"/>
              <p:nvPr/>
            </p:nvSpPr>
            <p:spPr>
              <a:xfrm>
                <a:off x="0" y="-38100"/>
                <a:ext cx="10033000" cy="36576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679"/>
                  </a:lnSpc>
                </a:pPr>
                <a:endParaRPr lang="es-CL" noProof="0" dirty="0"/>
              </a:p>
            </p:txBody>
          </p:sp>
        </p:grpSp>
        <p:sp>
          <p:nvSpPr>
            <p:cNvPr id="15" name="TextBox 15"/>
            <p:cNvSpPr txBox="1"/>
            <p:nvPr/>
          </p:nvSpPr>
          <p:spPr>
            <a:xfrm>
              <a:off x="2524125" y="3259931"/>
              <a:ext cx="5619750" cy="34242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640"/>
                </a:lnSpc>
              </a:pPr>
              <a:r>
                <a:rPr lang="es-CL" sz="2400" b="1" noProof="0" dirty="0">
                  <a:solidFill>
                    <a:srgbClr val="082B4C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María Trinidad Gaete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2524125" y="3855244"/>
              <a:ext cx="5619750" cy="23288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995"/>
                </a:lnSpc>
              </a:pPr>
              <a:r>
                <a:rPr lang="es-CL" sz="1425" b="1" spc="114" noProof="0" dirty="0">
                  <a:solidFill>
                    <a:srgbClr val="0878B9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ANÁLISIS Y COORDINACIÓN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2524125" y="4367213"/>
              <a:ext cx="5619750" cy="60007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437"/>
                </a:lnSpc>
              </a:pPr>
              <a:r>
                <a:rPr lang="es-CL" sz="1875" noProof="0" dirty="0">
                  <a:solidFill>
                    <a:srgbClr val="082B4C"/>
                  </a:solidFill>
                  <a:latin typeface="Source Sans 3"/>
                  <a:ea typeface="Source Sans 3"/>
                  <a:cs typeface="Source Sans 3"/>
                  <a:sym typeface="Source Sans 3"/>
                </a:rPr>
                <a:t>Levantamiento de requerimientos, documentación y coordinación general</a:t>
              </a:r>
            </a:p>
          </p:txBody>
        </p:sp>
        <p:grpSp>
          <p:nvGrpSpPr>
            <p:cNvPr id="57" name="Grupo 56">
              <a:extLst>
                <a:ext uri="{FF2B5EF4-FFF2-40B4-BE49-F238E27FC236}">
                  <a16:creationId xmlns:a16="http://schemas.microsoft.com/office/drawing/2014/main" id="{18F0FD5E-84CA-DBD3-E0B2-A53E7B3F6B48}"/>
                </a:ext>
              </a:extLst>
            </p:cNvPr>
            <p:cNvGrpSpPr/>
            <p:nvPr/>
          </p:nvGrpSpPr>
          <p:grpSpPr>
            <a:xfrm>
              <a:off x="1181100" y="3190875"/>
              <a:ext cx="952500" cy="952500"/>
              <a:chOff x="1181100" y="3190875"/>
              <a:chExt cx="952500" cy="952500"/>
            </a:xfrm>
          </p:grpSpPr>
          <p:grpSp>
            <p:nvGrpSpPr>
              <p:cNvPr id="11" name="Group 11"/>
              <p:cNvGrpSpPr/>
              <p:nvPr/>
            </p:nvGrpSpPr>
            <p:grpSpPr>
              <a:xfrm>
                <a:off x="1181100" y="3190875"/>
                <a:ext cx="952500" cy="952500"/>
                <a:chOff x="0" y="0"/>
                <a:chExt cx="1270000" cy="1270000"/>
              </a:xfrm>
            </p:grpSpPr>
            <p:sp>
              <p:nvSpPr>
                <p:cNvPr id="12" name="Freeform 12"/>
                <p:cNvSpPr/>
                <p:nvPr/>
              </p:nvSpPr>
              <p:spPr>
                <a:xfrm>
                  <a:off x="0" y="0"/>
                  <a:ext cx="1270000" cy="12700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70000" h="1270000">
                      <a:moveTo>
                        <a:pt x="0" y="0"/>
                      </a:moveTo>
                      <a:lnTo>
                        <a:pt x="1270000" y="0"/>
                      </a:lnTo>
                      <a:lnTo>
                        <a:pt x="1270000" y="1270000"/>
                      </a:lnTo>
                      <a:lnTo>
                        <a:pt x="0" y="1270000"/>
                      </a:lnTo>
                      <a:close/>
                    </a:path>
                  </a:pathLst>
                </a:custGeom>
                <a:solidFill>
                  <a:srgbClr val="F58220"/>
                </a:solidFill>
                <a:ln cap="sq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s-CL" noProof="0" dirty="0"/>
                </a:p>
              </p:txBody>
            </p:sp>
            <p:sp>
              <p:nvSpPr>
                <p:cNvPr id="13" name="TextBox 13"/>
                <p:cNvSpPr txBox="1"/>
                <p:nvPr/>
              </p:nvSpPr>
              <p:spPr>
                <a:xfrm>
                  <a:off x="0" y="-38100"/>
                  <a:ext cx="1270000" cy="1308100"/>
                </a:xfrm>
                <a:prstGeom prst="rect">
                  <a:avLst/>
                </a:prstGeom>
              </p:spPr>
              <p:txBody>
                <a:bodyPr lIns="50800" tIns="50800" rIns="50800" bIns="50800" rtlCol="0" anchor="ctr"/>
                <a:lstStyle/>
                <a:p>
                  <a:pPr algn="l">
                    <a:lnSpc>
                      <a:spcPts val="1679"/>
                    </a:lnSpc>
                  </a:pPr>
                  <a:endParaRPr lang="es-CL" noProof="0" dirty="0"/>
                </a:p>
              </p:txBody>
            </p:sp>
          </p:grpSp>
          <p:pic>
            <p:nvPicPr>
              <p:cNvPr id="51" name="Gráfico 50">
                <a:extLst>
                  <a:ext uri="{FF2B5EF4-FFF2-40B4-BE49-F238E27FC236}">
                    <a16:creationId xmlns:a16="http://schemas.microsoft.com/office/drawing/2014/main" id="{D7007BC8-4F19-57C3-0256-F113EB40888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p:blipFill>
            <p:spPr>
              <a:xfrm>
                <a:off x="1287066" y="3300650"/>
                <a:ext cx="740569" cy="740569"/>
              </a:xfrm>
              <a:prstGeom prst="rect">
                <a:avLst/>
              </a:prstGeom>
            </p:spPr>
          </p:pic>
        </p:grpSp>
      </p:grpSp>
      <p:pic>
        <p:nvPicPr>
          <p:cNvPr id="54" name="Gráfico 53">
            <a:extLst>
              <a:ext uri="{FF2B5EF4-FFF2-40B4-BE49-F238E27FC236}">
                <a16:creationId xmlns:a16="http://schemas.microsoft.com/office/drawing/2014/main" id="{1F8E10D2-5853-8985-2424-E003E7A6158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691782" y="3276600"/>
            <a:ext cx="695135" cy="781050"/>
          </a:xfrm>
          <a:prstGeom prst="rect">
            <a:avLst/>
          </a:prstGeom>
        </p:spPr>
      </p:pic>
      <p:grpSp>
        <p:nvGrpSpPr>
          <p:cNvPr id="63" name="Grupo 62">
            <a:extLst>
              <a:ext uri="{FF2B5EF4-FFF2-40B4-BE49-F238E27FC236}">
                <a16:creationId xmlns:a16="http://schemas.microsoft.com/office/drawing/2014/main" id="{4715A9D2-1231-21E1-89F3-4C561C5859CB}"/>
              </a:ext>
            </a:extLst>
          </p:cNvPr>
          <p:cNvGrpSpPr/>
          <p:nvPr/>
        </p:nvGrpSpPr>
        <p:grpSpPr>
          <a:xfrm>
            <a:off x="857250" y="6238875"/>
            <a:ext cx="7524750" cy="2714625"/>
            <a:chOff x="857250" y="6238875"/>
            <a:chExt cx="7524750" cy="2714625"/>
          </a:xfrm>
        </p:grpSpPr>
        <p:grpSp>
          <p:nvGrpSpPr>
            <p:cNvPr id="30" name="Group 30"/>
            <p:cNvGrpSpPr/>
            <p:nvPr/>
          </p:nvGrpSpPr>
          <p:grpSpPr>
            <a:xfrm>
              <a:off x="857250" y="6238875"/>
              <a:ext cx="7524750" cy="2714625"/>
              <a:chOff x="0" y="0"/>
              <a:chExt cx="10033000" cy="3619500"/>
            </a:xfrm>
          </p:grpSpPr>
          <p:sp>
            <p:nvSpPr>
              <p:cNvPr id="31" name="Freeform 31"/>
              <p:cNvSpPr/>
              <p:nvPr/>
            </p:nvSpPr>
            <p:spPr>
              <a:xfrm>
                <a:off x="0" y="0"/>
                <a:ext cx="10033000" cy="3619500"/>
              </a:xfrm>
              <a:custGeom>
                <a:avLst/>
                <a:gdLst/>
                <a:ahLst/>
                <a:cxnLst/>
                <a:rect l="l" t="t" r="r" b="b"/>
                <a:pathLst>
                  <a:path w="10033000" h="3619500">
                    <a:moveTo>
                      <a:pt x="0" y="0"/>
                    </a:moveTo>
                    <a:lnTo>
                      <a:pt x="10033000" y="0"/>
                    </a:lnTo>
                    <a:lnTo>
                      <a:pt x="10033000" y="3619500"/>
                    </a:lnTo>
                    <a:lnTo>
                      <a:pt x="0" y="3619500"/>
                    </a:lnTo>
                    <a:close/>
                  </a:path>
                </a:pathLst>
              </a:custGeom>
              <a:solidFill>
                <a:srgbClr val="FFFFFF"/>
              </a:solidFill>
              <a:ln w="9525" cap="sq">
                <a:solidFill>
                  <a:srgbClr val="D7E0E8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s-CL" noProof="0" dirty="0"/>
              </a:p>
            </p:txBody>
          </p:sp>
          <p:sp>
            <p:nvSpPr>
              <p:cNvPr id="32" name="TextBox 32"/>
              <p:cNvSpPr txBox="1"/>
              <p:nvPr/>
            </p:nvSpPr>
            <p:spPr>
              <a:xfrm>
                <a:off x="0" y="-38100"/>
                <a:ext cx="10033000" cy="36576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679"/>
                  </a:lnSpc>
                </a:pPr>
                <a:endParaRPr lang="es-CL" noProof="0" dirty="0"/>
              </a:p>
            </p:txBody>
          </p:sp>
        </p:grpSp>
        <p:sp>
          <p:nvSpPr>
            <p:cNvPr id="37" name="TextBox 37"/>
            <p:cNvSpPr txBox="1"/>
            <p:nvPr/>
          </p:nvSpPr>
          <p:spPr>
            <a:xfrm>
              <a:off x="2524125" y="6593681"/>
              <a:ext cx="5619750" cy="34242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640"/>
                </a:lnSpc>
              </a:pPr>
              <a:r>
                <a:rPr lang="es-CL" sz="2400" b="1" noProof="0" dirty="0">
                  <a:solidFill>
                    <a:srgbClr val="082B4C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David Muñoz Bravo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2524125" y="7188994"/>
              <a:ext cx="5619750" cy="23288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995"/>
                </a:lnSpc>
              </a:pPr>
              <a:r>
                <a:rPr lang="es-CL" sz="1425" b="1" spc="114" noProof="0" dirty="0">
                  <a:solidFill>
                    <a:srgbClr val="0878B9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APLICACIÓN Y NEGOCIO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2524125" y="7700963"/>
              <a:ext cx="5619750" cy="60007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437"/>
                </a:lnSpc>
              </a:pPr>
              <a:r>
                <a:rPr lang="es-CL" sz="1875" noProof="0" dirty="0">
                  <a:solidFill>
                    <a:srgbClr val="082B4C"/>
                  </a:solidFill>
                  <a:latin typeface="Source Sans 3"/>
                  <a:ea typeface="Source Sans 3"/>
                  <a:cs typeface="Source Sans 3"/>
                  <a:sym typeface="Source Sans 3"/>
                </a:rPr>
                <a:t>Desarrollo, validaciones, reglas de negocio, </a:t>
              </a:r>
              <a:r>
                <a:rPr lang="es-CL" sz="1875" noProof="0" dirty="0" err="1">
                  <a:solidFill>
                    <a:srgbClr val="082B4C"/>
                  </a:solidFill>
                  <a:latin typeface="Source Sans 3"/>
                  <a:ea typeface="Source Sans 3"/>
                  <a:cs typeface="Source Sans 3"/>
                  <a:sym typeface="Source Sans 3"/>
                </a:rPr>
                <a:t>dashboard</a:t>
              </a:r>
              <a:r>
                <a:rPr lang="es-CL" sz="1875" noProof="0" dirty="0">
                  <a:solidFill>
                    <a:srgbClr val="082B4C"/>
                  </a:solidFill>
                  <a:latin typeface="Source Sans 3"/>
                  <a:ea typeface="Source Sans 3"/>
                  <a:cs typeface="Source Sans 3"/>
                  <a:sym typeface="Source Sans 3"/>
                </a:rPr>
                <a:t> y reportes</a:t>
              </a:r>
            </a:p>
          </p:txBody>
        </p:sp>
        <p:grpSp>
          <p:nvGrpSpPr>
            <p:cNvPr id="62" name="Grupo 61">
              <a:extLst>
                <a:ext uri="{FF2B5EF4-FFF2-40B4-BE49-F238E27FC236}">
                  <a16:creationId xmlns:a16="http://schemas.microsoft.com/office/drawing/2014/main" id="{EE9A7481-50DB-7470-A054-3621BB2489F2}"/>
                </a:ext>
              </a:extLst>
            </p:cNvPr>
            <p:cNvGrpSpPr/>
            <p:nvPr/>
          </p:nvGrpSpPr>
          <p:grpSpPr>
            <a:xfrm>
              <a:off x="1181100" y="6496050"/>
              <a:ext cx="952500" cy="981075"/>
              <a:chOff x="1181100" y="6496050"/>
              <a:chExt cx="952500" cy="981075"/>
            </a:xfrm>
          </p:grpSpPr>
          <p:grpSp>
            <p:nvGrpSpPr>
              <p:cNvPr id="33" name="Group 33"/>
              <p:cNvGrpSpPr/>
              <p:nvPr/>
            </p:nvGrpSpPr>
            <p:grpSpPr>
              <a:xfrm>
                <a:off x="1181100" y="6496050"/>
                <a:ext cx="952500" cy="981075"/>
                <a:chOff x="0" y="-38100"/>
                <a:chExt cx="1270000" cy="1308100"/>
              </a:xfrm>
            </p:grpSpPr>
            <p:sp>
              <p:nvSpPr>
                <p:cNvPr id="34" name="Freeform 34"/>
                <p:cNvSpPr/>
                <p:nvPr/>
              </p:nvSpPr>
              <p:spPr>
                <a:xfrm>
                  <a:off x="0" y="0"/>
                  <a:ext cx="1270000" cy="12700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70000" h="1270000">
                      <a:moveTo>
                        <a:pt x="0" y="0"/>
                      </a:moveTo>
                      <a:lnTo>
                        <a:pt x="1270000" y="0"/>
                      </a:lnTo>
                      <a:lnTo>
                        <a:pt x="1270000" y="1270000"/>
                      </a:lnTo>
                      <a:lnTo>
                        <a:pt x="0" y="1270000"/>
                      </a:lnTo>
                      <a:close/>
                    </a:path>
                  </a:pathLst>
                </a:custGeom>
                <a:solidFill>
                  <a:srgbClr val="0878B9"/>
                </a:solidFill>
                <a:ln cap="sq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s-CL" noProof="0" dirty="0"/>
                </a:p>
              </p:txBody>
            </p:sp>
            <p:sp>
              <p:nvSpPr>
                <p:cNvPr id="35" name="TextBox 35"/>
                <p:cNvSpPr txBox="1"/>
                <p:nvPr/>
              </p:nvSpPr>
              <p:spPr>
                <a:xfrm>
                  <a:off x="0" y="-38100"/>
                  <a:ext cx="1270000" cy="1308100"/>
                </a:xfrm>
                <a:prstGeom prst="rect">
                  <a:avLst/>
                </a:prstGeom>
              </p:spPr>
              <p:txBody>
                <a:bodyPr lIns="50800" tIns="50800" rIns="50800" bIns="50800" rtlCol="0" anchor="ctr"/>
                <a:lstStyle/>
                <a:p>
                  <a:pPr algn="l">
                    <a:lnSpc>
                      <a:spcPts val="1679"/>
                    </a:lnSpc>
                  </a:pPr>
                  <a:endParaRPr lang="es-CL" noProof="0" dirty="0"/>
                </a:p>
              </p:txBody>
            </p:sp>
          </p:grpSp>
          <p:pic>
            <p:nvPicPr>
              <p:cNvPr id="61" name="Gráfico 60">
                <a:extLst>
                  <a:ext uri="{FF2B5EF4-FFF2-40B4-BE49-F238E27FC236}">
                    <a16:creationId xmlns:a16="http://schemas.microsoft.com/office/drawing/2014/main" id="{D7EF0C3B-5F20-1AA6-5493-5CB47AE889A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p:blipFill>
            <p:spPr>
              <a:xfrm>
                <a:off x="1276350" y="6672262"/>
                <a:ext cx="762000" cy="657225"/>
              </a:xfrm>
              <a:prstGeom prst="rect">
                <a:avLst/>
              </a:prstGeom>
            </p:spPr>
          </p:pic>
        </p:grpSp>
      </p:grpSp>
      <p:grpSp>
        <p:nvGrpSpPr>
          <p:cNvPr id="66" name="Grupo 65">
            <a:extLst>
              <a:ext uri="{FF2B5EF4-FFF2-40B4-BE49-F238E27FC236}">
                <a16:creationId xmlns:a16="http://schemas.microsoft.com/office/drawing/2014/main" id="{39FDCCC1-85DD-F62A-7793-B89FD6F41E78}"/>
              </a:ext>
            </a:extLst>
          </p:cNvPr>
          <p:cNvGrpSpPr/>
          <p:nvPr/>
        </p:nvGrpSpPr>
        <p:grpSpPr>
          <a:xfrm>
            <a:off x="9563100" y="6515100"/>
            <a:ext cx="952500" cy="952500"/>
            <a:chOff x="9563100" y="6515100"/>
            <a:chExt cx="952500" cy="952500"/>
          </a:xfrm>
        </p:grpSpPr>
        <p:grpSp>
          <p:nvGrpSpPr>
            <p:cNvPr id="44" name="Group 44"/>
            <p:cNvGrpSpPr/>
            <p:nvPr/>
          </p:nvGrpSpPr>
          <p:grpSpPr>
            <a:xfrm>
              <a:off x="9563100" y="6515100"/>
              <a:ext cx="952500" cy="952500"/>
              <a:chOff x="0" y="0"/>
              <a:chExt cx="1270000" cy="1270000"/>
            </a:xfrm>
          </p:grpSpPr>
          <p:sp>
            <p:nvSpPr>
              <p:cNvPr id="45" name="Freeform 45"/>
              <p:cNvSpPr/>
              <p:nvPr/>
            </p:nvSpPr>
            <p:spPr>
              <a:xfrm>
                <a:off x="0" y="0"/>
                <a:ext cx="1270000" cy="1270000"/>
              </a:xfrm>
              <a:custGeom>
                <a:avLst/>
                <a:gdLst/>
                <a:ahLst/>
                <a:cxnLst/>
                <a:rect l="l" t="t" r="r" b="b"/>
                <a:pathLst>
                  <a:path w="1270000" h="1270000">
                    <a:moveTo>
                      <a:pt x="0" y="0"/>
                    </a:moveTo>
                    <a:lnTo>
                      <a:pt x="1270000" y="0"/>
                    </a:lnTo>
                    <a:lnTo>
                      <a:pt x="1270000" y="1270000"/>
                    </a:lnTo>
                    <a:lnTo>
                      <a:pt x="0" y="1270000"/>
                    </a:lnTo>
                    <a:close/>
                  </a:path>
                </a:pathLst>
              </a:custGeom>
              <a:solidFill>
                <a:srgbClr val="0878B9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es-CL" noProof="0" dirty="0"/>
              </a:p>
            </p:txBody>
          </p:sp>
          <p:sp>
            <p:nvSpPr>
              <p:cNvPr id="46" name="TextBox 46"/>
              <p:cNvSpPr txBox="1"/>
              <p:nvPr/>
            </p:nvSpPr>
            <p:spPr>
              <a:xfrm>
                <a:off x="0" y="-38100"/>
                <a:ext cx="1270000" cy="13081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679"/>
                  </a:lnSpc>
                </a:pPr>
                <a:endParaRPr lang="es-CL" noProof="0" dirty="0"/>
              </a:p>
            </p:txBody>
          </p:sp>
        </p:grpSp>
        <p:pic>
          <p:nvPicPr>
            <p:cNvPr id="65" name="Gráfico 64">
              <a:extLst>
                <a:ext uri="{FF2B5EF4-FFF2-40B4-BE49-F238E27FC236}">
                  <a16:creationId xmlns:a16="http://schemas.microsoft.com/office/drawing/2014/main" id="{58C0FEDA-D6DE-0F1C-73AE-78DC8590885C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9656158" y="6599917"/>
              <a:ext cx="766385" cy="782867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Box 17"/>
          <p:cNvSpPr txBox="1"/>
          <p:nvPr/>
        </p:nvSpPr>
        <p:spPr>
          <a:xfrm>
            <a:off x="4000500" y="9391650"/>
            <a:ext cx="10287000" cy="3238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25"/>
              </a:lnSpc>
            </a:pPr>
            <a:r>
              <a:rPr lang="es-CL" sz="1875" b="1" noProof="0" dirty="0">
                <a:solidFill>
                  <a:srgbClr val="082B4C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De un proceso fragmentado a una plataforma integrada, verificable y escalable.</a:t>
            </a:r>
          </a:p>
        </p:txBody>
      </p:sp>
      <p:sp>
        <p:nvSpPr>
          <p:cNvPr id="21" name="TextBox 6">
            <a:extLst>
              <a:ext uri="{FF2B5EF4-FFF2-40B4-BE49-F238E27FC236}">
                <a16:creationId xmlns:a16="http://schemas.microsoft.com/office/drawing/2014/main" id="{E383E78D-144C-2C00-963E-0B603F6DBC86}"/>
              </a:ext>
            </a:extLst>
          </p:cNvPr>
          <p:cNvSpPr txBox="1"/>
          <p:nvPr/>
        </p:nvSpPr>
        <p:spPr>
          <a:xfrm>
            <a:off x="857250" y="1551623"/>
            <a:ext cx="14287500" cy="5514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4252"/>
              </a:lnSpc>
            </a:pPr>
            <a:r>
              <a:rPr lang="es-CL" sz="4050" b="1" noProof="0" dirty="0">
                <a:solidFill>
                  <a:srgbClr val="082B4C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Descripción del Proyecto</a:t>
            </a:r>
          </a:p>
        </p:txBody>
      </p:sp>
      <p:grpSp>
        <p:nvGrpSpPr>
          <p:cNvPr id="22" name="Grupo 21">
            <a:extLst>
              <a:ext uri="{FF2B5EF4-FFF2-40B4-BE49-F238E27FC236}">
                <a16:creationId xmlns:a16="http://schemas.microsoft.com/office/drawing/2014/main" id="{347E38E2-F85D-B59E-C1FC-CB6A8FC8BA04}"/>
              </a:ext>
            </a:extLst>
          </p:cNvPr>
          <p:cNvGrpSpPr/>
          <p:nvPr/>
        </p:nvGrpSpPr>
        <p:grpSpPr>
          <a:xfrm>
            <a:off x="857250" y="266700"/>
            <a:ext cx="16725900" cy="914400"/>
            <a:chOff x="857250" y="266700"/>
            <a:chExt cx="16725900" cy="914400"/>
          </a:xfrm>
        </p:grpSpPr>
        <p:sp>
          <p:nvSpPr>
            <p:cNvPr id="23" name="TextBox 3">
              <a:extLst>
                <a:ext uri="{FF2B5EF4-FFF2-40B4-BE49-F238E27FC236}">
                  <a16:creationId xmlns:a16="http://schemas.microsoft.com/office/drawing/2014/main" id="{4899A9F0-3E24-5DB4-F7C6-78FCD9D3B487}"/>
                </a:ext>
              </a:extLst>
            </p:cNvPr>
            <p:cNvSpPr txBox="1"/>
            <p:nvPr/>
          </p:nvSpPr>
          <p:spPr>
            <a:xfrm>
              <a:off x="857250" y="647700"/>
              <a:ext cx="6858000" cy="23750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995"/>
                </a:lnSpc>
              </a:pPr>
              <a:r>
                <a:rPr lang="es-CL" sz="1425" b="1" spc="114" noProof="0" dirty="0">
                  <a:solidFill>
                    <a:srgbClr val="0878B9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Proyecto “TTDH </a:t>
              </a:r>
              <a:r>
                <a:rPr lang="es-CL" sz="1425" b="1" spc="114" noProof="0" dirty="0" err="1">
                  <a:solidFill>
                    <a:srgbClr val="0878B9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Automation</a:t>
              </a:r>
              <a:r>
                <a:rPr lang="es-CL" sz="1425" b="1" spc="114" noProof="0" dirty="0">
                  <a:solidFill>
                    <a:srgbClr val="0878B9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”</a:t>
              </a:r>
            </a:p>
          </p:txBody>
        </p:sp>
        <p:pic>
          <p:nvPicPr>
            <p:cNvPr id="24" name="Imagen 23">
              <a:extLst>
                <a:ext uri="{FF2B5EF4-FFF2-40B4-BE49-F238E27FC236}">
                  <a16:creationId xmlns:a16="http://schemas.microsoft.com/office/drawing/2014/main" id="{5A2167D7-CBC5-0BE4-BC3B-091A781C44D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5163800" y="266700"/>
              <a:ext cx="2419350" cy="886543"/>
            </a:xfrm>
            <a:prstGeom prst="rect">
              <a:avLst/>
            </a:prstGeom>
          </p:spPr>
        </p:pic>
        <p:sp>
          <p:nvSpPr>
            <p:cNvPr id="25" name="AutoShape 5">
              <a:extLst>
                <a:ext uri="{FF2B5EF4-FFF2-40B4-BE49-F238E27FC236}">
                  <a16:creationId xmlns:a16="http://schemas.microsoft.com/office/drawing/2014/main" id="{AF479E21-9AD4-AB43-95AD-A224C33F2EBD}"/>
                </a:ext>
              </a:extLst>
            </p:cNvPr>
            <p:cNvSpPr/>
            <p:nvPr/>
          </p:nvSpPr>
          <p:spPr>
            <a:xfrm>
              <a:off x="857250" y="1181100"/>
              <a:ext cx="16573500" cy="0"/>
            </a:xfrm>
            <a:prstGeom prst="line">
              <a:avLst/>
            </a:prstGeom>
            <a:ln w="25400" cap="flat">
              <a:solidFill>
                <a:srgbClr val="D7E0E8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es-CL" noProof="0" dirty="0"/>
            </a:p>
          </p:txBody>
        </p:sp>
      </p:grpSp>
      <p:pic>
        <p:nvPicPr>
          <p:cNvPr id="18" name="Imagen 17">
            <a:extLst>
              <a:ext uri="{FF2B5EF4-FFF2-40B4-BE49-F238E27FC236}">
                <a16:creationId xmlns:a16="http://schemas.microsoft.com/office/drawing/2014/main" id="{41875267-CBF9-D311-9969-5F4A4484C18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18120" y="2473578"/>
            <a:ext cx="15651759" cy="6468378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TextBox 6">
            <a:extLst>
              <a:ext uri="{FF2B5EF4-FFF2-40B4-BE49-F238E27FC236}">
                <a16:creationId xmlns:a16="http://schemas.microsoft.com/office/drawing/2014/main" id="{9D7D2566-3C68-CC16-EA33-FA7885247033}"/>
              </a:ext>
            </a:extLst>
          </p:cNvPr>
          <p:cNvSpPr txBox="1"/>
          <p:nvPr/>
        </p:nvSpPr>
        <p:spPr>
          <a:xfrm>
            <a:off x="857250" y="1551623"/>
            <a:ext cx="14287500" cy="5514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4252"/>
              </a:lnSpc>
            </a:pPr>
            <a:r>
              <a:rPr lang="es-CL" sz="4050" b="1" noProof="0" dirty="0">
                <a:solidFill>
                  <a:srgbClr val="082B4C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Objetivos</a:t>
            </a:r>
          </a:p>
        </p:txBody>
      </p:sp>
      <p:grpSp>
        <p:nvGrpSpPr>
          <p:cNvPr id="37" name="Grupo 36">
            <a:extLst>
              <a:ext uri="{FF2B5EF4-FFF2-40B4-BE49-F238E27FC236}">
                <a16:creationId xmlns:a16="http://schemas.microsoft.com/office/drawing/2014/main" id="{9542EA1C-1297-43F3-F963-8A929C404426}"/>
              </a:ext>
            </a:extLst>
          </p:cNvPr>
          <p:cNvGrpSpPr/>
          <p:nvPr/>
        </p:nvGrpSpPr>
        <p:grpSpPr>
          <a:xfrm>
            <a:off x="857250" y="266700"/>
            <a:ext cx="16725900" cy="914400"/>
            <a:chOff x="857250" y="266700"/>
            <a:chExt cx="16725900" cy="914400"/>
          </a:xfrm>
        </p:grpSpPr>
        <p:sp>
          <p:nvSpPr>
            <p:cNvPr id="38" name="TextBox 3">
              <a:extLst>
                <a:ext uri="{FF2B5EF4-FFF2-40B4-BE49-F238E27FC236}">
                  <a16:creationId xmlns:a16="http://schemas.microsoft.com/office/drawing/2014/main" id="{A20F4DC5-24A7-A303-0B8D-07514088184A}"/>
                </a:ext>
              </a:extLst>
            </p:cNvPr>
            <p:cNvSpPr txBox="1"/>
            <p:nvPr/>
          </p:nvSpPr>
          <p:spPr>
            <a:xfrm>
              <a:off x="857250" y="647700"/>
              <a:ext cx="6858000" cy="23750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995"/>
                </a:lnSpc>
              </a:pPr>
              <a:r>
                <a:rPr lang="es-CL" sz="1425" b="1" spc="114" noProof="0" dirty="0">
                  <a:solidFill>
                    <a:srgbClr val="0878B9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Proyecto “TTDH </a:t>
              </a:r>
              <a:r>
                <a:rPr lang="es-CL" sz="1425" b="1" spc="114" noProof="0" dirty="0" err="1">
                  <a:solidFill>
                    <a:srgbClr val="0878B9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Automation</a:t>
              </a:r>
              <a:r>
                <a:rPr lang="es-CL" sz="1425" b="1" spc="114" noProof="0" dirty="0">
                  <a:solidFill>
                    <a:srgbClr val="0878B9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”</a:t>
              </a:r>
            </a:p>
          </p:txBody>
        </p:sp>
        <p:pic>
          <p:nvPicPr>
            <p:cNvPr id="39" name="Imagen 38">
              <a:extLst>
                <a:ext uri="{FF2B5EF4-FFF2-40B4-BE49-F238E27FC236}">
                  <a16:creationId xmlns:a16="http://schemas.microsoft.com/office/drawing/2014/main" id="{C41C474D-A382-AC4D-9DA8-457D609FFE0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5163800" y="266700"/>
              <a:ext cx="2419350" cy="886543"/>
            </a:xfrm>
            <a:prstGeom prst="rect">
              <a:avLst/>
            </a:prstGeom>
          </p:spPr>
        </p:pic>
        <p:sp>
          <p:nvSpPr>
            <p:cNvPr id="40" name="AutoShape 5">
              <a:extLst>
                <a:ext uri="{FF2B5EF4-FFF2-40B4-BE49-F238E27FC236}">
                  <a16:creationId xmlns:a16="http://schemas.microsoft.com/office/drawing/2014/main" id="{67D790FB-5F48-E25A-0E15-1FA7A504EA22}"/>
                </a:ext>
              </a:extLst>
            </p:cNvPr>
            <p:cNvSpPr/>
            <p:nvPr/>
          </p:nvSpPr>
          <p:spPr>
            <a:xfrm>
              <a:off x="857250" y="1181100"/>
              <a:ext cx="16573500" cy="0"/>
            </a:xfrm>
            <a:prstGeom prst="line">
              <a:avLst/>
            </a:prstGeom>
            <a:ln w="25400" cap="flat">
              <a:solidFill>
                <a:srgbClr val="D7E0E8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es-CL" noProof="0" dirty="0"/>
            </a:p>
          </p:txBody>
        </p:sp>
      </p:grpSp>
      <p:grpSp>
        <p:nvGrpSpPr>
          <p:cNvPr id="93" name="Grupo 92">
            <a:extLst>
              <a:ext uri="{FF2B5EF4-FFF2-40B4-BE49-F238E27FC236}">
                <a16:creationId xmlns:a16="http://schemas.microsoft.com/office/drawing/2014/main" id="{059BF3A4-9394-4F44-AB7B-7B50CDCA9DCB}"/>
              </a:ext>
            </a:extLst>
          </p:cNvPr>
          <p:cNvGrpSpPr/>
          <p:nvPr/>
        </p:nvGrpSpPr>
        <p:grpSpPr>
          <a:xfrm>
            <a:off x="1660376" y="2888576"/>
            <a:ext cx="14967249" cy="2077351"/>
            <a:chOff x="1660376" y="2888576"/>
            <a:chExt cx="14967249" cy="2077351"/>
          </a:xfrm>
        </p:grpSpPr>
        <p:pic>
          <p:nvPicPr>
            <p:cNvPr id="3" name="Picture 1" descr="image.png">
              <a:extLst>
                <a:ext uri="{FF2B5EF4-FFF2-40B4-BE49-F238E27FC236}">
                  <a16:creationId xmlns:a16="http://schemas.microsoft.com/office/drawing/2014/main" id="{B688F05A-BCD9-939A-74E5-45DA5E58816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660376" y="2888576"/>
              <a:ext cx="14967249" cy="2077351"/>
            </a:xfrm>
            <a:prstGeom prst="rect">
              <a:avLst/>
            </a:prstGeom>
            <a:ln>
              <a:noFill/>
            </a:ln>
          </p:spPr>
        </p:pic>
        <p:sp>
          <p:nvSpPr>
            <p:cNvPr id="46" name="TextBox 11">
              <a:extLst>
                <a:ext uri="{FF2B5EF4-FFF2-40B4-BE49-F238E27FC236}">
                  <a16:creationId xmlns:a16="http://schemas.microsoft.com/office/drawing/2014/main" id="{E3F016FE-C827-69FB-5881-2499E879A485}"/>
                </a:ext>
              </a:extLst>
            </p:cNvPr>
            <p:cNvSpPr txBox="1"/>
            <p:nvPr/>
          </p:nvSpPr>
          <p:spPr>
            <a:xfrm>
              <a:off x="1991817" y="3695700"/>
              <a:ext cx="14304367" cy="1107996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/>
              <a:r>
                <a:rPr lang="es-CL" sz="2400" noProof="0" dirty="0">
                  <a:solidFill>
                    <a:schemeClr val="bg1"/>
                  </a:solidFill>
                  <a:latin typeface="Source Sans 3"/>
                </a:rPr>
                <a:t>Desarrollar una plataforma informática que integre la información de deudores de la Tesorería General de la República (TGR) con el Banco, automatizando su procesamiento, validación, análisis y generación de reportes mediante procesos ETL, reglas de negocio y trazabilidad.</a:t>
              </a:r>
            </a:p>
          </p:txBody>
        </p:sp>
        <p:grpSp>
          <p:nvGrpSpPr>
            <p:cNvPr id="92" name="Grupo 91">
              <a:extLst>
                <a:ext uri="{FF2B5EF4-FFF2-40B4-BE49-F238E27FC236}">
                  <a16:creationId xmlns:a16="http://schemas.microsoft.com/office/drawing/2014/main" id="{4992BB4C-1808-15D6-5F4A-41EF881CFD93}"/>
                </a:ext>
              </a:extLst>
            </p:cNvPr>
            <p:cNvGrpSpPr/>
            <p:nvPr/>
          </p:nvGrpSpPr>
          <p:grpSpPr>
            <a:xfrm>
              <a:off x="1981200" y="3097768"/>
              <a:ext cx="3811749" cy="421720"/>
              <a:chOff x="1981200" y="3097768"/>
              <a:chExt cx="3811749" cy="421720"/>
            </a:xfrm>
          </p:grpSpPr>
          <p:sp>
            <p:nvSpPr>
              <p:cNvPr id="44" name="TextBox 10">
                <a:extLst>
                  <a:ext uri="{FF2B5EF4-FFF2-40B4-BE49-F238E27FC236}">
                    <a16:creationId xmlns:a16="http://schemas.microsoft.com/office/drawing/2014/main" id="{63DE47E8-5E5F-BAAC-F979-83A80D9159EE}"/>
                  </a:ext>
                </a:extLst>
              </p:cNvPr>
              <p:cNvSpPr txBox="1"/>
              <p:nvPr/>
            </p:nvSpPr>
            <p:spPr>
              <a:xfrm>
                <a:off x="2511958" y="3150156"/>
                <a:ext cx="3280991" cy="369332"/>
              </a:xfrm>
              <a:prstGeom prst="rect">
                <a:avLst/>
              </a:prstGeom>
              <a:noFill/>
            </p:spPr>
            <p:txBody>
              <a:bodyPr wrap="square" lIns="0" tIns="0" rIns="0" bIns="0" anchor="ctr">
                <a:spAutoFit/>
              </a:bodyPr>
              <a:lstStyle/>
              <a:p>
                <a:pPr algn="l"/>
                <a:r>
                  <a:rPr lang="es-CL" sz="2400" b="1" i="0" u="none" noProof="0" dirty="0">
                    <a:solidFill>
                      <a:schemeClr val="bg1"/>
                    </a:solidFill>
                    <a:latin typeface="Montserrat Bold" panose="020B0604020202020204" charset="0"/>
                  </a:rPr>
                  <a:t>OBJETIVO GENERAL</a:t>
                </a:r>
              </a:p>
            </p:txBody>
          </p:sp>
          <p:pic>
            <p:nvPicPr>
              <p:cNvPr id="50" name="Picture 13" descr="image.png">
                <a:extLst>
                  <a:ext uri="{FF2B5EF4-FFF2-40B4-BE49-F238E27FC236}">
                    <a16:creationId xmlns:a16="http://schemas.microsoft.com/office/drawing/2014/main" id="{FCC006E4-3489-6F0A-779C-AC2073EDA04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981200" y="3097768"/>
                <a:ext cx="455893" cy="369332"/>
              </a:xfrm>
              <a:prstGeom prst="rect">
                <a:avLst/>
              </a:prstGeom>
            </p:spPr>
          </p:pic>
        </p:grpSp>
      </p:grpSp>
      <p:grpSp>
        <p:nvGrpSpPr>
          <p:cNvPr id="91" name="Grupo 90">
            <a:extLst>
              <a:ext uri="{FF2B5EF4-FFF2-40B4-BE49-F238E27FC236}">
                <a16:creationId xmlns:a16="http://schemas.microsoft.com/office/drawing/2014/main" id="{D1651734-6D0B-3096-A98E-5001B7CBC213}"/>
              </a:ext>
            </a:extLst>
          </p:cNvPr>
          <p:cNvGrpSpPr/>
          <p:nvPr/>
        </p:nvGrpSpPr>
        <p:grpSpPr>
          <a:xfrm>
            <a:off x="1978373" y="5769606"/>
            <a:ext cx="4008574" cy="364494"/>
            <a:chOff x="1978373" y="5647436"/>
            <a:chExt cx="4008574" cy="364494"/>
          </a:xfrm>
        </p:grpSpPr>
        <p:sp>
          <p:nvSpPr>
            <p:cNvPr id="48" name="TextBox 12">
              <a:extLst>
                <a:ext uri="{FF2B5EF4-FFF2-40B4-BE49-F238E27FC236}">
                  <a16:creationId xmlns:a16="http://schemas.microsoft.com/office/drawing/2014/main" id="{5F3FC861-44DC-3109-3730-5EC27896A106}"/>
                </a:ext>
              </a:extLst>
            </p:cNvPr>
            <p:cNvSpPr txBox="1"/>
            <p:nvPr/>
          </p:nvSpPr>
          <p:spPr>
            <a:xfrm>
              <a:off x="2511958" y="5647436"/>
              <a:ext cx="3474989" cy="307777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l"/>
              <a:r>
                <a:rPr lang="es-CL" sz="2000" b="1" i="0" u="none" noProof="0" dirty="0">
                  <a:solidFill>
                    <a:srgbClr val="64748B"/>
                  </a:solidFill>
                  <a:latin typeface="Montserrat Bold" panose="020B0604020202020204" charset="0"/>
                </a:rPr>
                <a:t>OBJETIVOS ESPECÍFICOS</a:t>
              </a:r>
            </a:p>
          </p:txBody>
        </p:sp>
        <p:pic>
          <p:nvPicPr>
            <p:cNvPr id="52" name="Picture 14" descr="image.png">
              <a:extLst>
                <a:ext uri="{FF2B5EF4-FFF2-40B4-BE49-F238E27FC236}">
                  <a16:creationId xmlns:a16="http://schemas.microsoft.com/office/drawing/2014/main" id="{97B0A74D-BD95-9A71-BED7-72164476CB18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1978373" y="5676900"/>
              <a:ext cx="361950" cy="335030"/>
            </a:xfrm>
            <a:prstGeom prst="rect">
              <a:avLst/>
            </a:prstGeom>
          </p:spPr>
        </p:pic>
      </p:grpSp>
      <p:grpSp>
        <p:nvGrpSpPr>
          <p:cNvPr id="90" name="Grupo 89">
            <a:extLst>
              <a:ext uri="{FF2B5EF4-FFF2-40B4-BE49-F238E27FC236}">
                <a16:creationId xmlns:a16="http://schemas.microsoft.com/office/drawing/2014/main" id="{11601AC0-E190-5E85-F2DA-8BD458BA525D}"/>
              </a:ext>
            </a:extLst>
          </p:cNvPr>
          <p:cNvGrpSpPr/>
          <p:nvPr/>
        </p:nvGrpSpPr>
        <p:grpSpPr>
          <a:xfrm>
            <a:off x="1691495" y="6587584"/>
            <a:ext cx="14905011" cy="3039016"/>
            <a:chOff x="1844732" y="6587584"/>
            <a:chExt cx="14905011" cy="3039016"/>
          </a:xfrm>
        </p:grpSpPr>
        <p:grpSp>
          <p:nvGrpSpPr>
            <p:cNvPr id="86" name="Grupo 85">
              <a:extLst>
                <a:ext uri="{FF2B5EF4-FFF2-40B4-BE49-F238E27FC236}">
                  <a16:creationId xmlns:a16="http://schemas.microsoft.com/office/drawing/2014/main" id="{101869D2-046E-8C09-A841-8E52841A0176}"/>
                </a:ext>
              </a:extLst>
            </p:cNvPr>
            <p:cNvGrpSpPr/>
            <p:nvPr/>
          </p:nvGrpSpPr>
          <p:grpSpPr>
            <a:xfrm>
              <a:off x="1844732" y="6587584"/>
              <a:ext cx="7299268" cy="1392435"/>
              <a:chOff x="3657154" y="5715714"/>
              <a:chExt cx="5472112" cy="1043880"/>
            </a:xfrm>
          </p:grpSpPr>
          <p:pic>
            <p:nvPicPr>
              <p:cNvPr id="5" name="Picture 2" descr="image.png">
                <a:extLst>
                  <a:ext uri="{FF2B5EF4-FFF2-40B4-BE49-F238E27FC236}">
                    <a16:creationId xmlns:a16="http://schemas.microsoft.com/office/drawing/2014/main" id="{00482795-417B-03F9-A1E5-AC8A0D093FB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3657154" y="5715714"/>
                <a:ext cx="5448300" cy="1043880"/>
              </a:xfrm>
              <a:prstGeom prst="rect">
                <a:avLst/>
              </a:prstGeom>
            </p:spPr>
          </p:pic>
          <p:pic>
            <p:nvPicPr>
              <p:cNvPr id="54" name="Picture 15" descr="image.png">
                <a:extLst>
                  <a:ext uri="{FF2B5EF4-FFF2-40B4-BE49-F238E27FC236}">
                    <a16:creationId xmlns:a16="http://schemas.microsoft.com/office/drawing/2014/main" id="{9987A4D8-C90E-5E29-9840-106AC4E58A9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3857179" y="5998965"/>
                <a:ext cx="419100" cy="419100"/>
              </a:xfrm>
              <a:prstGeom prst="rect">
                <a:avLst/>
              </a:prstGeom>
            </p:spPr>
          </p:pic>
          <p:pic>
            <p:nvPicPr>
              <p:cNvPr id="62" name="Picture 19" descr="image.png">
                <a:extLst>
                  <a:ext uri="{FF2B5EF4-FFF2-40B4-BE49-F238E27FC236}">
                    <a16:creationId xmlns:a16="http://schemas.microsoft.com/office/drawing/2014/main" id="{487216B6-06C6-B72B-3D7A-80453776587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3981004" y="6122790"/>
                <a:ext cx="171450" cy="171450"/>
              </a:xfrm>
              <a:prstGeom prst="rect">
                <a:avLst/>
              </a:prstGeom>
            </p:spPr>
          </p:pic>
          <p:sp>
            <p:nvSpPr>
              <p:cNvPr id="64" name="TextBox 20">
                <a:extLst>
                  <a:ext uri="{FF2B5EF4-FFF2-40B4-BE49-F238E27FC236}">
                    <a16:creationId xmlns:a16="http://schemas.microsoft.com/office/drawing/2014/main" id="{035F45A1-E0A7-371B-525A-C0F90F8B3798}"/>
                  </a:ext>
                </a:extLst>
              </p:cNvPr>
              <p:cNvSpPr txBox="1"/>
              <p:nvPr/>
            </p:nvSpPr>
            <p:spPr>
              <a:xfrm>
                <a:off x="4428679" y="5998965"/>
                <a:ext cx="4700587" cy="207660"/>
              </a:xfrm>
              <a:prstGeom prst="rect">
                <a:avLst/>
              </a:prstGeom>
              <a:noFill/>
            </p:spPr>
            <p:txBody>
              <a:bodyPr wrap="square" lIns="0" tIns="0" rIns="0" bIns="0" anchor="t">
                <a:spAutoFit/>
              </a:bodyPr>
              <a:lstStyle/>
              <a:p>
                <a:pPr algn="l"/>
                <a:r>
                  <a:rPr lang="es-CL" b="1" i="0" u="none" noProof="0" dirty="0">
                    <a:solidFill>
                      <a:srgbClr val="0F172A"/>
                    </a:solidFill>
                    <a:latin typeface="Source Sans 3" panose="020B0604020202020204" charset="0"/>
                  </a:rPr>
                  <a:t>1. Análisis y Alcance</a:t>
                </a:r>
              </a:p>
            </p:txBody>
          </p:sp>
          <p:sp>
            <p:nvSpPr>
              <p:cNvPr id="66" name="TextBox 21">
                <a:extLst>
                  <a:ext uri="{FF2B5EF4-FFF2-40B4-BE49-F238E27FC236}">
                    <a16:creationId xmlns:a16="http://schemas.microsoft.com/office/drawing/2014/main" id="{A9DA1133-C915-9DE1-E891-1471C71B72B3}"/>
                  </a:ext>
                </a:extLst>
              </p:cNvPr>
              <p:cNvSpPr txBox="1"/>
              <p:nvPr/>
            </p:nvSpPr>
            <p:spPr>
              <a:xfrm>
                <a:off x="4428679" y="6256140"/>
                <a:ext cx="4476750" cy="298512"/>
              </a:xfrm>
              <a:prstGeom prst="rect">
                <a:avLst/>
              </a:prstGeom>
              <a:noFill/>
            </p:spPr>
            <p:txBody>
              <a:bodyPr wrap="square" lIns="0" tIns="0" rIns="0" bIns="0" anchor="t">
                <a:spAutoFit/>
              </a:bodyPr>
              <a:lstStyle/>
              <a:p>
                <a:pPr algn="l">
                  <a:lnSpc>
                    <a:spcPts val="1522"/>
                  </a:lnSpc>
                </a:pPr>
                <a:r>
                  <a:rPr lang="es-CL" sz="1600" b="0" i="0" u="none" noProof="0" dirty="0">
                    <a:solidFill>
                      <a:srgbClr val="475569"/>
                    </a:solidFill>
                    <a:latin typeface="Source Sans 3" panose="020B0604020202020204" charset="0"/>
                  </a:rPr>
                  <a:t>Analizar requerimientos y reglas de negocio del proceso de integración entre TGR y Banco Genérico.</a:t>
                </a:r>
              </a:p>
            </p:txBody>
          </p:sp>
        </p:grpSp>
        <p:grpSp>
          <p:nvGrpSpPr>
            <p:cNvPr id="88" name="Grupo 87">
              <a:extLst>
                <a:ext uri="{FF2B5EF4-FFF2-40B4-BE49-F238E27FC236}">
                  <a16:creationId xmlns:a16="http://schemas.microsoft.com/office/drawing/2014/main" id="{CB60D723-8E9D-C47B-1B74-54AA19C2DD66}"/>
                </a:ext>
              </a:extLst>
            </p:cNvPr>
            <p:cNvGrpSpPr/>
            <p:nvPr/>
          </p:nvGrpSpPr>
          <p:grpSpPr>
            <a:xfrm>
              <a:off x="9450481" y="6587585"/>
              <a:ext cx="7299262" cy="1392434"/>
              <a:chOff x="9257854" y="5715715"/>
              <a:chExt cx="5472111" cy="1043880"/>
            </a:xfrm>
          </p:grpSpPr>
          <p:pic>
            <p:nvPicPr>
              <p:cNvPr id="31" name="Picture 3" descr="image.png">
                <a:extLst>
                  <a:ext uri="{FF2B5EF4-FFF2-40B4-BE49-F238E27FC236}">
                    <a16:creationId xmlns:a16="http://schemas.microsoft.com/office/drawing/2014/main" id="{F2DC9DA0-5F95-DE9C-9DED-B89AD61A711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9257854" y="5715715"/>
                <a:ext cx="5448300" cy="1043880"/>
              </a:xfrm>
              <a:prstGeom prst="rect">
                <a:avLst/>
              </a:prstGeom>
            </p:spPr>
          </p:pic>
          <p:pic>
            <p:nvPicPr>
              <p:cNvPr id="56" name="Picture 16" descr="image.png">
                <a:extLst>
                  <a:ext uri="{FF2B5EF4-FFF2-40B4-BE49-F238E27FC236}">
                    <a16:creationId xmlns:a16="http://schemas.microsoft.com/office/drawing/2014/main" id="{C30BEC44-888C-E05A-3F1B-D646D37E261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9457879" y="5998965"/>
                <a:ext cx="419100" cy="419100"/>
              </a:xfrm>
              <a:prstGeom prst="rect">
                <a:avLst/>
              </a:prstGeom>
            </p:spPr>
          </p:pic>
          <p:pic>
            <p:nvPicPr>
              <p:cNvPr id="68" name="Picture 22" descr="image.png">
                <a:extLst>
                  <a:ext uri="{FF2B5EF4-FFF2-40B4-BE49-F238E27FC236}">
                    <a16:creationId xmlns:a16="http://schemas.microsoft.com/office/drawing/2014/main" id="{B6CF40D6-2075-9BB3-E6E6-73A1A96970A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9572179" y="6122790"/>
                <a:ext cx="190500" cy="171450"/>
              </a:xfrm>
              <a:prstGeom prst="rect">
                <a:avLst/>
              </a:prstGeom>
            </p:spPr>
          </p:pic>
          <p:sp>
            <p:nvSpPr>
              <p:cNvPr id="70" name="TextBox 23">
                <a:extLst>
                  <a:ext uri="{FF2B5EF4-FFF2-40B4-BE49-F238E27FC236}">
                    <a16:creationId xmlns:a16="http://schemas.microsoft.com/office/drawing/2014/main" id="{50D19571-19A5-5390-6A8A-4C83913F25A7}"/>
                  </a:ext>
                </a:extLst>
              </p:cNvPr>
              <p:cNvSpPr txBox="1"/>
              <p:nvPr/>
            </p:nvSpPr>
            <p:spPr>
              <a:xfrm>
                <a:off x="10029378" y="5998965"/>
                <a:ext cx="4700587" cy="207661"/>
              </a:xfrm>
              <a:prstGeom prst="rect">
                <a:avLst/>
              </a:prstGeom>
              <a:noFill/>
            </p:spPr>
            <p:txBody>
              <a:bodyPr wrap="square" lIns="0" tIns="0" rIns="0" bIns="0" anchor="t">
                <a:spAutoFit/>
              </a:bodyPr>
              <a:lstStyle/>
              <a:p>
                <a:pPr algn="l"/>
                <a:r>
                  <a:rPr lang="es-CL" b="1" noProof="0" dirty="0">
                    <a:solidFill>
                      <a:srgbClr val="0F172A"/>
                    </a:solidFill>
                    <a:latin typeface="Source Sans 3" panose="020B0604020202020204" charset="0"/>
                  </a:rPr>
                  <a:t>2. Arquitectura y Datos</a:t>
                </a:r>
              </a:p>
            </p:txBody>
          </p:sp>
          <p:sp>
            <p:nvSpPr>
              <p:cNvPr id="72" name="TextBox 24">
                <a:extLst>
                  <a:ext uri="{FF2B5EF4-FFF2-40B4-BE49-F238E27FC236}">
                    <a16:creationId xmlns:a16="http://schemas.microsoft.com/office/drawing/2014/main" id="{40E97511-E679-F99E-FDD0-82836380000D}"/>
                  </a:ext>
                </a:extLst>
              </p:cNvPr>
              <p:cNvSpPr txBox="1"/>
              <p:nvPr/>
            </p:nvSpPr>
            <p:spPr>
              <a:xfrm>
                <a:off x="10029379" y="6256140"/>
                <a:ext cx="4476750" cy="304280"/>
              </a:xfrm>
              <a:prstGeom prst="rect">
                <a:avLst/>
              </a:prstGeom>
              <a:noFill/>
            </p:spPr>
            <p:txBody>
              <a:bodyPr wrap="square" lIns="0" tIns="0" rIns="0" bIns="0" anchor="t">
                <a:spAutoFit/>
              </a:bodyPr>
              <a:lstStyle/>
              <a:p>
                <a:pPr algn="l">
                  <a:lnSpc>
                    <a:spcPts val="1522"/>
                  </a:lnSpc>
                </a:pPr>
                <a:r>
                  <a:rPr lang="es-CL" b="0" i="0" u="none" noProof="0" dirty="0">
                    <a:solidFill>
                      <a:srgbClr val="475569"/>
                    </a:solidFill>
                    <a:latin typeface="Source Sans 3" panose="020B0604020202020204" charset="0"/>
                  </a:rPr>
                  <a:t>Diseñar el modelo de datos y arquitectura escalable que soporte el procesamiento con trazabilidad.</a:t>
                </a:r>
              </a:p>
            </p:txBody>
          </p:sp>
        </p:grpSp>
        <p:grpSp>
          <p:nvGrpSpPr>
            <p:cNvPr id="87" name="Grupo 86">
              <a:extLst>
                <a:ext uri="{FF2B5EF4-FFF2-40B4-BE49-F238E27FC236}">
                  <a16:creationId xmlns:a16="http://schemas.microsoft.com/office/drawing/2014/main" id="{52B57646-546A-915D-88E8-DC4588D4471D}"/>
                </a:ext>
              </a:extLst>
            </p:cNvPr>
            <p:cNvGrpSpPr/>
            <p:nvPr/>
          </p:nvGrpSpPr>
          <p:grpSpPr>
            <a:xfrm>
              <a:off x="1844732" y="8235896"/>
              <a:ext cx="7290194" cy="1390704"/>
              <a:chOff x="3657154" y="6995220"/>
              <a:chExt cx="5472112" cy="1043880"/>
            </a:xfrm>
          </p:grpSpPr>
          <p:pic>
            <p:nvPicPr>
              <p:cNvPr id="33" name="Picture 4" descr="image.png">
                <a:extLst>
                  <a:ext uri="{FF2B5EF4-FFF2-40B4-BE49-F238E27FC236}">
                    <a16:creationId xmlns:a16="http://schemas.microsoft.com/office/drawing/2014/main" id="{E84A8BA3-E4E4-9C5F-7166-2B7D951E8FD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3657154" y="6995220"/>
                <a:ext cx="5448300" cy="1043880"/>
              </a:xfrm>
              <a:prstGeom prst="rect">
                <a:avLst/>
              </a:prstGeom>
            </p:spPr>
          </p:pic>
          <p:pic>
            <p:nvPicPr>
              <p:cNvPr id="58" name="Picture 17" descr="image.png">
                <a:extLst>
                  <a:ext uri="{FF2B5EF4-FFF2-40B4-BE49-F238E27FC236}">
                    <a16:creationId xmlns:a16="http://schemas.microsoft.com/office/drawing/2014/main" id="{8B609816-45A2-09EA-245F-2916F6AE286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3857179" y="7195245"/>
                <a:ext cx="419100" cy="419100"/>
              </a:xfrm>
              <a:prstGeom prst="rect">
                <a:avLst/>
              </a:prstGeom>
            </p:spPr>
          </p:pic>
          <p:pic>
            <p:nvPicPr>
              <p:cNvPr id="74" name="Picture 25" descr="image.png">
                <a:extLst>
                  <a:ext uri="{FF2B5EF4-FFF2-40B4-BE49-F238E27FC236}">
                    <a16:creationId xmlns:a16="http://schemas.microsoft.com/office/drawing/2014/main" id="{7E2FB328-8E12-2747-C7DF-52BC5445E92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3957191" y="7319070"/>
                <a:ext cx="219075" cy="171450"/>
              </a:xfrm>
              <a:prstGeom prst="rect">
                <a:avLst/>
              </a:prstGeom>
            </p:spPr>
          </p:pic>
          <p:sp>
            <p:nvSpPr>
              <p:cNvPr id="76" name="TextBox 26">
                <a:extLst>
                  <a:ext uri="{FF2B5EF4-FFF2-40B4-BE49-F238E27FC236}">
                    <a16:creationId xmlns:a16="http://schemas.microsoft.com/office/drawing/2014/main" id="{8979F95F-8D56-5D10-374D-7F04B3759B82}"/>
                  </a:ext>
                </a:extLst>
              </p:cNvPr>
              <p:cNvSpPr txBox="1"/>
              <p:nvPr/>
            </p:nvSpPr>
            <p:spPr>
              <a:xfrm>
                <a:off x="4428679" y="7195245"/>
                <a:ext cx="4700587" cy="207919"/>
              </a:xfrm>
              <a:prstGeom prst="rect">
                <a:avLst/>
              </a:prstGeom>
              <a:noFill/>
            </p:spPr>
            <p:txBody>
              <a:bodyPr wrap="square" lIns="0" tIns="0" rIns="0" bIns="0" anchor="t">
                <a:spAutoFit/>
              </a:bodyPr>
              <a:lstStyle/>
              <a:p>
                <a:pPr algn="l"/>
                <a:r>
                  <a:rPr lang="es-CL" b="1" i="0" u="none" noProof="0" dirty="0">
                    <a:solidFill>
                      <a:srgbClr val="0F172A"/>
                    </a:solidFill>
                    <a:latin typeface="Source Sans 3" panose="020B0604020202020204" charset="0"/>
                  </a:rPr>
                  <a:t>3. </a:t>
                </a:r>
                <a:r>
                  <a:rPr lang="es-CL" b="1" noProof="0" dirty="0">
                    <a:solidFill>
                      <a:srgbClr val="0F172A"/>
                    </a:solidFill>
                    <a:latin typeface="Source Sans 3" panose="020B0604020202020204" charset="0"/>
                  </a:rPr>
                  <a:t>Desarrollo</a:t>
                </a:r>
                <a:r>
                  <a:rPr lang="es-CL" b="1" i="0" u="none" noProof="0" dirty="0">
                    <a:solidFill>
                      <a:srgbClr val="0F172A"/>
                    </a:solidFill>
                    <a:latin typeface="Source Sans 3" panose="020B0604020202020204" charset="0"/>
                  </a:rPr>
                  <a:t> ETL</a:t>
                </a:r>
              </a:p>
            </p:txBody>
          </p:sp>
          <p:sp>
            <p:nvSpPr>
              <p:cNvPr id="78" name="TextBox 27">
                <a:extLst>
                  <a:ext uri="{FF2B5EF4-FFF2-40B4-BE49-F238E27FC236}">
                    <a16:creationId xmlns:a16="http://schemas.microsoft.com/office/drawing/2014/main" id="{49330D13-6151-64B8-8A1E-4A9C2E999039}"/>
                  </a:ext>
                </a:extLst>
              </p:cNvPr>
              <p:cNvSpPr txBox="1"/>
              <p:nvPr/>
            </p:nvSpPr>
            <p:spPr>
              <a:xfrm>
                <a:off x="4428679" y="7452420"/>
                <a:ext cx="4476750" cy="304659"/>
              </a:xfrm>
              <a:prstGeom prst="rect">
                <a:avLst/>
              </a:prstGeom>
              <a:noFill/>
            </p:spPr>
            <p:txBody>
              <a:bodyPr wrap="square" lIns="0" tIns="0" rIns="0" bIns="0" anchor="t">
                <a:spAutoFit/>
              </a:bodyPr>
              <a:lstStyle/>
              <a:p>
                <a:pPr algn="l">
                  <a:lnSpc>
                    <a:spcPts val="1522"/>
                  </a:lnSpc>
                </a:pPr>
                <a:r>
                  <a:rPr lang="es-CL" b="0" i="0" u="none" noProof="0" dirty="0">
                    <a:solidFill>
                      <a:srgbClr val="475569"/>
                    </a:solidFill>
                    <a:latin typeface="Source Sans 3" panose="020B0604020202020204" charset="0"/>
                  </a:rPr>
                  <a:t>Automatizar la recepción, validación, procesamiento y cruce de información entre ambas fuentes.</a:t>
                </a:r>
              </a:p>
            </p:txBody>
          </p:sp>
        </p:grpSp>
        <p:grpSp>
          <p:nvGrpSpPr>
            <p:cNvPr id="89" name="Grupo 88">
              <a:extLst>
                <a:ext uri="{FF2B5EF4-FFF2-40B4-BE49-F238E27FC236}">
                  <a16:creationId xmlns:a16="http://schemas.microsoft.com/office/drawing/2014/main" id="{80AAE71F-B9C6-6A2F-6C03-90A72A3F79BB}"/>
                </a:ext>
              </a:extLst>
            </p:cNvPr>
            <p:cNvGrpSpPr/>
            <p:nvPr/>
          </p:nvGrpSpPr>
          <p:grpSpPr>
            <a:xfrm>
              <a:off x="9450480" y="8235897"/>
              <a:ext cx="7290189" cy="1390703"/>
              <a:chOff x="9257854" y="6995220"/>
              <a:chExt cx="5472112" cy="1043880"/>
            </a:xfrm>
          </p:grpSpPr>
          <p:pic>
            <p:nvPicPr>
              <p:cNvPr id="35" name="Picture 5" descr="image.png">
                <a:extLst>
                  <a:ext uri="{FF2B5EF4-FFF2-40B4-BE49-F238E27FC236}">
                    <a16:creationId xmlns:a16="http://schemas.microsoft.com/office/drawing/2014/main" id="{9B07CC57-A144-8975-3A24-742B6A73B0A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9257854" y="6995220"/>
                <a:ext cx="5448300" cy="1043880"/>
              </a:xfrm>
              <a:prstGeom prst="rect">
                <a:avLst/>
              </a:prstGeom>
            </p:spPr>
          </p:pic>
          <p:pic>
            <p:nvPicPr>
              <p:cNvPr id="60" name="Picture 18" descr="image.png">
                <a:extLst>
                  <a:ext uri="{FF2B5EF4-FFF2-40B4-BE49-F238E27FC236}">
                    <a16:creationId xmlns:a16="http://schemas.microsoft.com/office/drawing/2014/main" id="{FBF697FA-2A61-87AC-A33B-53D8B1ECBDB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9457879" y="7195245"/>
                <a:ext cx="419100" cy="419100"/>
              </a:xfrm>
              <a:prstGeom prst="rect">
                <a:avLst/>
              </a:prstGeom>
            </p:spPr>
          </p:pic>
          <p:pic>
            <p:nvPicPr>
              <p:cNvPr id="80" name="Picture 28" descr="image.png">
                <a:extLst>
                  <a:ext uri="{FF2B5EF4-FFF2-40B4-BE49-F238E27FC236}">
                    <a16:creationId xmlns:a16="http://schemas.microsoft.com/office/drawing/2014/main" id="{5D81F7D2-B01D-8D24-5C4E-7E4ED34FDD7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9581704" y="7319070"/>
                <a:ext cx="171450" cy="171450"/>
              </a:xfrm>
              <a:prstGeom prst="rect">
                <a:avLst/>
              </a:prstGeom>
            </p:spPr>
          </p:pic>
          <p:sp>
            <p:nvSpPr>
              <p:cNvPr id="82" name="TextBox 29">
                <a:extLst>
                  <a:ext uri="{FF2B5EF4-FFF2-40B4-BE49-F238E27FC236}">
                    <a16:creationId xmlns:a16="http://schemas.microsoft.com/office/drawing/2014/main" id="{540320A8-6F00-FFE5-4690-5DF4DD860273}"/>
                  </a:ext>
                </a:extLst>
              </p:cNvPr>
              <p:cNvSpPr txBox="1"/>
              <p:nvPr/>
            </p:nvSpPr>
            <p:spPr>
              <a:xfrm>
                <a:off x="10029379" y="7195245"/>
                <a:ext cx="4700587" cy="207919"/>
              </a:xfrm>
              <a:prstGeom prst="rect">
                <a:avLst/>
              </a:prstGeom>
              <a:noFill/>
            </p:spPr>
            <p:txBody>
              <a:bodyPr wrap="square" lIns="0" tIns="0" rIns="0" bIns="0" anchor="t">
                <a:spAutoFit/>
              </a:bodyPr>
              <a:lstStyle/>
              <a:p>
                <a:pPr algn="l"/>
                <a:r>
                  <a:rPr lang="es-CL" b="1" i="0" u="none" noProof="0" dirty="0">
                    <a:solidFill>
                      <a:srgbClr val="0F172A"/>
                    </a:solidFill>
                    <a:latin typeface="Source Sans 3" panose="020B0604020202020204" charset="0"/>
                  </a:rPr>
                  <a:t>4. Pruebas y Validación</a:t>
                </a:r>
              </a:p>
            </p:txBody>
          </p:sp>
          <p:sp>
            <p:nvSpPr>
              <p:cNvPr id="84" name="TextBox 30">
                <a:extLst>
                  <a:ext uri="{FF2B5EF4-FFF2-40B4-BE49-F238E27FC236}">
                    <a16:creationId xmlns:a16="http://schemas.microsoft.com/office/drawing/2014/main" id="{11D31574-C470-60C9-E844-E779A789FEA7}"/>
                  </a:ext>
                </a:extLst>
              </p:cNvPr>
              <p:cNvSpPr txBox="1"/>
              <p:nvPr/>
            </p:nvSpPr>
            <p:spPr>
              <a:xfrm>
                <a:off x="10029379" y="7452420"/>
                <a:ext cx="4476750" cy="304659"/>
              </a:xfrm>
              <a:prstGeom prst="rect">
                <a:avLst/>
              </a:prstGeom>
              <a:noFill/>
            </p:spPr>
            <p:txBody>
              <a:bodyPr wrap="square" lIns="0" tIns="0" rIns="0" bIns="0" anchor="t">
                <a:spAutoFit/>
              </a:bodyPr>
              <a:lstStyle/>
              <a:p>
                <a:pPr algn="l">
                  <a:lnSpc>
                    <a:spcPts val="1522"/>
                  </a:lnSpc>
                </a:pPr>
                <a:r>
                  <a:rPr lang="es-CL" b="0" i="0" u="none" noProof="0" dirty="0">
                    <a:solidFill>
                      <a:srgbClr val="475569"/>
                    </a:solidFill>
                    <a:latin typeface="Source Sans 3" panose="020B0604020202020204" charset="0"/>
                  </a:rPr>
                  <a:t>Validar el funcionamiento mediante pruebas funcionales y de integración para asegurar el cumplimiento.</a:t>
                </a:r>
              </a:p>
            </p:txBody>
          </p:sp>
        </p:grp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TextBox 6">
            <a:extLst>
              <a:ext uri="{FF2B5EF4-FFF2-40B4-BE49-F238E27FC236}">
                <a16:creationId xmlns:a16="http://schemas.microsoft.com/office/drawing/2014/main" id="{BB651DE2-98F0-1034-1A11-99C3D988E218}"/>
              </a:ext>
            </a:extLst>
          </p:cNvPr>
          <p:cNvSpPr txBox="1"/>
          <p:nvPr/>
        </p:nvSpPr>
        <p:spPr>
          <a:xfrm>
            <a:off x="857250" y="1551623"/>
            <a:ext cx="14287500" cy="5514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4252"/>
              </a:lnSpc>
            </a:pPr>
            <a:r>
              <a:rPr lang="es-CL" sz="4050" b="1" noProof="0" dirty="0">
                <a:solidFill>
                  <a:srgbClr val="082B4C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Alcances y Limitaciones</a:t>
            </a:r>
          </a:p>
        </p:txBody>
      </p:sp>
      <p:grpSp>
        <p:nvGrpSpPr>
          <p:cNvPr id="27" name="Grupo 26">
            <a:extLst>
              <a:ext uri="{FF2B5EF4-FFF2-40B4-BE49-F238E27FC236}">
                <a16:creationId xmlns:a16="http://schemas.microsoft.com/office/drawing/2014/main" id="{DF32A7D9-1BB6-371A-8E60-9A2E9BAAAB76}"/>
              </a:ext>
            </a:extLst>
          </p:cNvPr>
          <p:cNvGrpSpPr/>
          <p:nvPr/>
        </p:nvGrpSpPr>
        <p:grpSpPr>
          <a:xfrm>
            <a:off x="857250" y="266700"/>
            <a:ext cx="16725900" cy="914400"/>
            <a:chOff x="857250" y="266700"/>
            <a:chExt cx="16725900" cy="914400"/>
          </a:xfrm>
        </p:grpSpPr>
        <p:sp>
          <p:nvSpPr>
            <p:cNvPr id="28" name="TextBox 3">
              <a:extLst>
                <a:ext uri="{FF2B5EF4-FFF2-40B4-BE49-F238E27FC236}">
                  <a16:creationId xmlns:a16="http://schemas.microsoft.com/office/drawing/2014/main" id="{BF8A59C2-6AFB-7CC1-F49D-F374A4902FAD}"/>
                </a:ext>
              </a:extLst>
            </p:cNvPr>
            <p:cNvSpPr txBox="1"/>
            <p:nvPr/>
          </p:nvSpPr>
          <p:spPr>
            <a:xfrm>
              <a:off x="857250" y="647700"/>
              <a:ext cx="6858000" cy="23750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995"/>
                </a:lnSpc>
              </a:pPr>
              <a:r>
                <a:rPr lang="es-CL" sz="1425" b="1" spc="114" noProof="0" dirty="0">
                  <a:solidFill>
                    <a:srgbClr val="0878B9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Proyecto “TTDH </a:t>
              </a:r>
              <a:r>
                <a:rPr lang="es-CL" sz="1425" b="1" spc="114" noProof="0" dirty="0" err="1">
                  <a:solidFill>
                    <a:srgbClr val="0878B9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Automation</a:t>
              </a:r>
              <a:r>
                <a:rPr lang="es-CL" sz="1425" b="1" spc="114" noProof="0" dirty="0">
                  <a:solidFill>
                    <a:srgbClr val="0878B9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”</a:t>
              </a:r>
            </a:p>
          </p:txBody>
        </p:sp>
        <p:pic>
          <p:nvPicPr>
            <p:cNvPr id="29" name="Imagen 28">
              <a:extLst>
                <a:ext uri="{FF2B5EF4-FFF2-40B4-BE49-F238E27FC236}">
                  <a16:creationId xmlns:a16="http://schemas.microsoft.com/office/drawing/2014/main" id="{5BD6253C-ACB5-9747-87DF-4C4D1EBF8FD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5163800" y="266700"/>
              <a:ext cx="2419350" cy="886543"/>
            </a:xfrm>
            <a:prstGeom prst="rect">
              <a:avLst/>
            </a:prstGeom>
          </p:spPr>
        </p:pic>
        <p:sp>
          <p:nvSpPr>
            <p:cNvPr id="30" name="AutoShape 5">
              <a:extLst>
                <a:ext uri="{FF2B5EF4-FFF2-40B4-BE49-F238E27FC236}">
                  <a16:creationId xmlns:a16="http://schemas.microsoft.com/office/drawing/2014/main" id="{6F65EEC3-B6C5-8A6B-8081-08256C04529C}"/>
                </a:ext>
              </a:extLst>
            </p:cNvPr>
            <p:cNvSpPr/>
            <p:nvPr/>
          </p:nvSpPr>
          <p:spPr>
            <a:xfrm>
              <a:off x="857250" y="1181100"/>
              <a:ext cx="16573500" cy="0"/>
            </a:xfrm>
            <a:prstGeom prst="line">
              <a:avLst/>
            </a:prstGeom>
            <a:ln w="25400" cap="flat">
              <a:solidFill>
                <a:srgbClr val="D7E0E8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es-CL" noProof="0" dirty="0"/>
            </a:p>
          </p:txBody>
        </p:sp>
      </p:grpSp>
      <p:pic>
        <p:nvPicPr>
          <p:cNvPr id="3" name="Picture 1" descr="image.png">
            <a:extLst>
              <a:ext uri="{FF2B5EF4-FFF2-40B4-BE49-F238E27FC236}">
                <a16:creationId xmlns:a16="http://schemas.microsoft.com/office/drawing/2014/main" id="{8CB8D05A-4CB9-E804-5FC0-1F8A19592FB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28800" y="3162300"/>
            <a:ext cx="7010400" cy="6753474"/>
          </a:xfrm>
          <a:prstGeom prst="rect">
            <a:avLst/>
          </a:prstGeom>
        </p:spPr>
      </p:pic>
      <p:pic>
        <p:nvPicPr>
          <p:cNvPr id="5" name="Picture 2" descr="image.png">
            <a:extLst>
              <a:ext uri="{FF2B5EF4-FFF2-40B4-BE49-F238E27FC236}">
                <a16:creationId xmlns:a16="http://schemas.microsoft.com/office/drawing/2014/main" id="{B836B018-07A1-4E0F-8A52-C48F336BA99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72600" y="3162300"/>
            <a:ext cx="7010400" cy="6753474"/>
          </a:xfrm>
          <a:prstGeom prst="rect">
            <a:avLst/>
          </a:prstGeom>
        </p:spPr>
      </p:pic>
      <p:sp>
        <p:nvSpPr>
          <p:cNvPr id="23" name="TextBox 6">
            <a:extLst>
              <a:ext uri="{FF2B5EF4-FFF2-40B4-BE49-F238E27FC236}">
                <a16:creationId xmlns:a16="http://schemas.microsoft.com/office/drawing/2014/main" id="{E98B34FF-8B6E-6F71-D7AA-FD014CBA9DF1}"/>
              </a:ext>
            </a:extLst>
          </p:cNvPr>
          <p:cNvSpPr txBox="1"/>
          <p:nvPr/>
        </p:nvSpPr>
        <p:spPr>
          <a:xfrm>
            <a:off x="2446418" y="3465823"/>
            <a:ext cx="2049382" cy="20774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es-CL" sz="1350" b="0" i="0" u="none" noProof="0" dirty="0">
                <a:solidFill>
                  <a:srgbClr val="0369A1"/>
                </a:solidFill>
                <a:latin typeface="Montserrat Bold" panose="020B0604020202020204" charset="0"/>
              </a:rPr>
              <a:t>Alcances Incluidos</a:t>
            </a:r>
          </a:p>
        </p:txBody>
      </p:sp>
      <p:pic>
        <p:nvPicPr>
          <p:cNvPr id="25" name="Picture 7" descr="image.png">
            <a:extLst>
              <a:ext uri="{FF2B5EF4-FFF2-40B4-BE49-F238E27FC236}">
                <a16:creationId xmlns:a16="http://schemas.microsoft.com/office/drawing/2014/main" id="{7C370B0C-6AA4-8689-E077-63A748ECCA6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13280" y="3433762"/>
            <a:ext cx="1421120" cy="269160"/>
          </a:xfrm>
          <a:prstGeom prst="rect">
            <a:avLst/>
          </a:prstGeom>
        </p:spPr>
      </p:pic>
      <p:sp>
        <p:nvSpPr>
          <p:cNvPr id="34" name="TextBox 8">
            <a:extLst>
              <a:ext uri="{FF2B5EF4-FFF2-40B4-BE49-F238E27FC236}">
                <a16:creationId xmlns:a16="http://schemas.microsoft.com/office/drawing/2014/main" id="{E04E07D8-FB29-7270-BA7C-5C8118B1F15A}"/>
              </a:ext>
            </a:extLst>
          </p:cNvPr>
          <p:cNvSpPr txBox="1"/>
          <p:nvPr/>
        </p:nvSpPr>
        <p:spPr>
          <a:xfrm>
            <a:off x="10003448" y="3465823"/>
            <a:ext cx="3483952" cy="20774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es-CL" sz="1350" b="0" i="0" u="none" noProof="0" dirty="0">
                <a:solidFill>
                  <a:srgbClr val="B45309"/>
                </a:solidFill>
                <a:latin typeface="Montserrat Bold" panose="020B0604020202020204" charset="0"/>
              </a:rPr>
              <a:t>Limitaciones / Consideraciones</a:t>
            </a:r>
          </a:p>
        </p:txBody>
      </p:sp>
      <p:pic>
        <p:nvPicPr>
          <p:cNvPr id="36" name="Picture 9" descr="image.png">
            <a:extLst>
              <a:ext uri="{FF2B5EF4-FFF2-40B4-BE49-F238E27FC236}">
                <a16:creationId xmlns:a16="http://schemas.microsoft.com/office/drawing/2014/main" id="{4D516C7D-931F-D300-C3CE-8E0624497D8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4564748" y="3433762"/>
            <a:ext cx="1513452" cy="269160"/>
          </a:xfrm>
          <a:prstGeom prst="rect">
            <a:avLst/>
          </a:prstGeom>
        </p:spPr>
      </p:pic>
      <p:pic>
        <p:nvPicPr>
          <p:cNvPr id="38" name="Picture 10" descr="image.png">
            <a:extLst>
              <a:ext uri="{FF2B5EF4-FFF2-40B4-BE49-F238E27FC236}">
                <a16:creationId xmlns:a16="http://schemas.microsoft.com/office/drawing/2014/main" id="{E98B0E63-F104-5DC4-9760-35FB9EE2825A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106942" y="3452812"/>
            <a:ext cx="215824" cy="220222"/>
          </a:xfrm>
          <a:prstGeom prst="rect">
            <a:avLst/>
          </a:prstGeom>
        </p:spPr>
      </p:pic>
      <p:pic>
        <p:nvPicPr>
          <p:cNvPr id="40" name="Picture 11" descr="image.png">
            <a:extLst>
              <a:ext uri="{FF2B5EF4-FFF2-40B4-BE49-F238E27FC236}">
                <a16:creationId xmlns:a16="http://schemas.microsoft.com/office/drawing/2014/main" id="{86B3D5C0-6C5F-7C98-7696-A53BFE3A5FA6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286000" y="4346525"/>
            <a:ext cx="415975" cy="415975"/>
          </a:xfrm>
          <a:prstGeom prst="rect">
            <a:avLst/>
          </a:prstGeom>
        </p:spPr>
      </p:pic>
      <p:sp>
        <p:nvSpPr>
          <p:cNvPr id="42" name="TextBox 12">
            <a:extLst>
              <a:ext uri="{FF2B5EF4-FFF2-40B4-BE49-F238E27FC236}">
                <a16:creationId xmlns:a16="http://schemas.microsoft.com/office/drawing/2014/main" id="{3D044E62-BDF1-C6E2-278B-FE218A01BC21}"/>
              </a:ext>
            </a:extLst>
          </p:cNvPr>
          <p:cNvSpPr txBox="1"/>
          <p:nvPr/>
        </p:nvSpPr>
        <p:spPr>
          <a:xfrm>
            <a:off x="2892027" y="4360813"/>
            <a:ext cx="5130147" cy="4924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600" b="1" i="0" u="none" noProof="0" dirty="0">
                <a:solidFill>
                  <a:srgbClr val="1E293B"/>
                </a:solidFill>
                <a:latin typeface="Source Sans 3" panose="020B0604020202020204" charset="0"/>
              </a:rPr>
              <a:t>Recepción y Procesamiento</a:t>
            </a:r>
            <a:r>
              <a:rPr lang="es-CL" sz="1600" b="0" i="0" u="none" noProof="0" dirty="0">
                <a:solidFill>
                  <a:srgbClr val="334155"/>
                </a:solidFill>
                <a:latin typeface="Source Sans 3" panose="020B0604020202020204" charset="0"/>
              </a:rPr>
              <a:t> </a:t>
            </a:r>
            <a:r>
              <a:rPr lang="es-CL" sz="1600" b="0" i="0" u="none" noProof="0" dirty="0">
                <a:solidFill>
                  <a:srgbClr val="64748B"/>
                </a:solidFill>
                <a:latin typeface="Source Sans 3" panose="020B0604020202020204" charset="0"/>
              </a:rPr>
              <a:t>Ingreso y lectura estructurada de la información</a:t>
            </a:r>
          </a:p>
        </p:txBody>
      </p:sp>
      <p:pic>
        <p:nvPicPr>
          <p:cNvPr id="44" name="Picture 13" descr="image.png">
            <a:extLst>
              <a:ext uri="{FF2B5EF4-FFF2-40B4-BE49-F238E27FC236}">
                <a16:creationId xmlns:a16="http://schemas.microsoft.com/office/drawing/2014/main" id="{27A16969-457F-47B3-6EF3-7295642F0FF2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311001" y="5243232"/>
            <a:ext cx="415975" cy="415975"/>
          </a:xfrm>
          <a:prstGeom prst="rect">
            <a:avLst/>
          </a:prstGeom>
        </p:spPr>
      </p:pic>
      <p:sp>
        <p:nvSpPr>
          <p:cNvPr id="46" name="TextBox 14">
            <a:extLst>
              <a:ext uri="{FF2B5EF4-FFF2-40B4-BE49-F238E27FC236}">
                <a16:creationId xmlns:a16="http://schemas.microsoft.com/office/drawing/2014/main" id="{11D73FBA-F557-9140-6B5A-ACEC88E195F2}"/>
              </a:ext>
            </a:extLst>
          </p:cNvPr>
          <p:cNvSpPr txBox="1"/>
          <p:nvPr/>
        </p:nvSpPr>
        <p:spPr>
          <a:xfrm>
            <a:off x="2892027" y="5257520"/>
            <a:ext cx="5130147" cy="4924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600" b="1" i="0" u="none" noProof="0" dirty="0">
                <a:solidFill>
                  <a:srgbClr val="1E293B"/>
                </a:solidFill>
                <a:latin typeface="Source Sans 3" panose="020B0604020202020204" charset="0"/>
              </a:rPr>
              <a:t>Integración Tesorería - Banco</a:t>
            </a:r>
            <a:r>
              <a:rPr lang="es-CL" sz="1600" b="0" i="0" u="none" noProof="0" dirty="0">
                <a:solidFill>
                  <a:srgbClr val="334155"/>
                </a:solidFill>
                <a:latin typeface="Source Sans 3" panose="020B0604020202020204" charset="0"/>
              </a:rPr>
              <a:t> </a:t>
            </a:r>
            <a:r>
              <a:rPr lang="es-CL" sz="1600" b="0" i="0" u="none" noProof="0" dirty="0">
                <a:solidFill>
                  <a:srgbClr val="64748B"/>
                </a:solidFill>
                <a:latin typeface="Source Sans 3" panose="020B0604020202020204" charset="0"/>
              </a:rPr>
              <a:t>Conexión directa entre bases de datos TGR y Banco</a:t>
            </a:r>
          </a:p>
        </p:txBody>
      </p:sp>
      <p:pic>
        <p:nvPicPr>
          <p:cNvPr id="48" name="Picture 15" descr="image.png">
            <a:extLst>
              <a:ext uri="{FF2B5EF4-FFF2-40B4-BE49-F238E27FC236}">
                <a16:creationId xmlns:a16="http://schemas.microsoft.com/office/drawing/2014/main" id="{3F31C2C8-E4FA-17F3-3088-EAE0A3B713BB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284271" y="6134100"/>
            <a:ext cx="415975" cy="415975"/>
          </a:xfrm>
          <a:prstGeom prst="rect">
            <a:avLst/>
          </a:prstGeom>
        </p:spPr>
      </p:pic>
      <p:sp>
        <p:nvSpPr>
          <p:cNvPr id="50" name="TextBox 16">
            <a:extLst>
              <a:ext uri="{FF2B5EF4-FFF2-40B4-BE49-F238E27FC236}">
                <a16:creationId xmlns:a16="http://schemas.microsoft.com/office/drawing/2014/main" id="{8D73804A-A2E9-B869-D3F1-03F2A8E9641C}"/>
              </a:ext>
            </a:extLst>
          </p:cNvPr>
          <p:cNvSpPr txBox="1"/>
          <p:nvPr/>
        </p:nvSpPr>
        <p:spPr>
          <a:xfrm>
            <a:off x="2922330" y="6148388"/>
            <a:ext cx="5130147" cy="4924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600" b="1" i="0" u="none" noProof="0" dirty="0">
                <a:solidFill>
                  <a:srgbClr val="1E293B"/>
                </a:solidFill>
                <a:latin typeface="Source Sans 3" panose="020B0604020202020204" charset="0"/>
              </a:rPr>
              <a:t>ETL y Modelo de Datos</a:t>
            </a:r>
            <a:r>
              <a:rPr lang="es-CL" sz="1600" b="0" i="0" u="none" noProof="0" dirty="0">
                <a:solidFill>
                  <a:srgbClr val="334155"/>
                </a:solidFill>
                <a:latin typeface="Source Sans 3" panose="020B0604020202020204" charset="0"/>
              </a:rPr>
              <a:t> </a:t>
            </a:r>
            <a:r>
              <a:rPr lang="es-CL" sz="1600" b="0" i="0" u="none" noProof="0" dirty="0">
                <a:solidFill>
                  <a:srgbClr val="64748B"/>
                </a:solidFill>
                <a:latin typeface="Source Sans 3" panose="020B0604020202020204" charset="0"/>
              </a:rPr>
              <a:t>Transformación, carga y almacenamiento optimizado</a:t>
            </a:r>
          </a:p>
        </p:txBody>
      </p:sp>
      <p:pic>
        <p:nvPicPr>
          <p:cNvPr id="52" name="Picture 17" descr="image.png">
            <a:extLst>
              <a:ext uri="{FF2B5EF4-FFF2-40B4-BE49-F238E27FC236}">
                <a16:creationId xmlns:a16="http://schemas.microsoft.com/office/drawing/2014/main" id="{D65D190B-901E-FE90-60CC-6EA7EB6EEA91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314574" y="6975503"/>
            <a:ext cx="415975" cy="415975"/>
          </a:xfrm>
          <a:prstGeom prst="rect">
            <a:avLst/>
          </a:prstGeom>
        </p:spPr>
      </p:pic>
      <p:sp>
        <p:nvSpPr>
          <p:cNvPr id="54" name="TextBox 18">
            <a:extLst>
              <a:ext uri="{FF2B5EF4-FFF2-40B4-BE49-F238E27FC236}">
                <a16:creationId xmlns:a16="http://schemas.microsoft.com/office/drawing/2014/main" id="{023072AC-91D2-1891-230B-F2E1B7414769}"/>
              </a:ext>
            </a:extLst>
          </p:cNvPr>
          <p:cNvSpPr txBox="1"/>
          <p:nvPr/>
        </p:nvSpPr>
        <p:spPr>
          <a:xfrm>
            <a:off x="2942277" y="6989791"/>
            <a:ext cx="5081209" cy="4924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600" b="1" i="0" u="none" noProof="0" dirty="0">
                <a:solidFill>
                  <a:srgbClr val="1E293B"/>
                </a:solidFill>
                <a:latin typeface="Source Sans 3" panose="020B0604020202020204" charset="0"/>
              </a:rPr>
              <a:t>Validaciones y Análisis Histórico</a:t>
            </a:r>
            <a:r>
              <a:rPr lang="es-CL" sz="1600" b="0" i="0" u="none" noProof="0" dirty="0">
                <a:solidFill>
                  <a:srgbClr val="334155"/>
                </a:solidFill>
                <a:latin typeface="Source Sans 3" panose="020B0604020202020204" charset="0"/>
              </a:rPr>
              <a:t> </a:t>
            </a:r>
            <a:r>
              <a:rPr lang="es-CL" sz="1600" b="0" i="0" u="none" noProof="0" dirty="0">
                <a:solidFill>
                  <a:srgbClr val="64748B"/>
                </a:solidFill>
                <a:latin typeface="Source Sans 3" panose="020B0604020202020204" charset="0"/>
              </a:rPr>
              <a:t>Aplicación de reglas de negocio y comparativa</a:t>
            </a:r>
          </a:p>
        </p:txBody>
      </p:sp>
      <p:pic>
        <p:nvPicPr>
          <p:cNvPr id="56" name="Picture 19" descr="image.png">
            <a:extLst>
              <a:ext uri="{FF2B5EF4-FFF2-40B4-BE49-F238E27FC236}">
                <a16:creationId xmlns:a16="http://schemas.microsoft.com/office/drawing/2014/main" id="{35AFB2A1-A62A-3AD1-BE82-3E990E433DC2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2286000" y="7886700"/>
            <a:ext cx="415975" cy="415975"/>
          </a:xfrm>
          <a:prstGeom prst="rect">
            <a:avLst/>
          </a:prstGeom>
        </p:spPr>
      </p:pic>
      <p:sp>
        <p:nvSpPr>
          <p:cNvPr id="58" name="TextBox 20">
            <a:extLst>
              <a:ext uri="{FF2B5EF4-FFF2-40B4-BE49-F238E27FC236}">
                <a16:creationId xmlns:a16="http://schemas.microsoft.com/office/drawing/2014/main" id="{B7D4225A-931F-81A4-89C7-463357C65415}"/>
              </a:ext>
            </a:extLst>
          </p:cNvPr>
          <p:cNvSpPr txBox="1"/>
          <p:nvPr/>
        </p:nvSpPr>
        <p:spPr>
          <a:xfrm>
            <a:off x="2940965" y="7900988"/>
            <a:ext cx="5081209" cy="4924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600" b="1" i="0" u="none" noProof="0" dirty="0">
                <a:solidFill>
                  <a:srgbClr val="1E293B"/>
                </a:solidFill>
                <a:latin typeface="Source Sans 3" panose="020B0604020202020204" charset="0"/>
              </a:rPr>
              <a:t>Trazabilidad y </a:t>
            </a:r>
            <a:r>
              <a:rPr lang="es-CL" sz="1600" b="1" i="0" u="none" noProof="0" dirty="0" err="1">
                <a:solidFill>
                  <a:srgbClr val="1E293B"/>
                </a:solidFill>
                <a:latin typeface="Source Sans 3" panose="020B0604020202020204" charset="0"/>
              </a:rPr>
              <a:t>Dashboards</a:t>
            </a:r>
            <a:r>
              <a:rPr lang="es-CL" sz="1600" b="0" i="0" u="none" noProof="0" dirty="0">
                <a:solidFill>
                  <a:srgbClr val="334155"/>
                </a:solidFill>
                <a:latin typeface="Source Sans 3" panose="020B0604020202020204" charset="0"/>
              </a:rPr>
              <a:t> </a:t>
            </a:r>
            <a:r>
              <a:rPr lang="es-CL" sz="1600" b="0" i="0" u="none" noProof="0" dirty="0">
                <a:solidFill>
                  <a:srgbClr val="64748B"/>
                </a:solidFill>
                <a:latin typeface="Source Sans 3" panose="020B0604020202020204" charset="0"/>
              </a:rPr>
              <a:t>Generación de reportes y seguimiento continuo</a:t>
            </a:r>
          </a:p>
        </p:txBody>
      </p:sp>
      <p:pic>
        <p:nvPicPr>
          <p:cNvPr id="60" name="Picture 21" descr="image.png">
            <a:extLst>
              <a:ext uri="{FF2B5EF4-FFF2-40B4-BE49-F238E27FC236}">
                <a16:creationId xmlns:a16="http://schemas.microsoft.com/office/drawing/2014/main" id="{307D9E54-2FED-618D-225F-E64D9CC4FD0F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2314574" y="8766125"/>
            <a:ext cx="415975" cy="415975"/>
          </a:xfrm>
          <a:prstGeom prst="rect">
            <a:avLst/>
          </a:prstGeom>
        </p:spPr>
      </p:pic>
      <p:sp>
        <p:nvSpPr>
          <p:cNvPr id="62" name="TextBox 22">
            <a:extLst>
              <a:ext uri="{FF2B5EF4-FFF2-40B4-BE49-F238E27FC236}">
                <a16:creationId xmlns:a16="http://schemas.microsoft.com/office/drawing/2014/main" id="{0CE58DBC-501E-1971-7FAA-B65AAA7D038A}"/>
              </a:ext>
            </a:extLst>
          </p:cNvPr>
          <p:cNvSpPr txBox="1"/>
          <p:nvPr/>
        </p:nvSpPr>
        <p:spPr>
          <a:xfrm>
            <a:off x="2966747" y="8780413"/>
            <a:ext cx="5055427" cy="4924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600" b="1" i="0" u="none" noProof="0" dirty="0">
                <a:solidFill>
                  <a:srgbClr val="1E293B"/>
                </a:solidFill>
                <a:latin typeface="Source Sans 3" panose="020B0604020202020204" charset="0"/>
              </a:rPr>
              <a:t>Análisis IA e Integración Completa</a:t>
            </a:r>
            <a:r>
              <a:rPr lang="es-CL" sz="1600" b="0" i="0" u="none" noProof="0" dirty="0">
                <a:solidFill>
                  <a:srgbClr val="334155"/>
                </a:solidFill>
                <a:latin typeface="Source Sans 3" panose="020B0604020202020204" charset="0"/>
              </a:rPr>
              <a:t> </a:t>
            </a:r>
            <a:r>
              <a:rPr lang="es-CL" sz="1600" b="0" i="0" u="none" noProof="0" dirty="0">
                <a:solidFill>
                  <a:srgbClr val="64748B"/>
                </a:solidFill>
                <a:latin typeface="Source Sans 3" panose="020B0604020202020204" charset="0"/>
              </a:rPr>
              <a:t>Analítica avanzada para la toma de decisiones</a:t>
            </a:r>
          </a:p>
        </p:txBody>
      </p:sp>
      <p:pic>
        <p:nvPicPr>
          <p:cNvPr id="64" name="Picture 23" descr="image.png">
            <a:extLst>
              <a:ext uri="{FF2B5EF4-FFF2-40B4-BE49-F238E27FC236}">
                <a16:creationId xmlns:a16="http://schemas.microsoft.com/office/drawing/2014/main" id="{DA68EB5D-8269-5993-22E9-49955C92D20D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9677400" y="3452812"/>
            <a:ext cx="215824" cy="220222"/>
          </a:xfrm>
          <a:prstGeom prst="rect">
            <a:avLst/>
          </a:prstGeom>
        </p:spPr>
      </p:pic>
      <p:pic>
        <p:nvPicPr>
          <p:cNvPr id="66" name="Picture 24" descr="image.png">
            <a:extLst>
              <a:ext uri="{FF2B5EF4-FFF2-40B4-BE49-F238E27FC236}">
                <a16:creationId xmlns:a16="http://schemas.microsoft.com/office/drawing/2014/main" id="{3005A96B-712A-B2F8-BD34-B24E894CEF92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9836894" y="4337458"/>
            <a:ext cx="415975" cy="415975"/>
          </a:xfrm>
          <a:prstGeom prst="rect">
            <a:avLst/>
          </a:prstGeom>
        </p:spPr>
      </p:pic>
      <p:sp>
        <p:nvSpPr>
          <p:cNvPr id="68" name="TextBox 25">
            <a:extLst>
              <a:ext uri="{FF2B5EF4-FFF2-40B4-BE49-F238E27FC236}">
                <a16:creationId xmlns:a16="http://schemas.microsoft.com/office/drawing/2014/main" id="{D3961CFD-6164-C9AB-146B-C5AB0B5F8D4B}"/>
              </a:ext>
            </a:extLst>
          </p:cNvPr>
          <p:cNvSpPr txBox="1"/>
          <p:nvPr/>
        </p:nvSpPr>
        <p:spPr>
          <a:xfrm>
            <a:off x="10387502" y="4383229"/>
            <a:ext cx="5385898" cy="4924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600" b="1" i="0" u="none" noProof="0" dirty="0">
                <a:solidFill>
                  <a:srgbClr val="1E293B"/>
                </a:solidFill>
                <a:latin typeface="Source Sans 3" panose="020B0604020202020204" charset="0"/>
              </a:rPr>
              <a:t>Disponibilidad Limitada de Datos Reales</a:t>
            </a:r>
            <a:r>
              <a:rPr lang="es-CL" sz="1600" b="0" i="0" u="none" noProof="0" dirty="0">
                <a:solidFill>
                  <a:srgbClr val="334155"/>
                </a:solidFill>
                <a:latin typeface="Source Sans 3" panose="020B0604020202020204" charset="0"/>
              </a:rPr>
              <a:t> </a:t>
            </a:r>
            <a:r>
              <a:rPr lang="es-CL" sz="1600" b="0" i="0" u="none" noProof="0" dirty="0">
                <a:solidFill>
                  <a:srgbClr val="64748B"/>
                </a:solidFill>
                <a:latin typeface="Source Sans 3" panose="020B0604020202020204" charset="0"/>
              </a:rPr>
              <a:t>Restricciones temporales de acceso a entornos productivos</a:t>
            </a:r>
          </a:p>
        </p:txBody>
      </p:sp>
      <p:pic>
        <p:nvPicPr>
          <p:cNvPr id="70" name="Picture 26" descr="image.png">
            <a:extLst>
              <a:ext uri="{FF2B5EF4-FFF2-40B4-BE49-F238E27FC236}">
                <a16:creationId xmlns:a16="http://schemas.microsoft.com/office/drawing/2014/main" id="{C16D3CA8-5D86-099F-2FFD-2B960401EEFC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9829799" y="5215791"/>
            <a:ext cx="415975" cy="415975"/>
          </a:xfrm>
          <a:prstGeom prst="rect">
            <a:avLst/>
          </a:prstGeom>
        </p:spPr>
      </p:pic>
      <p:sp>
        <p:nvSpPr>
          <p:cNvPr id="72" name="TextBox 27">
            <a:extLst>
              <a:ext uri="{FF2B5EF4-FFF2-40B4-BE49-F238E27FC236}">
                <a16:creationId xmlns:a16="http://schemas.microsoft.com/office/drawing/2014/main" id="{572BDCAC-46F6-67BF-58FA-468D93302A59}"/>
              </a:ext>
            </a:extLst>
          </p:cNvPr>
          <p:cNvSpPr txBox="1"/>
          <p:nvPr/>
        </p:nvSpPr>
        <p:spPr>
          <a:xfrm>
            <a:off x="10387502" y="5257520"/>
            <a:ext cx="5385898" cy="4924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600" b="1" i="0" u="none" noProof="0" dirty="0">
                <a:solidFill>
                  <a:srgbClr val="1E293B"/>
                </a:solidFill>
                <a:latin typeface="Source Sans 3" panose="020B0604020202020204" charset="0"/>
              </a:rPr>
              <a:t>Complejidad Técnica de Integración</a:t>
            </a:r>
            <a:r>
              <a:rPr lang="es-CL" sz="1600" b="0" i="0" u="none" noProof="0" dirty="0">
                <a:solidFill>
                  <a:srgbClr val="334155"/>
                </a:solidFill>
                <a:latin typeface="Source Sans 3" panose="020B0604020202020204" charset="0"/>
              </a:rPr>
              <a:t> </a:t>
            </a:r>
            <a:r>
              <a:rPr lang="es-CL" sz="1600" b="0" i="0" u="none" noProof="0" dirty="0">
                <a:solidFill>
                  <a:srgbClr val="64748B"/>
                </a:solidFill>
                <a:latin typeface="Source Sans 3" panose="020B0604020202020204" charset="0"/>
              </a:rPr>
              <a:t>Manejo de protocolos de seguridad y heterogeneidad de fuentes</a:t>
            </a:r>
          </a:p>
        </p:txBody>
      </p:sp>
      <p:pic>
        <p:nvPicPr>
          <p:cNvPr id="74" name="Picture 28" descr="image.png">
            <a:extLst>
              <a:ext uri="{FF2B5EF4-FFF2-40B4-BE49-F238E27FC236}">
                <a16:creationId xmlns:a16="http://schemas.microsoft.com/office/drawing/2014/main" id="{D6ABBFCC-DF46-B4FC-60B6-025162808443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9829800" y="6099125"/>
            <a:ext cx="415975" cy="415975"/>
          </a:xfrm>
          <a:prstGeom prst="rect">
            <a:avLst/>
          </a:prstGeom>
        </p:spPr>
      </p:pic>
      <p:sp>
        <p:nvSpPr>
          <p:cNvPr id="76" name="TextBox 29">
            <a:extLst>
              <a:ext uri="{FF2B5EF4-FFF2-40B4-BE49-F238E27FC236}">
                <a16:creationId xmlns:a16="http://schemas.microsoft.com/office/drawing/2014/main" id="{2A4F1A48-7190-32B5-55EE-85E520662F22}"/>
              </a:ext>
            </a:extLst>
          </p:cNvPr>
          <p:cNvSpPr txBox="1"/>
          <p:nvPr/>
        </p:nvSpPr>
        <p:spPr>
          <a:xfrm>
            <a:off x="10387502" y="6110414"/>
            <a:ext cx="5385898" cy="4924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600" b="1" i="0" u="none" noProof="0" dirty="0">
                <a:solidFill>
                  <a:srgbClr val="1E293B"/>
                </a:solidFill>
                <a:latin typeface="Source Sans 3" panose="020B0604020202020204" charset="0"/>
              </a:rPr>
              <a:t>Uso Inicial de Datos Sintéticos/Prueba</a:t>
            </a:r>
            <a:r>
              <a:rPr lang="es-CL" sz="1600" b="0" i="0" u="none" noProof="0" dirty="0">
                <a:solidFill>
                  <a:srgbClr val="334155"/>
                </a:solidFill>
                <a:latin typeface="Source Sans 3" panose="020B0604020202020204" charset="0"/>
              </a:rPr>
              <a:t> </a:t>
            </a:r>
            <a:r>
              <a:rPr lang="es-CL" sz="1600" b="0" i="0" u="none" noProof="0" dirty="0">
                <a:solidFill>
                  <a:srgbClr val="64748B"/>
                </a:solidFill>
                <a:latin typeface="Source Sans 3" panose="020B0604020202020204" charset="0"/>
              </a:rPr>
              <a:t>Validaciones preliminares basadas en </a:t>
            </a:r>
            <a:r>
              <a:rPr lang="es-CL" sz="1600" b="0" i="0" u="none" noProof="0" dirty="0" err="1">
                <a:solidFill>
                  <a:srgbClr val="64748B"/>
                </a:solidFill>
                <a:latin typeface="Source Sans 3" panose="020B0604020202020204" charset="0"/>
              </a:rPr>
              <a:t>datasets</a:t>
            </a:r>
            <a:r>
              <a:rPr lang="es-CL" sz="1600" b="0" i="0" u="none" noProof="0" dirty="0">
                <a:solidFill>
                  <a:srgbClr val="64748B"/>
                </a:solidFill>
                <a:latin typeface="Source Sans 3" panose="020B0604020202020204" charset="0"/>
              </a:rPr>
              <a:t> simulados</a:t>
            </a:r>
          </a:p>
        </p:txBody>
      </p:sp>
      <p:pic>
        <p:nvPicPr>
          <p:cNvPr id="78" name="Picture 30" descr="image.png">
            <a:extLst>
              <a:ext uri="{FF2B5EF4-FFF2-40B4-BE49-F238E27FC236}">
                <a16:creationId xmlns:a16="http://schemas.microsoft.com/office/drawing/2014/main" id="{A4C5393F-32A7-D614-DCE6-A12C1BD81DC4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9829800" y="7008743"/>
            <a:ext cx="415975" cy="415975"/>
          </a:xfrm>
          <a:prstGeom prst="rect">
            <a:avLst/>
          </a:prstGeom>
        </p:spPr>
      </p:pic>
      <p:sp>
        <p:nvSpPr>
          <p:cNvPr id="80" name="TextBox 31">
            <a:extLst>
              <a:ext uri="{FF2B5EF4-FFF2-40B4-BE49-F238E27FC236}">
                <a16:creationId xmlns:a16="http://schemas.microsoft.com/office/drawing/2014/main" id="{D80C873B-1588-609A-966F-37F939B719C3}"/>
              </a:ext>
            </a:extLst>
          </p:cNvPr>
          <p:cNvSpPr txBox="1"/>
          <p:nvPr/>
        </p:nvSpPr>
        <p:spPr>
          <a:xfrm>
            <a:off x="10387502" y="7019307"/>
            <a:ext cx="5385898" cy="4924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600" b="1" i="0" u="none" noProof="0" dirty="0">
                <a:solidFill>
                  <a:srgbClr val="1E293B"/>
                </a:solidFill>
                <a:latin typeface="Source Sans 3" panose="020B0604020202020204" charset="0"/>
              </a:rPr>
              <a:t>Desarrollo Modular y Escalable</a:t>
            </a:r>
            <a:r>
              <a:rPr lang="es-CL" sz="1600" b="0" i="0" u="none" noProof="0" dirty="0">
                <a:solidFill>
                  <a:srgbClr val="334155"/>
                </a:solidFill>
                <a:latin typeface="Source Sans 3" panose="020B0604020202020204" charset="0"/>
              </a:rPr>
              <a:t> </a:t>
            </a:r>
            <a:r>
              <a:rPr lang="es-CL" sz="1600" b="0" i="0" u="none" noProof="0" dirty="0">
                <a:solidFill>
                  <a:srgbClr val="64748B"/>
                </a:solidFill>
                <a:latin typeface="Source Sans 3" panose="020B0604020202020204" charset="0"/>
              </a:rPr>
              <a:t>Estrategia por fases para mitigar riesgos operativos</a:t>
            </a:r>
          </a:p>
        </p:txBody>
      </p:sp>
      <p:pic>
        <p:nvPicPr>
          <p:cNvPr id="82" name="Gráfico 81">
            <a:extLst>
              <a:ext uri="{FF2B5EF4-FFF2-40B4-BE49-F238E27FC236}">
                <a16:creationId xmlns:a16="http://schemas.microsoft.com/office/drawing/2014/main" id="{B7CBE6E5-11AE-F207-660A-951868EDE81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9923982" y="4429510"/>
            <a:ext cx="226871" cy="226871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/>
          <p:cNvGrpSpPr/>
          <p:nvPr/>
        </p:nvGrpSpPr>
        <p:grpSpPr>
          <a:xfrm>
            <a:off x="685800" y="2619375"/>
            <a:ext cx="2886075" cy="1809750"/>
            <a:chOff x="0" y="0"/>
            <a:chExt cx="3365500" cy="2413000"/>
          </a:xfrm>
        </p:grpSpPr>
        <p:grpSp>
          <p:nvGrpSpPr>
            <p:cNvPr id="8" name="Group 8"/>
            <p:cNvGrpSpPr/>
            <p:nvPr/>
          </p:nvGrpSpPr>
          <p:grpSpPr>
            <a:xfrm>
              <a:off x="0" y="0"/>
              <a:ext cx="3365500" cy="2413000"/>
              <a:chOff x="0" y="0"/>
              <a:chExt cx="3365500" cy="2413000"/>
            </a:xfrm>
          </p:grpSpPr>
          <p:sp>
            <p:nvSpPr>
              <p:cNvPr id="9" name="Freeform 9"/>
              <p:cNvSpPr/>
              <p:nvPr/>
            </p:nvSpPr>
            <p:spPr>
              <a:xfrm>
                <a:off x="0" y="0"/>
                <a:ext cx="3365500" cy="2413000"/>
              </a:xfrm>
              <a:custGeom>
                <a:avLst/>
                <a:gdLst/>
                <a:ahLst/>
                <a:cxnLst/>
                <a:rect l="l" t="t" r="r" b="b"/>
                <a:pathLst>
                  <a:path w="3365500" h="2413000">
                    <a:moveTo>
                      <a:pt x="0" y="0"/>
                    </a:moveTo>
                    <a:lnTo>
                      <a:pt x="3365500" y="0"/>
                    </a:lnTo>
                    <a:lnTo>
                      <a:pt x="3365500" y="2413000"/>
                    </a:lnTo>
                    <a:lnTo>
                      <a:pt x="0" y="2413000"/>
                    </a:lnTo>
                    <a:close/>
                  </a:path>
                </a:pathLst>
              </a:custGeom>
              <a:solidFill>
                <a:srgbClr val="FFFFFF"/>
              </a:solidFill>
              <a:ln w="9525" cap="sq">
                <a:solidFill>
                  <a:srgbClr val="D7E0E8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s-CL" noProof="0" dirty="0"/>
              </a:p>
            </p:txBody>
          </p:sp>
          <p:sp>
            <p:nvSpPr>
              <p:cNvPr id="10" name="TextBox 10"/>
              <p:cNvSpPr txBox="1"/>
              <p:nvPr/>
            </p:nvSpPr>
            <p:spPr>
              <a:xfrm>
                <a:off x="0" y="-38100"/>
                <a:ext cx="3365500" cy="24511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679"/>
                  </a:lnSpc>
                </a:pPr>
                <a:endParaRPr lang="es-CL" noProof="0" dirty="0"/>
              </a:p>
            </p:txBody>
          </p:sp>
        </p:grpSp>
        <p:grpSp>
          <p:nvGrpSpPr>
            <p:cNvPr id="11" name="Group 11"/>
            <p:cNvGrpSpPr/>
            <p:nvPr/>
          </p:nvGrpSpPr>
          <p:grpSpPr>
            <a:xfrm>
              <a:off x="254000" y="254000"/>
              <a:ext cx="825500" cy="825500"/>
              <a:chOff x="0" y="0"/>
              <a:chExt cx="825500" cy="825500"/>
            </a:xfrm>
          </p:grpSpPr>
          <p:sp>
            <p:nvSpPr>
              <p:cNvPr id="12" name="Freeform 12"/>
              <p:cNvSpPr/>
              <p:nvPr/>
            </p:nvSpPr>
            <p:spPr>
              <a:xfrm>
                <a:off x="0" y="0"/>
                <a:ext cx="825500" cy="825500"/>
              </a:xfrm>
              <a:custGeom>
                <a:avLst/>
                <a:gdLst/>
                <a:ahLst/>
                <a:cxnLst/>
                <a:rect l="l" t="t" r="r" b="b"/>
                <a:pathLst>
                  <a:path w="825500" h="825500">
                    <a:moveTo>
                      <a:pt x="0" y="0"/>
                    </a:moveTo>
                    <a:lnTo>
                      <a:pt x="825500" y="0"/>
                    </a:lnTo>
                    <a:lnTo>
                      <a:pt x="825500" y="825500"/>
                    </a:lnTo>
                    <a:lnTo>
                      <a:pt x="0" y="825500"/>
                    </a:lnTo>
                    <a:close/>
                  </a:path>
                </a:pathLst>
              </a:custGeom>
              <a:solidFill>
                <a:srgbClr val="0878B9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es-CL" noProof="0" dirty="0"/>
              </a:p>
            </p:txBody>
          </p:sp>
          <p:sp>
            <p:nvSpPr>
              <p:cNvPr id="13" name="TextBox 13"/>
              <p:cNvSpPr txBox="1"/>
              <p:nvPr/>
            </p:nvSpPr>
            <p:spPr>
              <a:xfrm>
                <a:off x="0" y="-38100"/>
                <a:ext cx="825500" cy="8636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679"/>
                  </a:lnSpc>
                </a:pPr>
                <a:endParaRPr lang="es-CL" noProof="0" dirty="0"/>
              </a:p>
            </p:txBody>
          </p:sp>
        </p:grpSp>
        <p:sp>
          <p:nvSpPr>
            <p:cNvPr id="14" name="TextBox 14"/>
            <p:cNvSpPr txBox="1"/>
            <p:nvPr/>
          </p:nvSpPr>
          <p:spPr>
            <a:xfrm>
              <a:off x="254000" y="279400"/>
              <a:ext cx="825500" cy="46228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940"/>
                </a:lnSpc>
              </a:pPr>
              <a:r>
                <a:rPr lang="es-CL" sz="2100" b="1" noProof="0" dirty="0">
                  <a:solidFill>
                    <a:srgbClr val="FFFFFF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01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333500" y="250825"/>
              <a:ext cx="2032000" cy="31051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995"/>
                </a:lnSpc>
              </a:pPr>
              <a:r>
                <a:rPr lang="es-CL" sz="1425" b="1" noProof="0" dirty="0">
                  <a:solidFill>
                    <a:srgbClr val="082B4C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Requerimientos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333500" y="812800"/>
              <a:ext cx="2032000" cy="6223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875"/>
                </a:lnSpc>
              </a:pPr>
              <a:r>
                <a:rPr lang="es-CL" sz="1500" noProof="0" dirty="0">
                  <a:solidFill>
                    <a:srgbClr val="64748B"/>
                  </a:solidFill>
                  <a:latin typeface="Source Sans 3"/>
                  <a:ea typeface="Source Sans 3"/>
                  <a:cs typeface="Source Sans 3"/>
                  <a:sym typeface="Source Sans 3"/>
                </a:rPr>
                <a:t>Levantamiento y análisis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3762375" y="3476625"/>
            <a:ext cx="2524125" cy="1809750"/>
            <a:chOff x="0" y="0"/>
            <a:chExt cx="3365500" cy="2413000"/>
          </a:xfrm>
        </p:grpSpPr>
        <p:grpSp>
          <p:nvGrpSpPr>
            <p:cNvPr id="19" name="Group 19"/>
            <p:cNvGrpSpPr/>
            <p:nvPr/>
          </p:nvGrpSpPr>
          <p:grpSpPr>
            <a:xfrm>
              <a:off x="0" y="0"/>
              <a:ext cx="3365500" cy="2413000"/>
              <a:chOff x="0" y="0"/>
              <a:chExt cx="3365500" cy="2413000"/>
            </a:xfrm>
          </p:grpSpPr>
          <p:sp>
            <p:nvSpPr>
              <p:cNvPr id="20" name="Freeform 20"/>
              <p:cNvSpPr/>
              <p:nvPr/>
            </p:nvSpPr>
            <p:spPr>
              <a:xfrm>
                <a:off x="0" y="0"/>
                <a:ext cx="3365500" cy="2413000"/>
              </a:xfrm>
              <a:custGeom>
                <a:avLst/>
                <a:gdLst/>
                <a:ahLst/>
                <a:cxnLst/>
                <a:rect l="l" t="t" r="r" b="b"/>
                <a:pathLst>
                  <a:path w="3365500" h="2413000">
                    <a:moveTo>
                      <a:pt x="0" y="0"/>
                    </a:moveTo>
                    <a:lnTo>
                      <a:pt x="3365500" y="0"/>
                    </a:lnTo>
                    <a:lnTo>
                      <a:pt x="3365500" y="2413000"/>
                    </a:lnTo>
                    <a:lnTo>
                      <a:pt x="0" y="2413000"/>
                    </a:lnTo>
                    <a:close/>
                  </a:path>
                </a:pathLst>
              </a:custGeom>
              <a:solidFill>
                <a:srgbClr val="FFFFFF"/>
              </a:solidFill>
              <a:ln w="9525" cap="sq">
                <a:solidFill>
                  <a:srgbClr val="D7E0E8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s-CL" noProof="0" dirty="0"/>
              </a:p>
            </p:txBody>
          </p:sp>
          <p:sp>
            <p:nvSpPr>
              <p:cNvPr id="21" name="TextBox 21"/>
              <p:cNvSpPr txBox="1"/>
              <p:nvPr/>
            </p:nvSpPr>
            <p:spPr>
              <a:xfrm>
                <a:off x="0" y="-38100"/>
                <a:ext cx="3365500" cy="24511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679"/>
                  </a:lnSpc>
                </a:pPr>
                <a:endParaRPr lang="es-CL" noProof="0" dirty="0"/>
              </a:p>
            </p:txBody>
          </p:sp>
        </p:grpSp>
        <p:grpSp>
          <p:nvGrpSpPr>
            <p:cNvPr id="22" name="Group 22"/>
            <p:cNvGrpSpPr/>
            <p:nvPr/>
          </p:nvGrpSpPr>
          <p:grpSpPr>
            <a:xfrm>
              <a:off x="254000" y="254000"/>
              <a:ext cx="825500" cy="825500"/>
              <a:chOff x="0" y="0"/>
              <a:chExt cx="825500" cy="825500"/>
            </a:xfrm>
          </p:grpSpPr>
          <p:sp>
            <p:nvSpPr>
              <p:cNvPr id="23" name="Freeform 23"/>
              <p:cNvSpPr/>
              <p:nvPr/>
            </p:nvSpPr>
            <p:spPr>
              <a:xfrm>
                <a:off x="0" y="0"/>
                <a:ext cx="825500" cy="825500"/>
              </a:xfrm>
              <a:custGeom>
                <a:avLst/>
                <a:gdLst/>
                <a:ahLst/>
                <a:cxnLst/>
                <a:rect l="l" t="t" r="r" b="b"/>
                <a:pathLst>
                  <a:path w="825500" h="825500">
                    <a:moveTo>
                      <a:pt x="0" y="0"/>
                    </a:moveTo>
                    <a:lnTo>
                      <a:pt x="825500" y="0"/>
                    </a:lnTo>
                    <a:lnTo>
                      <a:pt x="825500" y="825500"/>
                    </a:lnTo>
                    <a:lnTo>
                      <a:pt x="0" y="825500"/>
                    </a:lnTo>
                    <a:close/>
                  </a:path>
                </a:pathLst>
              </a:custGeom>
              <a:solidFill>
                <a:srgbClr val="0878B9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es-CL" noProof="0" dirty="0"/>
              </a:p>
            </p:txBody>
          </p:sp>
          <p:sp>
            <p:nvSpPr>
              <p:cNvPr id="24" name="TextBox 24"/>
              <p:cNvSpPr txBox="1"/>
              <p:nvPr/>
            </p:nvSpPr>
            <p:spPr>
              <a:xfrm>
                <a:off x="0" y="-38100"/>
                <a:ext cx="825500" cy="8636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679"/>
                  </a:lnSpc>
                </a:pPr>
                <a:endParaRPr lang="es-CL" noProof="0" dirty="0"/>
              </a:p>
            </p:txBody>
          </p:sp>
        </p:grpSp>
        <p:sp>
          <p:nvSpPr>
            <p:cNvPr id="25" name="TextBox 25"/>
            <p:cNvSpPr txBox="1"/>
            <p:nvPr/>
          </p:nvSpPr>
          <p:spPr>
            <a:xfrm>
              <a:off x="254000" y="279400"/>
              <a:ext cx="825500" cy="46228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940"/>
                </a:lnSpc>
              </a:pPr>
              <a:r>
                <a:rPr lang="es-CL" sz="2100" b="1" noProof="0" dirty="0">
                  <a:solidFill>
                    <a:srgbClr val="FFFFFF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02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1333500" y="241300"/>
              <a:ext cx="2032000" cy="39624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520"/>
                </a:lnSpc>
              </a:pPr>
              <a:r>
                <a:rPr lang="es-CL" sz="1800" b="1" noProof="0" dirty="0">
                  <a:solidFill>
                    <a:srgbClr val="082B4C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Diseño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1333500" y="812800"/>
              <a:ext cx="2032000" cy="9398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875"/>
                </a:lnSpc>
              </a:pPr>
              <a:r>
                <a:rPr lang="es-CL" sz="1500" noProof="0" dirty="0">
                  <a:solidFill>
                    <a:srgbClr val="64748B"/>
                  </a:solidFill>
                  <a:latin typeface="Source Sans 3"/>
                  <a:ea typeface="Source Sans 3"/>
                  <a:cs typeface="Source Sans 3"/>
                  <a:sym typeface="Source Sans 3"/>
                </a:rPr>
                <a:t>Arquitectura, datos, ETL y módulos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6477000" y="4333875"/>
            <a:ext cx="2524125" cy="1809750"/>
            <a:chOff x="0" y="0"/>
            <a:chExt cx="3365500" cy="2413000"/>
          </a:xfrm>
        </p:grpSpPr>
        <p:grpSp>
          <p:nvGrpSpPr>
            <p:cNvPr id="30" name="Group 30"/>
            <p:cNvGrpSpPr/>
            <p:nvPr/>
          </p:nvGrpSpPr>
          <p:grpSpPr>
            <a:xfrm>
              <a:off x="0" y="0"/>
              <a:ext cx="3365500" cy="2413000"/>
              <a:chOff x="0" y="0"/>
              <a:chExt cx="3365500" cy="2413000"/>
            </a:xfrm>
          </p:grpSpPr>
          <p:sp>
            <p:nvSpPr>
              <p:cNvPr id="31" name="Freeform 31"/>
              <p:cNvSpPr/>
              <p:nvPr/>
            </p:nvSpPr>
            <p:spPr>
              <a:xfrm>
                <a:off x="0" y="0"/>
                <a:ext cx="3365500" cy="2413000"/>
              </a:xfrm>
              <a:custGeom>
                <a:avLst/>
                <a:gdLst/>
                <a:ahLst/>
                <a:cxnLst/>
                <a:rect l="l" t="t" r="r" b="b"/>
                <a:pathLst>
                  <a:path w="3365500" h="2413000">
                    <a:moveTo>
                      <a:pt x="0" y="0"/>
                    </a:moveTo>
                    <a:lnTo>
                      <a:pt x="3365500" y="0"/>
                    </a:lnTo>
                    <a:lnTo>
                      <a:pt x="3365500" y="2413000"/>
                    </a:lnTo>
                    <a:lnTo>
                      <a:pt x="0" y="2413000"/>
                    </a:lnTo>
                    <a:close/>
                  </a:path>
                </a:pathLst>
              </a:custGeom>
              <a:solidFill>
                <a:srgbClr val="FFFFFF"/>
              </a:solidFill>
              <a:ln w="9525" cap="sq">
                <a:solidFill>
                  <a:srgbClr val="D7E0E8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s-CL" noProof="0" dirty="0"/>
              </a:p>
            </p:txBody>
          </p:sp>
          <p:sp>
            <p:nvSpPr>
              <p:cNvPr id="32" name="TextBox 32"/>
              <p:cNvSpPr txBox="1"/>
              <p:nvPr/>
            </p:nvSpPr>
            <p:spPr>
              <a:xfrm>
                <a:off x="0" y="-38100"/>
                <a:ext cx="3365500" cy="24511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679"/>
                  </a:lnSpc>
                </a:pPr>
                <a:endParaRPr lang="es-CL" noProof="0" dirty="0"/>
              </a:p>
            </p:txBody>
          </p:sp>
        </p:grpSp>
        <p:grpSp>
          <p:nvGrpSpPr>
            <p:cNvPr id="33" name="Group 33"/>
            <p:cNvGrpSpPr/>
            <p:nvPr/>
          </p:nvGrpSpPr>
          <p:grpSpPr>
            <a:xfrm>
              <a:off x="254000" y="254000"/>
              <a:ext cx="825500" cy="825500"/>
              <a:chOff x="0" y="0"/>
              <a:chExt cx="825500" cy="825500"/>
            </a:xfrm>
          </p:grpSpPr>
          <p:sp>
            <p:nvSpPr>
              <p:cNvPr id="34" name="Freeform 34"/>
              <p:cNvSpPr/>
              <p:nvPr/>
            </p:nvSpPr>
            <p:spPr>
              <a:xfrm>
                <a:off x="0" y="0"/>
                <a:ext cx="825500" cy="825500"/>
              </a:xfrm>
              <a:custGeom>
                <a:avLst/>
                <a:gdLst/>
                <a:ahLst/>
                <a:cxnLst/>
                <a:rect l="l" t="t" r="r" b="b"/>
                <a:pathLst>
                  <a:path w="825500" h="825500">
                    <a:moveTo>
                      <a:pt x="0" y="0"/>
                    </a:moveTo>
                    <a:lnTo>
                      <a:pt x="825500" y="0"/>
                    </a:lnTo>
                    <a:lnTo>
                      <a:pt x="825500" y="825500"/>
                    </a:lnTo>
                    <a:lnTo>
                      <a:pt x="0" y="825500"/>
                    </a:lnTo>
                    <a:close/>
                  </a:path>
                </a:pathLst>
              </a:custGeom>
              <a:solidFill>
                <a:srgbClr val="0878B9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es-CL" noProof="0" dirty="0"/>
              </a:p>
            </p:txBody>
          </p:sp>
          <p:sp>
            <p:nvSpPr>
              <p:cNvPr id="35" name="TextBox 35"/>
              <p:cNvSpPr txBox="1"/>
              <p:nvPr/>
            </p:nvSpPr>
            <p:spPr>
              <a:xfrm>
                <a:off x="0" y="-38100"/>
                <a:ext cx="825500" cy="8636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679"/>
                  </a:lnSpc>
                </a:pPr>
                <a:endParaRPr lang="es-CL" noProof="0" dirty="0"/>
              </a:p>
            </p:txBody>
          </p:sp>
        </p:grpSp>
        <p:sp>
          <p:nvSpPr>
            <p:cNvPr id="36" name="TextBox 36"/>
            <p:cNvSpPr txBox="1"/>
            <p:nvPr/>
          </p:nvSpPr>
          <p:spPr>
            <a:xfrm>
              <a:off x="254000" y="279400"/>
              <a:ext cx="825500" cy="46228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940"/>
                </a:lnSpc>
              </a:pPr>
              <a:r>
                <a:rPr lang="es-CL" sz="2100" b="1" noProof="0" dirty="0">
                  <a:solidFill>
                    <a:srgbClr val="FFFFFF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03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1333500" y="241300"/>
              <a:ext cx="2032000" cy="39624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520"/>
                </a:lnSpc>
              </a:pPr>
              <a:r>
                <a:rPr lang="es-CL" sz="1800" b="1" noProof="0" dirty="0">
                  <a:solidFill>
                    <a:srgbClr val="082B4C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Desarrollo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1333500" y="812800"/>
              <a:ext cx="2032000" cy="9398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875"/>
                </a:lnSpc>
              </a:pPr>
              <a:r>
                <a:rPr lang="es-CL" sz="1500" noProof="0" dirty="0">
                  <a:solidFill>
                    <a:srgbClr val="64748B"/>
                  </a:solidFill>
                  <a:latin typeface="Source Sans 3"/>
                  <a:ea typeface="Source Sans 3"/>
                  <a:cs typeface="Source Sans 3"/>
                  <a:sym typeface="Source Sans 3"/>
                </a:rPr>
                <a:t>Recepción, reglas, trazabilidad, reportes e IA</a:t>
              </a:r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9191625" y="5191125"/>
            <a:ext cx="2524125" cy="1809750"/>
            <a:chOff x="0" y="0"/>
            <a:chExt cx="3365500" cy="2413000"/>
          </a:xfrm>
        </p:grpSpPr>
        <p:grpSp>
          <p:nvGrpSpPr>
            <p:cNvPr id="41" name="Group 41"/>
            <p:cNvGrpSpPr/>
            <p:nvPr/>
          </p:nvGrpSpPr>
          <p:grpSpPr>
            <a:xfrm>
              <a:off x="0" y="0"/>
              <a:ext cx="3365500" cy="2413000"/>
              <a:chOff x="0" y="0"/>
              <a:chExt cx="3365500" cy="2413000"/>
            </a:xfrm>
          </p:grpSpPr>
          <p:sp>
            <p:nvSpPr>
              <p:cNvPr id="42" name="Freeform 42"/>
              <p:cNvSpPr/>
              <p:nvPr/>
            </p:nvSpPr>
            <p:spPr>
              <a:xfrm>
                <a:off x="0" y="0"/>
                <a:ext cx="3365500" cy="2413000"/>
              </a:xfrm>
              <a:custGeom>
                <a:avLst/>
                <a:gdLst/>
                <a:ahLst/>
                <a:cxnLst/>
                <a:rect l="l" t="t" r="r" b="b"/>
                <a:pathLst>
                  <a:path w="3365500" h="2413000">
                    <a:moveTo>
                      <a:pt x="0" y="0"/>
                    </a:moveTo>
                    <a:lnTo>
                      <a:pt x="3365500" y="0"/>
                    </a:lnTo>
                    <a:lnTo>
                      <a:pt x="3365500" y="2413000"/>
                    </a:lnTo>
                    <a:lnTo>
                      <a:pt x="0" y="2413000"/>
                    </a:lnTo>
                    <a:close/>
                  </a:path>
                </a:pathLst>
              </a:custGeom>
              <a:solidFill>
                <a:srgbClr val="FFFFFF"/>
              </a:solidFill>
              <a:ln w="9525" cap="sq">
                <a:solidFill>
                  <a:srgbClr val="D7E0E8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s-CL" noProof="0" dirty="0"/>
              </a:p>
            </p:txBody>
          </p:sp>
          <p:sp>
            <p:nvSpPr>
              <p:cNvPr id="43" name="TextBox 43"/>
              <p:cNvSpPr txBox="1"/>
              <p:nvPr/>
            </p:nvSpPr>
            <p:spPr>
              <a:xfrm>
                <a:off x="0" y="-38100"/>
                <a:ext cx="3365500" cy="24511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679"/>
                  </a:lnSpc>
                </a:pPr>
                <a:endParaRPr lang="es-CL" noProof="0" dirty="0"/>
              </a:p>
            </p:txBody>
          </p:sp>
        </p:grpSp>
        <p:grpSp>
          <p:nvGrpSpPr>
            <p:cNvPr id="44" name="Group 44"/>
            <p:cNvGrpSpPr/>
            <p:nvPr/>
          </p:nvGrpSpPr>
          <p:grpSpPr>
            <a:xfrm>
              <a:off x="254000" y="254000"/>
              <a:ext cx="825500" cy="825500"/>
              <a:chOff x="0" y="0"/>
              <a:chExt cx="825500" cy="825500"/>
            </a:xfrm>
          </p:grpSpPr>
          <p:sp>
            <p:nvSpPr>
              <p:cNvPr id="45" name="Freeform 45"/>
              <p:cNvSpPr/>
              <p:nvPr/>
            </p:nvSpPr>
            <p:spPr>
              <a:xfrm>
                <a:off x="0" y="0"/>
                <a:ext cx="825500" cy="825500"/>
              </a:xfrm>
              <a:custGeom>
                <a:avLst/>
                <a:gdLst/>
                <a:ahLst/>
                <a:cxnLst/>
                <a:rect l="l" t="t" r="r" b="b"/>
                <a:pathLst>
                  <a:path w="825500" h="825500">
                    <a:moveTo>
                      <a:pt x="0" y="0"/>
                    </a:moveTo>
                    <a:lnTo>
                      <a:pt x="825500" y="0"/>
                    </a:lnTo>
                    <a:lnTo>
                      <a:pt x="825500" y="825500"/>
                    </a:lnTo>
                    <a:lnTo>
                      <a:pt x="0" y="825500"/>
                    </a:lnTo>
                    <a:close/>
                  </a:path>
                </a:pathLst>
              </a:custGeom>
              <a:solidFill>
                <a:srgbClr val="0878B9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es-CL" noProof="0" dirty="0"/>
              </a:p>
            </p:txBody>
          </p:sp>
          <p:sp>
            <p:nvSpPr>
              <p:cNvPr id="46" name="TextBox 46"/>
              <p:cNvSpPr txBox="1"/>
              <p:nvPr/>
            </p:nvSpPr>
            <p:spPr>
              <a:xfrm>
                <a:off x="0" y="-38100"/>
                <a:ext cx="825500" cy="8636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679"/>
                  </a:lnSpc>
                </a:pPr>
                <a:endParaRPr lang="es-CL" noProof="0" dirty="0"/>
              </a:p>
            </p:txBody>
          </p:sp>
        </p:grpSp>
        <p:sp>
          <p:nvSpPr>
            <p:cNvPr id="47" name="TextBox 47"/>
            <p:cNvSpPr txBox="1"/>
            <p:nvPr/>
          </p:nvSpPr>
          <p:spPr>
            <a:xfrm>
              <a:off x="254000" y="279400"/>
              <a:ext cx="825500" cy="46228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940"/>
                </a:lnSpc>
              </a:pPr>
              <a:r>
                <a:rPr lang="es-CL" sz="2100" b="1" noProof="0" dirty="0">
                  <a:solidFill>
                    <a:srgbClr val="FFFFFF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04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1333500" y="241300"/>
              <a:ext cx="2032000" cy="39624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520"/>
                </a:lnSpc>
              </a:pPr>
              <a:r>
                <a:rPr lang="es-CL" sz="1800" b="1" noProof="0" dirty="0">
                  <a:solidFill>
                    <a:srgbClr val="082B4C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Pruebas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1333500" y="812800"/>
              <a:ext cx="2032000" cy="6223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875"/>
                </a:lnSpc>
              </a:pPr>
              <a:r>
                <a:rPr lang="es-CL" sz="1500" noProof="0" dirty="0">
                  <a:solidFill>
                    <a:srgbClr val="64748B"/>
                  </a:solidFill>
                  <a:latin typeface="Source Sans 3"/>
                  <a:ea typeface="Source Sans 3"/>
                  <a:cs typeface="Source Sans 3"/>
                  <a:sym typeface="Source Sans 3"/>
                </a:rPr>
                <a:t>Funcionales e integración</a:t>
              </a:r>
            </a:p>
          </p:txBody>
        </p:sp>
      </p:grpSp>
      <p:grpSp>
        <p:nvGrpSpPr>
          <p:cNvPr id="51" name="Group 51"/>
          <p:cNvGrpSpPr/>
          <p:nvPr/>
        </p:nvGrpSpPr>
        <p:grpSpPr>
          <a:xfrm>
            <a:off x="11906250" y="6048375"/>
            <a:ext cx="2752725" cy="1809750"/>
            <a:chOff x="0" y="0"/>
            <a:chExt cx="3365500" cy="2413000"/>
          </a:xfrm>
        </p:grpSpPr>
        <p:grpSp>
          <p:nvGrpSpPr>
            <p:cNvPr id="52" name="Group 52"/>
            <p:cNvGrpSpPr/>
            <p:nvPr/>
          </p:nvGrpSpPr>
          <p:grpSpPr>
            <a:xfrm>
              <a:off x="0" y="0"/>
              <a:ext cx="3365500" cy="2413000"/>
              <a:chOff x="0" y="0"/>
              <a:chExt cx="3365500" cy="2413000"/>
            </a:xfrm>
          </p:grpSpPr>
          <p:sp>
            <p:nvSpPr>
              <p:cNvPr id="53" name="Freeform 53"/>
              <p:cNvSpPr/>
              <p:nvPr/>
            </p:nvSpPr>
            <p:spPr>
              <a:xfrm>
                <a:off x="0" y="0"/>
                <a:ext cx="3365500" cy="2413000"/>
              </a:xfrm>
              <a:custGeom>
                <a:avLst/>
                <a:gdLst/>
                <a:ahLst/>
                <a:cxnLst/>
                <a:rect l="l" t="t" r="r" b="b"/>
                <a:pathLst>
                  <a:path w="3365500" h="2413000">
                    <a:moveTo>
                      <a:pt x="0" y="0"/>
                    </a:moveTo>
                    <a:lnTo>
                      <a:pt x="3365500" y="0"/>
                    </a:lnTo>
                    <a:lnTo>
                      <a:pt x="3365500" y="2413000"/>
                    </a:lnTo>
                    <a:lnTo>
                      <a:pt x="0" y="2413000"/>
                    </a:lnTo>
                    <a:close/>
                  </a:path>
                </a:pathLst>
              </a:custGeom>
              <a:solidFill>
                <a:srgbClr val="FFFFFF"/>
              </a:solidFill>
              <a:ln w="9525" cap="sq">
                <a:solidFill>
                  <a:srgbClr val="D7E0E8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s-CL" noProof="0" dirty="0"/>
              </a:p>
            </p:txBody>
          </p:sp>
          <p:sp>
            <p:nvSpPr>
              <p:cNvPr id="54" name="TextBox 54"/>
              <p:cNvSpPr txBox="1"/>
              <p:nvPr/>
            </p:nvSpPr>
            <p:spPr>
              <a:xfrm>
                <a:off x="0" y="-38100"/>
                <a:ext cx="3365500" cy="24511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679"/>
                  </a:lnSpc>
                </a:pPr>
                <a:endParaRPr lang="es-CL" noProof="0" dirty="0"/>
              </a:p>
            </p:txBody>
          </p:sp>
        </p:grpSp>
        <p:grpSp>
          <p:nvGrpSpPr>
            <p:cNvPr id="55" name="Group 55"/>
            <p:cNvGrpSpPr/>
            <p:nvPr/>
          </p:nvGrpSpPr>
          <p:grpSpPr>
            <a:xfrm>
              <a:off x="254000" y="254000"/>
              <a:ext cx="825500" cy="825500"/>
              <a:chOff x="0" y="0"/>
              <a:chExt cx="825500" cy="825500"/>
            </a:xfrm>
          </p:grpSpPr>
          <p:sp>
            <p:nvSpPr>
              <p:cNvPr id="56" name="Freeform 56"/>
              <p:cNvSpPr/>
              <p:nvPr/>
            </p:nvSpPr>
            <p:spPr>
              <a:xfrm>
                <a:off x="0" y="0"/>
                <a:ext cx="825500" cy="825500"/>
              </a:xfrm>
              <a:custGeom>
                <a:avLst/>
                <a:gdLst/>
                <a:ahLst/>
                <a:cxnLst/>
                <a:rect l="l" t="t" r="r" b="b"/>
                <a:pathLst>
                  <a:path w="825500" h="825500">
                    <a:moveTo>
                      <a:pt x="0" y="0"/>
                    </a:moveTo>
                    <a:lnTo>
                      <a:pt x="825500" y="0"/>
                    </a:lnTo>
                    <a:lnTo>
                      <a:pt x="825500" y="825500"/>
                    </a:lnTo>
                    <a:lnTo>
                      <a:pt x="0" y="825500"/>
                    </a:lnTo>
                    <a:close/>
                  </a:path>
                </a:pathLst>
              </a:custGeom>
              <a:solidFill>
                <a:srgbClr val="0878B9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es-CL" noProof="0" dirty="0"/>
              </a:p>
            </p:txBody>
          </p:sp>
          <p:sp>
            <p:nvSpPr>
              <p:cNvPr id="57" name="TextBox 57"/>
              <p:cNvSpPr txBox="1"/>
              <p:nvPr/>
            </p:nvSpPr>
            <p:spPr>
              <a:xfrm>
                <a:off x="0" y="-38100"/>
                <a:ext cx="825500" cy="8636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679"/>
                  </a:lnSpc>
                </a:pPr>
                <a:endParaRPr lang="es-CL" noProof="0" dirty="0"/>
              </a:p>
            </p:txBody>
          </p:sp>
        </p:grpSp>
        <p:sp>
          <p:nvSpPr>
            <p:cNvPr id="58" name="TextBox 58"/>
            <p:cNvSpPr txBox="1"/>
            <p:nvPr/>
          </p:nvSpPr>
          <p:spPr>
            <a:xfrm>
              <a:off x="254000" y="279400"/>
              <a:ext cx="825500" cy="46228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940"/>
                </a:lnSpc>
              </a:pPr>
              <a:r>
                <a:rPr lang="es-CL" sz="2100" b="1" noProof="0" dirty="0">
                  <a:solidFill>
                    <a:srgbClr val="FFFFFF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05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1333500" y="260350"/>
              <a:ext cx="2032000" cy="29083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889"/>
                </a:lnSpc>
              </a:pPr>
              <a:r>
                <a:rPr lang="es-CL" sz="1350" b="1" noProof="0" dirty="0">
                  <a:solidFill>
                    <a:srgbClr val="082B4C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Implementación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1333500" y="812800"/>
              <a:ext cx="2032000" cy="6223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875"/>
                </a:lnSpc>
              </a:pPr>
              <a:r>
                <a:rPr lang="es-CL" sz="1500" noProof="0" dirty="0">
                  <a:solidFill>
                    <a:srgbClr val="64748B"/>
                  </a:solidFill>
                  <a:latin typeface="Source Sans 3"/>
                  <a:ea typeface="Source Sans 3"/>
                  <a:cs typeface="Source Sans 3"/>
                  <a:sym typeface="Source Sans 3"/>
                </a:rPr>
                <a:t>Documentación técnica</a:t>
              </a:r>
            </a:p>
          </p:txBody>
        </p:sp>
      </p:grpSp>
      <p:grpSp>
        <p:nvGrpSpPr>
          <p:cNvPr id="62" name="Group 62"/>
          <p:cNvGrpSpPr/>
          <p:nvPr/>
        </p:nvGrpSpPr>
        <p:grpSpPr>
          <a:xfrm>
            <a:off x="14849475" y="6905625"/>
            <a:ext cx="2524125" cy="1809750"/>
            <a:chOff x="0" y="0"/>
            <a:chExt cx="3365500" cy="2413000"/>
          </a:xfrm>
        </p:grpSpPr>
        <p:grpSp>
          <p:nvGrpSpPr>
            <p:cNvPr id="63" name="Group 63"/>
            <p:cNvGrpSpPr/>
            <p:nvPr/>
          </p:nvGrpSpPr>
          <p:grpSpPr>
            <a:xfrm>
              <a:off x="0" y="0"/>
              <a:ext cx="3365500" cy="2413000"/>
              <a:chOff x="0" y="0"/>
              <a:chExt cx="3365500" cy="2413000"/>
            </a:xfrm>
          </p:grpSpPr>
          <p:sp>
            <p:nvSpPr>
              <p:cNvPr id="64" name="Freeform 64"/>
              <p:cNvSpPr/>
              <p:nvPr/>
            </p:nvSpPr>
            <p:spPr>
              <a:xfrm>
                <a:off x="0" y="0"/>
                <a:ext cx="3365500" cy="2413000"/>
              </a:xfrm>
              <a:custGeom>
                <a:avLst/>
                <a:gdLst/>
                <a:ahLst/>
                <a:cxnLst/>
                <a:rect l="l" t="t" r="r" b="b"/>
                <a:pathLst>
                  <a:path w="3365500" h="2413000">
                    <a:moveTo>
                      <a:pt x="0" y="0"/>
                    </a:moveTo>
                    <a:lnTo>
                      <a:pt x="3365500" y="0"/>
                    </a:lnTo>
                    <a:lnTo>
                      <a:pt x="3365500" y="2413000"/>
                    </a:lnTo>
                    <a:lnTo>
                      <a:pt x="0" y="2413000"/>
                    </a:lnTo>
                    <a:close/>
                  </a:path>
                </a:pathLst>
              </a:custGeom>
              <a:solidFill>
                <a:srgbClr val="FFFFFF"/>
              </a:solidFill>
              <a:ln w="9525" cap="sq">
                <a:solidFill>
                  <a:srgbClr val="D7E0E8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s-CL" noProof="0" dirty="0"/>
              </a:p>
            </p:txBody>
          </p:sp>
          <p:sp>
            <p:nvSpPr>
              <p:cNvPr id="65" name="TextBox 65"/>
              <p:cNvSpPr txBox="1"/>
              <p:nvPr/>
            </p:nvSpPr>
            <p:spPr>
              <a:xfrm>
                <a:off x="0" y="-38100"/>
                <a:ext cx="3365500" cy="24511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679"/>
                  </a:lnSpc>
                </a:pPr>
                <a:endParaRPr lang="es-CL" noProof="0" dirty="0"/>
              </a:p>
            </p:txBody>
          </p:sp>
        </p:grpSp>
        <p:grpSp>
          <p:nvGrpSpPr>
            <p:cNvPr id="66" name="Group 66"/>
            <p:cNvGrpSpPr/>
            <p:nvPr/>
          </p:nvGrpSpPr>
          <p:grpSpPr>
            <a:xfrm>
              <a:off x="254000" y="254000"/>
              <a:ext cx="825500" cy="825500"/>
              <a:chOff x="0" y="0"/>
              <a:chExt cx="825500" cy="825500"/>
            </a:xfrm>
          </p:grpSpPr>
          <p:sp>
            <p:nvSpPr>
              <p:cNvPr id="67" name="Freeform 67"/>
              <p:cNvSpPr/>
              <p:nvPr/>
            </p:nvSpPr>
            <p:spPr>
              <a:xfrm>
                <a:off x="0" y="0"/>
                <a:ext cx="825500" cy="825500"/>
              </a:xfrm>
              <a:custGeom>
                <a:avLst/>
                <a:gdLst/>
                <a:ahLst/>
                <a:cxnLst/>
                <a:rect l="l" t="t" r="r" b="b"/>
                <a:pathLst>
                  <a:path w="825500" h="825500">
                    <a:moveTo>
                      <a:pt x="0" y="0"/>
                    </a:moveTo>
                    <a:lnTo>
                      <a:pt x="825500" y="0"/>
                    </a:lnTo>
                    <a:lnTo>
                      <a:pt x="825500" y="825500"/>
                    </a:lnTo>
                    <a:lnTo>
                      <a:pt x="0" y="825500"/>
                    </a:lnTo>
                    <a:close/>
                  </a:path>
                </a:pathLst>
              </a:custGeom>
              <a:solidFill>
                <a:srgbClr val="F58220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es-CL" noProof="0" dirty="0"/>
              </a:p>
            </p:txBody>
          </p:sp>
          <p:sp>
            <p:nvSpPr>
              <p:cNvPr id="68" name="TextBox 68"/>
              <p:cNvSpPr txBox="1"/>
              <p:nvPr/>
            </p:nvSpPr>
            <p:spPr>
              <a:xfrm>
                <a:off x="0" y="-38100"/>
                <a:ext cx="825500" cy="8636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679"/>
                  </a:lnSpc>
                </a:pPr>
                <a:endParaRPr lang="es-CL" noProof="0" dirty="0"/>
              </a:p>
            </p:txBody>
          </p:sp>
        </p:grpSp>
        <p:sp>
          <p:nvSpPr>
            <p:cNvPr id="69" name="TextBox 69"/>
            <p:cNvSpPr txBox="1"/>
            <p:nvPr/>
          </p:nvSpPr>
          <p:spPr>
            <a:xfrm>
              <a:off x="254000" y="279400"/>
              <a:ext cx="825500" cy="46228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940"/>
                </a:lnSpc>
              </a:pPr>
              <a:r>
                <a:rPr lang="es-CL" sz="2100" b="1" noProof="0" dirty="0">
                  <a:solidFill>
                    <a:srgbClr val="FFFFFF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06</a:t>
              </a:r>
            </a:p>
          </p:txBody>
        </p:sp>
        <p:sp>
          <p:nvSpPr>
            <p:cNvPr id="70" name="TextBox 70"/>
            <p:cNvSpPr txBox="1"/>
            <p:nvPr/>
          </p:nvSpPr>
          <p:spPr>
            <a:xfrm>
              <a:off x="1333500" y="241300"/>
              <a:ext cx="2032000" cy="39624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520"/>
                </a:lnSpc>
              </a:pPr>
              <a:r>
                <a:rPr lang="es-CL" sz="1800" b="1" noProof="0" dirty="0">
                  <a:solidFill>
                    <a:srgbClr val="082B4C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Cierre</a:t>
              </a:r>
            </a:p>
          </p:txBody>
        </p:sp>
        <p:sp>
          <p:nvSpPr>
            <p:cNvPr id="71" name="TextBox 71"/>
            <p:cNvSpPr txBox="1"/>
            <p:nvPr/>
          </p:nvSpPr>
          <p:spPr>
            <a:xfrm>
              <a:off x="1333500" y="812800"/>
              <a:ext cx="2032000" cy="6223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875"/>
                </a:lnSpc>
              </a:pPr>
              <a:r>
                <a:rPr lang="es-CL" sz="1500" noProof="0" dirty="0">
                  <a:solidFill>
                    <a:srgbClr val="64748B"/>
                  </a:solidFill>
                  <a:latin typeface="Source Sans 3"/>
                  <a:ea typeface="Source Sans 3"/>
                  <a:cs typeface="Source Sans 3"/>
                  <a:sym typeface="Source Sans 3"/>
                </a:rPr>
                <a:t>Correcciones y validación final</a:t>
              </a:r>
            </a:p>
          </p:txBody>
        </p:sp>
      </p:grpSp>
      <p:sp>
        <p:nvSpPr>
          <p:cNvPr id="75" name="TextBox 6">
            <a:extLst>
              <a:ext uri="{FF2B5EF4-FFF2-40B4-BE49-F238E27FC236}">
                <a16:creationId xmlns:a16="http://schemas.microsoft.com/office/drawing/2014/main" id="{0441246B-F707-B3E5-DC02-57904E87C3DC}"/>
              </a:ext>
            </a:extLst>
          </p:cNvPr>
          <p:cNvSpPr txBox="1"/>
          <p:nvPr/>
        </p:nvSpPr>
        <p:spPr>
          <a:xfrm>
            <a:off x="857250" y="1551623"/>
            <a:ext cx="14287500" cy="5514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4252"/>
              </a:lnSpc>
            </a:pPr>
            <a:r>
              <a:rPr lang="es-CL" sz="4050" b="1" dirty="0">
                <a:solidFill>
                  <a:srgbClr val="082B4C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Metodología en Cascada</a:t>
            </a:r>
          </a:p>
        </p:txBody>
      </p:sp>
      <p:grpSp>
        <p:nvGrpSpPr>
          <p:cNvPr id="76" name="Grupo 75">
            <a:extLst>
              <a:ext uri="{FF2B5EF4-FFF2-40B4-BE49-F238E27FC236}">
                <a16:creationId xmlns:a16="http://schemas.microsoft.com/office/drawing/2014/main" id="{58AF053D-FDA4-7D54-D89A-50FF8908D2ED}"/>
              </a:ext>
            </a:extLst>
          </p:cNvPr>
          <p:cNvGrpSpPr/>
          <p:nvPr/>
        </p:nvGrpSpPr>
        <p:grpSpPr>
          <a:xfrm>
            <a:off x="857250" y="266700"/>
            <a:ext cx="16725900" cy="914400"/>
            <a:chOff x="857250" y="266700"/>
            <a:chExt cx="16725900" cy="914400"/>
          </a:xfrm>
        </p:grpSpPr>
        <p:sp>
          <p:nvSpPr>
            <p:cNvPr id="77" name="TextBox 3">
              <a:extLst>
                <a:ext uri="{FF2B5EF4-FFF2-40B4-BE49-F238E27FC236}">
                  <a16:creationId xmlns:a16="http://schemas.microsoft.com/office/drawing/2014/main" id="{774955EF-5A49-0F65-7FF2-162A22C29A0B}"/>
                </a:ext>
              </a:extLst>
            </p:cNvPr>
            <p:cNvSpPr txBox="1"/>
            <p:nvPr/>
          </p:nvSpPr>
          <p:spPr>
            <a:xfrm>
              <a:off x="857250" y="647700"/>
              <a:ext cx="6858000" cy="23750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995"/>
                </a:lnSpc>
              </a:pPr>
              <a:r>
                <a:rPr lang="es-CL" sz="1425" b="1" spc="114" noProof="0" dirty="0">
                  <a:solidFill>
                    <a:srgbClr val="0878B9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Proyecto “TTDH </a:t>
              </a:r>
              <a:r>
                <a:rPr lang="es-CL" sz="1425" b="1" spc="114" noProof="0" dirty="0" err="1">
                  <a:solidFill>
                    <a:srgbClr val="0878B9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Automation</a:t>
              </a:r>
              <a:r>
                <a:rPr lang="es-CL" sz="1425" b="1" spc="114" noProof="0" dirty="0">
                  <a:solidFill>
                    <a:srgbClr val="0878B9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”</a:t>
              </a:r>
            </a:p>
          </p:txBody>
        </p:sp>
        <p:pic>
          <p:nvPicPr>
            <p:cNvPr id="78" name="Imagen 77">
              <a:extLst>
                <a:ext uri="{FF2B5EF4-FFF2-40B4-BE49-F238E27FC236}">
                  <a16:creationId xmlns:a16="http://schemas.microsoft.com/office/drawing/2014/main" id="{983DA5C0-2E00-0F5A-C912-5518FA3B77D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5163800" y="266700"/>
              <a:ext cx="2419350" cy="886543"/>
            </a:xfrm>
            <a:prstGeom prst="rect">
              <a:avLst/>
            </a:prstGeom>
          </p:spPr>
        </p:pic>
        <p:sp>
          <p:nvSpPr>
            <p:cNvPr id="79" name="AutoShape 5">
              <a:extLst>
                <a:ext uri="{FF2B5EF4-FFF2-40B4-BE49-F238E27FC236}">
                  <a16:creationId xmlns:a16="http://schemas.microsoft.com/office/drawing/2014/main" id="{8C8851D6-F00A-0E63-3749-B65B98D60917}"/>
                </a:ext>
              </a:extLst>
            </p:cNvPr>
            <p:cNvSpPr/>
            <p:nvPr/>
          </p:nvSpPr>
          <p:spPr>
            <a:xfrm>
              <a:off x="857250" y="1181100"/>
              <a:ext cx="16573500" cy="0"/>
            </a:xfrm>
            <a:prstGeom prst="line">
              <a:avLst/>
            </a:prstGeom>
            <a:ln w="25400" cap="flat">
              <a:solidFill>
                <a:srgbClr val="D7E0E8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es-CL" noProof="0" dirty="0"/>
            </a:p>
          </p:txBody>
        </p:sp>
      </p:grpSp>
      <p:sp>
        <p:nvSpPr>
          <p:cNvPr id="74" name="Flecha: doblada hacia arriba 73">
            <a:extLst>
              <a:ext uri="{FF2B5EF4-FFF2-40B4-BE49-F238E27FC236}">
                <a16:creationId xmlns:a16="http://schemas.microsoft.com/office/drawing/2014/main" id="{7B170458-BD8B-3CEB-1470-C1AF820E8C8D}"/>
              </a:ext>
            </a:extLst>
          </p:cNvPr>
          <p:cNvSpPr/>
          <p:nvPr/>
        </p:nvSpPr>
        <p:spPr>
          <a:xfrm flipV="1">
            <a:off x="3648075" y="2990425"/>
            <a:ext cx="1609725" cy="476675"/>
          </a:xfrm>
          <a:prstGeom prst="bentUpArrow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81" name="Flecha: doblada hacia arriba 80">
            <a:extLst>
              <a:ext uri="{FF2B5EF4-FFF2-40B4-BE49-F238E27FC236}">
                <a16:creationId xmlns:a16="http://schemas.microsoft.com/office/drawing/2014/main" id="{03C85D4D-991D-3589-5969-032CE8F69214}"/>
              </a:ext>
            </a:extLst>
          </p:cNvPr>
          <p:cNvSpPr/>
          <p:nvPr/>
        </p:nvSpPr>
        <p:spPr>
          <a:xfrm flipV="1">
            <a:off x="6338887" y="3823090"/>
            <a:ext cx="1609725" cy="476675"/>
          </a:xfrm>
          <a:prstGeom prst="bentUpArrow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83" name="Flecha: doblada hacia arriba 82">
            <a:extLst>
              <a:ext uri="{FF2B5EF4-FFF2-40B4-BE49-F238E27FC236}">
                <a16:creationId xmlns:a16="http://schemas.microsoft.com/office/drawing/2014/main" id="{CB8C19D6-37CD-2B39-C935-C8EABE421A5E}"/>
              </a:ext>
            </a:extLst>
          </p:cNvPr>
          <p:cNvSpPr/>
          <p:nvPr/>
        </p:nvSpPr>
        <p:spPr>
          <a:xfrm flipV="1">
            <a:off x="9058275" y="4686300"/>
            <a:ext cx="1609725" cy="476675"/>
          </a:xfrm>
          <a:prstGeom prst="bentUpArrow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85" name="Flecha: doblada hacia arriba 84">
            <a:extLst>
              <a:ext uri="{FF2B5EF4-FFF2-40B4-BE49-F238E27FC236}">
                <a16:creationId xmlns:a16="http://schemas.microsoft.com/office/drawing/2014/main" id="{4FC8A0C4-E965-18CB-94EB-22272A742970}"/>
              </a:ext>
            </a:extLst>
          </p:cNvPr>
          <p:cNvSpPr/>
          <p:nvPr/>
        </p:nvSpPr>
        <p:spPr>
          <a:xfrm flipV="1">
            <a:off x="11768137" y="5549265"/>
            <a:ext cx="1609725" cy="476675"/>
          </a:xfrm>
          <a:prstGeom prst="bentUpArrow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87" name="Flecha: doblada hacia arriba 86">
            <a:extLst>
              <a:ext uri="{FF2B5EF4-FFF2-40B4-BE49-F238E27FC236}">
                <a16:creationId xmlns:a16="http://schemas.microsoft.com/office/drawing/2014/main" id="{7ADC347E-E167-C312-6BA3-41A8FFF0C676}"/>
              </a:ext>
            </a:extLst>
          </p:cNvPr>
          <p:cNvSpPr/>
          <p:nvPr/>
        </p:nvSpPr>
        <p:spPr>
          <a:xfrm flipV="1">
            <a:off x="14697075" y="6419425"/>
            <a:ext cx="1609725" cy="476675"/>
          </a:xfrm>
          <a:prstGeom prst="bentUpArrow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TextBox 6">
            <a:extLst>
              <a:ext uri="{FF2B5EF4-FFF2-40B4-BE49-F238E27FC236}">
                <a16:creationId xmlns:a16="http://schemas.microsoft.com/office/drawing/2014/main" id="{0C13F269-5BBB-073A-8613-CE004D6E1585}"/>
              </a:ext>
            </a:extLst>
          </p:cNvPr>
          <p:cNvSpPr txBox="1"/>
          <p:nvPr/>
        </p:nvSpPr>
        <p:spPr>
          <a:xfrm>
            <a:off x="857250" y="1551623"/>
            <a:ext cx="14287500" cy="5514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4252"/>
              </a:lnSpc>
            </a:pPr>
            <a:r>
              <a:rPr lang="es-CL" sz="4050" b="1" dirty="0">
                <a:solidFill>
                  <a:srgbClr val="082B4C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Cronograma del Proyecto · 18 semanas</a:t>
            </a:r>
          </a:p>
        </p:txBody>
      </p:sp>
      <p:grpSp>
        <p:nvGrpSpPr>
          <p:cNvPr id="79" name="Grupo 78">
            <a:extLst>
              <a:ext uri="{FF2B5EF4-FFF2-40B4-BE49-F238E27FC236}">
                <a16:creationId xmlns:a16="http://schemas.microsoft.com/office/drawing/2014/main" id="{C46105D2-BC1D-73F1-7AF1-C890FADDD915}"/>
              </a:ext>
            </a:extLst>
          </p:cNvPr>
          <p:cNvGrpSpPr/>
          <p:nvPr/>
        </p:nvGrpSpPr>
        <p:grpSpPr>
          <a:xfrm>
            <a:off x="857250" y="266700"/>
            <a:ext cx="16725900" cy="914400"/>
            <a:chOff x="857250" y="266700"/>
            <a:chExt cx="16725900" cy="914400"/>
          </a:xfrm>
        </p:grpSpPr>
        <p:sp>
          <p:nvSpPr>
            <p:cNvPr id="80" name="TextBox 3">
              <a:extLst>
                <a:ext uri="{FF2B5EF4-FFF2-40B4-BE49-F238E27FC236}">
                  <a16:creationId xmlns:a16="http://schemas.microsoft.com/office/drawing/2014/main" id="{08F9E046-121C-21B4-E45F-732E22A52FA8}"/>
                </a:ext>
              </a:extLst>
            </p:cNvPr>
            <p:cNvSpPr txBox="1"/>
            <p:nvPr/>
          </p:nvSpPr>
          <p:spPr>
            <a:xfrm>
              <a:off x="857250" y="647700"/>
              <a:ext cx="6858000" cy="23750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995"/>
                </a:lnSpc>
              </a:pPr>
              <a:r>
                <a:rPr lang="es-CL" sz="1425" b="1" spc="114" noProof="0" dirty="0">
                  <a:solidFill>
                    <a:srgbClr val="0878B9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Proyecto “TTDH </a:t>
              </a:r>
              <a:r>
                <a:rPr lang="es-CL" sz="1425" b="1" spc="114" noProof="0" dirty="0" err="1">
                  <a:solidFill>
                    <a:srgbClr val="0878B9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Automation</a:t>
              </a:r>
              <a:r>
                <a:rPr lang="es-CL" sz="1425" b="1" spc="114" noProof="0" dirty="0">
                  <a:solidFill>
                    <a:srgbClr val="0878B9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”</a:t>
              </a:r>
            </a:p>
          </p:txBody>
        </p:sp>
        <p:pic>
          <p:nvPicPr>
            <p:cNvPr id="81" name="Imagen 80">
              <a:extLst>
                <a:ext uri="{FF2B5EF4-FFF2-40B4-BE49-F238E27FC236}">
                  <a16:creationId xmlns:a16="http://schemas.microsoft.com/office/drawing/2014/main" id="{99066CE5-05E7-9D57-F37A-B8CF741EB41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5163800" y="266700"/>
              <a:ext cx="2419350" cy="886543"/>
            </a:xfrm>
            <a:prstGeom prst="rect">
              <a:avLst/>
            </a:prstGeom>
          </p:spPr>
        </p:pic>
        <p:sp>
          <p:nvSpPr>
            <p:cNvPr id="82" name="AutoShape 5">
              <a:extLst>
                <a:ext uri="{FF2B5EF4-FFF2-40B4-BE49-F238E27FC236}">
                  <a16:creationId xmlns:a16="http://schemas.microsoft.com/office/drawing/2014/main" id="{89D95406-BBC8-6F58-A6BC-BC7A3E3CC45E}"/>
                </a:ext>
              </a:extLst>
            </p:cNvPr>
            <p:cNvSpPr/>
            <p:nvPr/>
          </p:nvSpPr>
          <p:spPr>
            <a:xfrm>
              <a:off x="857250" y="1181100"/>
              <a:ext cx="16573500" cy="0"/>
            </a:xfrm>
            <a:prstGeom prst="line">
              <a:avLst/>
            </a:prstGeom>
            <a:ln w="25400" cap="flat">
              <a:solidFill>
                <a:srgbClr val="D7E0E8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es-CL" noProof="0" dirty="0"/>
            </a:p>
          </p:txBody>
        </p:sp>
      </p:grpSp>
      <p:grpSp>
        <p:nvGrpSpPr>
          <p:cNvPr id="89" name="Grupo 88">
            <a:extLst>
              <a:ext uri="{FF2B5EF4-FFF2-40B4-BE49-F238E27FC236}">
                <a16:creationId xmlns:a16="http://schemas.microsoft.com/office/drawing/2014/main" id="{8729E60B-DA24-E49C-2F19-D8A64FE37E26}"/>
              </a:ext>
            </a:extLst>
          </p:cNvPr>
          <p:cNvGrpSpPr/>
          <p:nvPr/>
        </p:nvGrpSpPr>
        <p:grpSpPr>
          <a:xfrm>
            <a:off x="1371600" y="2676525"/>
            <a:ext cx="15621000" cy="6657975"/>
            <a:chOff x="1371600" y="2771775"/>
            <a:chExt cx="15621000" cy="6657975"/>
          </a:xfrm>
        </p:grpSpPr>
        <p:grpSp>
          <p:nvGrpSpPr>
            <p:cNvPr id="84" name="Grupo 83">
              <a:extLst>
                <a:ext uri="{FF2B5EF4-FFF2-40B4-BE49-F238E27FC236}">
                  <a16:creationId xmlns:a16="http://schemas.microsoft.com/office/drawing/2014/main" id="{01E02C42-9D21-E64B-08EA-4ED3D22A0322}"/>
                </a:ext>
              </a:extLst>
            </p:cNvPr>
            <p:cNvGrpSpPr/>
            <p:nvPr/>
          </p:nvGrpSpPr>
          <p:grpSpPr>
            <a:xfrm>
              <a:off x="1371600" y="2771775"/>
              <a:ext cx="15621000" cy="6657975"/>
              <a:chOff x="1371600" y="2771775"/>
              <a:chExt cx="15621000" cy="6657975"/>
            </a:xfrm>
          </p:grpSpPr>
          <p:sp>
            <p:nvSpPr>
              <p:cNvPr id="20" name="AutoShape 20"/>
              <p:cNvSpPr/>
              <p:nvPr/>
            </p:nvSpPr>
            <p:spPr>
              <a:xfrm>
                <a:off x="8420100" y="3238500"/>
                <a:ext cx="0" cy="6191250"/>
              </a:xfrm>
              <a:prstGeom prst="line">
                <a:avLst/>
              </a:prstGeom>
              <a:ln w="9525" cap="flat">
                <a:solidFill>
                  <a:srgbClr val="D7E0E8"/>
                </a:solidFill>
                <a:prstDash val="solid"/>
                <a:headEnd type="none" w="sm" len="sm"/>
                <a:tailEnd type="none" w="sm" len="sm"/>
              </a:ln>
            </p:spPr>
            <p:txBody>
              <a:bodyPr/>
              <a:lstStyle/>
              <a:p>
                <a:endParaRPr lang="es-CL" noProof="0" dirty="0"/>
              </a:p>
            </p:txBody>
          </p:sp>
          <p:grpSp>
            <p:nvGrpSpPr>
              <p:cNvPr id="83" name="Grupo 82">
                <a:extLst>
                  <a:ext uri="{FF2B5EF4-FFF2-40B4-BE49-F238E27FC236}">
                    <a16:creationId xmlns:a16="http://schemas.microsoft.com/office/drawing/2014/main" id="{31DB4030-E609-8963-31AF-6B39B55E856D}"/>
                  </a:ext>
                </a:extLst>
              </p:cNvPr>
              <p:cNvGrpSpPr/>
              <p:nvPr/>
            </p:nvGrpSpPr>
            <p:grpSpPr>
              <a:xfrm>
                <a:off x="1371600" y="2771775"/>
                <a:ext cx="15621000" cy="6638925"/>
                <a:chOff x="952500" y="2171700"/>
                <a:chExt cx="15621000" cy="6638925"/>
              </a:xfrm>
            </p:grpSpPr>
            <p:sp>
              <p:nvSpPr>
                <p:cNvPr id="7" name="TextBox 7"/>
                <p:cNvSpPr txBox="1"/>
                <p:nvPr/>
              </p:nvSpPr>
              <p:spPr>
                <a:xfrm>
                  <a:off x="3714750" y="2171700"/>
                  <a:ext cx="714375" cy="222885"/>
                </a:xfrm>
                <a:prstGeom prst="rect">
                  <a:avLst/>
                </a:prstGeom>
              </p:spPr>
              <p:txBody>
                <a:bodyPr lIns="0" tIns="0" rIns="0" bIns="0" rtlCol="0" anchor="t">
                  <a:spAutoFit/>
                </a:bodyPr>
                <a:lstStyle/>
                <a:p>
                  <a:pPr algn="ctr">
                    <a:lnSpc>
                      <a:spcPts val="1889"/>
                    </a:lnSpc>
                  </a:pPr>
                  <a:r>
                    <a:rPr lang="es-CL" sz="1350" b="1" noProof="0" dirty="0">
                      <a:solidFill>
                        <a:srgbClr val="64748B"/>
                      </a:solidFill>
                      <a:latin typeface="Montserrat Bold"/>
                      <a:ea typeface="Montserrat Bold"/>
                      <a:cs typeface="Montserrat Bold"/>
                      <a:sym typeface="Montserrat Bold"/>
                    </a:rPr>
                    <a:t>S1</a:t>
                  </a:r>
                </a:p>
              </p:txBody>
            </p:sp>
            <p:sp>
              <p:nvSpPr>
                <p:cNvPr id="8" name="AutoShape 8"/>
                <p:cNvSpPr/>
                <p:nvPr/>
              </p:nvSpPr>
              <p:spPr>
                <a:xfrm>
                  <a:off x="3714750" y="2619375"/>
                  <a:ext cx="0" cy="6191250"/>
                </a:xfrm>
                <a:prstGeom prst="line">
                  <a:avLst/>
                </a:prstGeom>
                <a:ln w="9525" cap="flat">
                  <a:solidFill>
                    <a:srgbClr val="D7E0E8"/>
                  </a:solidFill>
                  <a:prstDash val="solid"/>
                  <a:headEnd type="none" w="sm" len="sm"/>
                  <a:tailEnd type="none" w="sm" len="sm"/>
                </a:ln>
              </p:spPr>
              <p:txBody>
                <a:bodyPr/>
                <a:lstStyle/>
                <a:p>
                  <a:endParaRPr lang="es-CL" noProof="0" dirty="0"/>
                </a:p>
              </p:txBody>
            </p:sp>
            <p:sp>
              <p:nvSpPr>
                <p:cNvPr id="9" name="TextBox 9"/>
                <p:cNvSpPr txBox="1"/>
                <p:nvPr/>
              </p:nvSpPr>
              <p:spPr>
                <a:xfrm>
                  <a:off x="4429125" y="2171700"/>
                  <a:ext cx="714375" cy="222885"/>
                </a:xfrm>
                <a:prstGeom prst="rect">
                  <a:avLst/>
                </a:prstGeom>
              </p:spPr>
              <p:txBody>
                <a:bodyPr lIns="0" tIns="0" rIns="0" bIns="0" rtlCol="0" anchor="t">
                  <a:spAutoFit/>
                </a:bodyPr>
                <a:lstStyle/>
                <a:p>
                  <a:pPr algn="ctr">
                    <a:lnSpc>
                      <a:spcPts val="1889"/>
                    </a:lnSpc>
                  </a:pPr>
                  <a:r>
                    <a:rPr lang="es-CL" sz="1350" b="1" noProof="0" dirty="0">
                      <a:solidFill>
                        <a:srgbClr val="64748B"/>
                      </a:solidFill>
                      <a:latin typeface="Montserrat Bold"/>
                      <a:ea typeface="Montserrat Bold"/>
                      <a:cs typeface="Montserrat Bold"/>
                      <a:sym typeface="Montserrat Bold"/>
                    </a:rPr>
                    <a:t>S2</a:t>
                  </a:r>
                </a:p>
              </p:txBody>
            </p:sp>
            <p:sp>
              <p:nvSpPr>
                <p:cNvPr id="10" name="AutoShape 10"/>
                <p:cNvSpPr/>
                <p:nvPr/>
              </p:nvSpPr>
              <p:spPr>
                <a:xfrm>
                  <a:off x="4429125" y="2619375"/>
                  <a:ext cx="0" cy="6191250"/>
                </a:xfrm>
                <a:prstGeom prst="line">
                  <a:avLst/>
                </a:prstGeom>
                <a:ln w="9525" cap="flat">
                  <a:solidFill>
                    <a:srgbClr val="D7E0E8"/>
                  </a:solidFill>
                  <a:prstDash val="solid"/>
                  <a:headEnd type="none" w="sm" len="sm"/>
                  <a:tailEnd type="none" w="sm" len="sm"/>
                </a:ln>
              </p:spPr>
              <p:txBody>
                <a:bodyPr/>
                <a:lstStyle/>
                <a:p>
                  <a:endParaRPr lang="es-CL" noProof="0" dirty="0"/>
                </a:p>
              </p:txBody>
            </p:sp>
            <p:sp>
              <p:nvSpPr>
                <p:cNvPr id="11" name="TextBox 11"/>
                <p:cNvSpPr txBox="1"/>
                <p:nvPr/>
              </p:nvSpPr>
              <p:spPr>
                <a:xfrm>
                  <a:off x="5143500" y="2171700"/>
                  <a:ext cx="714375" cy="222885"/>
                </a:xfrm>
                <a:prstGeom prst="rect">
                  <a:avLst/>
                </a:prstGeom>
              </p:spPr>
              <p:txBody>
                <a:bodyPr lIns="0" tIns="0" rIns="0" bIns="0" rtlCol="0" anchor="t">
                  <a:spAutoFit/>
                </a:bodyPr>
                <a:lstStyle/>
                <a:p>
                  <a:pPr algn="ctr">
                    <a:lnSpc>
                      <a:spcPts val="1889"/>
                    </a:lnSpc>
                  </a:pPr>
                  <a:r>
                    <a:rPr lang="es-CL" sz="1350" b="1" noProof="0" dirty="0">
                      <a:solidFill>
                        <a:srgbClr val="64748B"/>
                      </a:solidFill>
                      <a:latin typeface="Montserrat Bold"/>
                      <a:ea typeface="Montserrat Bold"/>
                      <a:cs typeface="Montserrat Bold"/>
                      <a:sym typeface="Montserrat Bold"/>
                    </a:rPr>
                    <a:t>S3</a:t>
                  </a:r>
                </a:p>
              </p:txBody>
            </p:sp>
            <p:sp>
              <p:nvSpPr>
                <p:cNvPr id="12" name="AutoShape 12"/>
                <p:cNvSpPr/>
                <p:nvPr/>
              </p:nvSpPr>
              <p:spPr>
                <a:xfrm>
                  <a:off x="5143500" y="2619375"/>
                  <a:ext cx="0" cy="6191250"/>
                </a:xfrm>
                <a:prstGeom prst="line">
                  <a:avLst/>
                </a:prstGeom>
                <a:ln w="9525" cap="flat">
                  <a:solidFill>
                    <a:srgbClr val="D7E0E8"/>
                  </a:solidFill>
                  <a:prstDash val="solid"/>
                  <a:headEnd type="none" w="sm" len="sm"/>
                  <a:tailEnd type="none" w="sm" len="sm"/>
                </a:ln>
              </p:spPr>
              <p:txBody>
                <a:bodyPr/>
                <a:lstStyle/>
                <a:p>
                  <a:endParaRPr lang="es-CL" noProof="0" dirty="0"/>
                </a:p>
              </p:txBody>
            </p:sp>
            <p:sp>
              <p:nvSpPr>
                <p:cNvPr id="13" name="TextBox 13"/>
                <p:cNvSpPr txBox="1"/>
                <p:nvPr/>
              </p:nvSpPr>
              <p:spPr>
                <a:xfrm>
                  <a:off x="5857875" y="2171700"/>
                  <a:ext cx="714375" cy="222885"/>
                </a:xfrm>
                <a:prstGeom prst="rect">
                  <a:avLst/>
                </a:prstGeom>
              </p:spPr>
              <p:txBody>
                <a:bodyPr lIns="0" tIns="0" rIns="0" bIns="0" rtlCol="0" anchor="t">
                  <a:spAutoFit/>
                </a:bodyPr>
                <a:lstStyle/>
                <a:p>
                  <a:pPr algn="ctr">
                    <a:lnSpc>
                      <a:spcPts val="1889"/>
                    </a:lnSpc>
                  </a:pPr>
                  <a:r>
                    <a:rPr lang="es-CL" sz="1350" b="1" noProof="0" dirty="0">
                      <a:solidFill>
                        <a:srgbClr val="64748B"/>
                      </a:solidFill>
                      <a:latin typeface="Montserrat Bold"/>
                      <a:ea typeface="Montserrat Bold"/>
                      <a:cs typeface="Montserrat Bold"/>
                      <a:sym typeface="Montserrat Bold"/>
                    </a:rPr>
                    <a:t>S4</a:t>
                  </a:r>
                </a:p>
              </p:txBody>
            </p:sp>
            <p:sp>
              <p:nvSpPr>
                <p:cNvPr id="14" name="AutoShape 14"/>
                <p:cNvSpPr/>
                <p:nvPr/>
              </p:nvSpPr>
              <p:spPr>
                <a:xfrm>
                  <a:off x="5857875" y="2619375"/>
                  <a:ext cx="0" cy="6191250"/>
                </a:xfrm>
                <a:prstGeom prst="line">
                  <a:avLst/>
                </a:prstGeom>
                <a:ln w="9525" cap="flat">
                  <a:solidFill>
                    <a:srgbClr val="D7E0E8"/>
                  </a:solidFill>
                  <a:prstDash val="solid"/>
                  <a:headEnd type="none" w="sm" len="sm"/>
                  <a:tailEnd type="none" w="sm" len="sm"/>
                </a:ln>
              </p:spPr>
              <p:txBody>
                <a:bodyPr/>
                <a:lstStyle/>
                <a:p>
                  <a:endParaRPr lang="es-CL" noProof="0" dirty="0"/>
                </a:p>
              </p:txBody>
            </p:sp>
            <p:sp>
              <p:nvSpPr>
                <p:cNvPr id="15" name="TextBox 15"/>
                <p:cNvSpPr txBox="1"/>
                <p:nvPr/>
              </p:nvSpPr>
              <p:spPr>
                <a:xfrm>
                  <a:off x="6572250" y="2171700"/>
                  <a:ext cx="714375" cy="222885"/>
                </a:xfrm>
                <a:prstGeom prst="rect">
                  <a:avLst/>
                </a:prstGeom>
              </p:spPr>
              <p:txBody>
                <a:bodyPr lIns="0" tIns="0" rIns="0" bIns="0" rtlCol="0" anchor="t">
                  <a:spAutoFit/>
                </a:bodyPr>
                <a:lstStyle/>
                <a:p>
                  <a:pPr algn="ctr">
                    <a:lnSpc>
                      <a:spcPts val="1889"/>
                    </a:lnSpc>
                  </a:pPr>
                  <a:r>
                    <a:rPr lang="es-CL" sz="1350" b="1" noProof="0" dirty="0">
                      <a:solidFill>
                        <a:srgbClr val="64748B"/>
                      </a:solidFill>
                      <a:latin typeface="Montserrat Bold"/>
                      <a:ea typeface="Montserrat Bold"/>
                      <a:cs typeface="Montserrat Bold"/>
                      <a:sym typeface="Montserrat Bold"/>
                    </a:rPr>
                    <a:t>S5</a:t>
                  </a:r>
                </a:p>
              </p:txBody>
            </p:sp>
            <p:sp>
              <p:nvSpPr>
                <p:cNvPr id="16" name="AutoShape 16"/>
                <p:cNvSpPr/>
                <p:nvPr/>
              </p:nvSpPr>
              <p:spPr>
                <a:xfrm>
                  <a:off x="6572250" y="2619375"/>
                  <a:ext cx="0" cy="6191250"/>
                </a:xfrm>
                <a:prstGeom prst="line">
                  <a:avLst/>
                </a:prstGeom>
                <a:ln w="9525" cap="flat">
                  <a:solidFill>
                    <a:srgbClr val="D7E0E8"/>
                  </a:solidFill>
                  <a:prstDash val="solid"/>
                  <a:headEnd type="none" w="sm" len="sm"/>
                  <a:tailEnd type="none" w="sm" len="sm"/>
                </a:ln>
              </p:spPr>
              <p:txBody>
                <a:bodyPr/>
                <a:lstStyle/>
                <a:p>
                  <a:endParaRPr lang="es-CL" noProof="0" dirty="0"/>
                </a:p>
              </p:txBody>
            </p:sp>
            <p:sp>
              <p:nvSpPr>
                <p:cNvPr id="17" name="TextBox 17"/>
                <p:cNvSpPr txBox="1"/>
                <p:nvPr/>
              </p:nvSpPr>
              <p:spPr>
                <a:xfrm>
                  <a:off x="7286625" y="2171700"/>
                  <a:ext cx="714375" cy="222885"/>
                </a:xfrm>
                <a:prstGeom prst="rect">
                  <a:avLst/>
                </a:prstGeom>
              </p:spPr>
              <p:txBody>
                <a:bodyPr lIns="0" tIns="0" rIns="0" bIns="0" rtlCol="0" anchor="t">
                  <a:spAutoFit/>
                </a:bodyPr>
                <a:lstStyle/>
                <a:p>
                  <a:pPr algn="ctr">
                    <a:lnSpc>
                      <a:spcPts val="1889"/>
                    </a:lnSpc>
                  </a:pPr>
                  <a:r>
                    <a:rPr lang="es-CL" sz="1350" b="1" noProof="0" dirty="0">
                      <a:solidFill>
                        <a:srgbClr val="64748B"/>
                      </a:solidFill>
                      <a:latin typeface="Montserrat Bold"/>
                      <a:ea typeface="Montserrat Bold"/>
                      <a:cs typeface="Montserrat Bold"/>
                      <a:sym typeface="Montserrat Bold"/>
                    </a:rPr>
                    <a:t>S6</a:t>
                  </a:r>
                </a:p>
              </p:txBody>
            </p:sp>
            <p:sp>
              <p:nvSpPr>
                <p:cNvPr id="18" name="AutoShape 18"/>
                <p:cNvSpPr/>
                <p:nvPr/>
              </p:nvSpPr>
              <p:spPr>
                <a:xfrm>
                  <a:off x="7286625" y="2619375"/>
                  <a:ext cx="0" cy="6191250"/>
                </a:xfrm>
                <a:prstGeom prst="line">
                  <a:avLst/>
                </a:prstGeom>
                <a:ln w="9525" cap="flat">
                  <a:solidFill>
                    <a:srgbClr val="D7E0E8"/>
                  </a:solidFill>
                  <a:prstDash val="solid"/>
                  <a:headEnd type="none" w="sm" len="sm"/>
                  <a:tailEnd type="none" w="sm" len="sm"/>
                </a:ln>
              </p:spPr>
              <p:txBody>
                <a:bodyPr/>
                <a:lstStyle/>
                <a:p>
                  <a:endParaRPr lang="es-CL" noProof="0" dirty="0"/>
                </a:p>
              </p:txBody>
            </p:sp>
            <p:sp>
              <p:nvSpPr>
                <p:cNvPr id="19" name="TextBox 19"/>
                <p:cNvSpPr txBox="1"/>
                <p:nvPr/>
              </p:nvSpPr>
              <p:spPr>
                <a:xfrm>
                  <a:off x="8001000" y="2171700"/>
                  <a:ext cx="714375" cy="222885"/>
                </a:xfrm>
                <a:prstGeom prst="rect">
                  <a:avLst/>
                </a:prstGeom>
              </p:spPr>
              <p:txBody>
                <a:bodyPr lIns="0" tIns="0" rIns="0" bIns="0" rtlCol="0" anchor="t">
                  <a:spAutoFit/>
                </a:bodyPr>
                <a:lstStyle/>
                <a:p>
                  <a:pPr algn="ctr">
                    <a:lnSpc>
                      <a:spcPts val="1889"/>
                    </a:lnSpc>
                  </a:pPr>
                  <a:r>
                    <a:rPr lang="es-CL" sz="1350" b="1" noProof="0" dirty="0">
                      <a:solidFill>
                        <a:srgbClr val="64748B"/>
                      </a:solidFill>
                      <a:latin typeface="Montserrat Bold"/>
                      <a:ea typeface="Montserrat Bold"/>
                      <a:cs typeface="Montserrat Bold"/>
                      <a:sym typeface="Montserrat Bold"/>
                    </a:rPr>
                    <a:t>S7</a:t>
                  </a:r>
                </a:p>
              </p:txBody>
            </p:sp>
            <p:sp>
              <p:nvSpPr>
                <p:cNvPr id="21" name="TextBox 21"/>
                <p:cNvSpPr txBox="1"/>
                <p:nvPr/>
              </p:nvSpPr>
              <p:spPr>
                <a:xfrm>
                  <a:off x="8715375" y="2171700"/>
                  <a:ext cx="714375" cy="222885"/>
                </a:xfrm>
                <a:prstGeom prst="rect">
                  <a:avLst/>
                </a:prstGeom>
              </p:spPr>
              <p:txBody>
                <a:bodyPr lIns="0" tIns="0" rIns="0" bIns="0" rtlCol="0" anchor="t">
                  <a:spAutoFit/>
                </a:bodyPr>
                <a:lstStyle/>
                <a:p>
                  <a:pPr algn="ctr">
                    <a:lnSpc>
                      <a:spcPts val="1889"/>
                    </a:lnSpc>
                  </a:pPr>
                  <a:r>
                    <a:rPr lang="es-CL" sz="1350" b="1" noProof="0" dirty="0">
                      <a:solidFill>
                        <a:srgbClr val="64748B"/>
                      </a:solidFill>
                      <a:latin typeface="Montserrat Bold"/>
                      <a:ea typeface="Montserrat Bold"/>
                      <a:cs typeface="Montserrat Bold"/>
                      <a:sym typeface="Montserrat Bold"/>
                    </a:rPr>
                    <a:t>S8</a:t>
                  </a:r>
                </a:p>
              </p:txBody>
            </p:sp>
            <p:sp>
              <p:nvSpPr>
                <p:cNvPr id="22" name="AutoShape 22"/>
                <p:cNvSpPr/>
                <p:nvPr/>
              </p:nvSpPr>
              <p:spPr>
                <a:xfrm>
                  <a:off x="8715375" y="2619375"/>
                  <a:ext cx="0" cy="6191250"/>
                </a:xfrm>
                <a:prstGeom prst="line">
                  <a:avLst/>
                </a:prstGeom>
                <a:ln w="9525" cap="flat">
                  <a:solidFill>
                    <a:srgbClr val="D7E0E8"/>
                  </a:solidFill>
                  <a:prstDash val="solid"/>
                  <a:headEnd type="none" w="sm" len="sm"/>
                  <a:tailEnd type="none" w="sm" len="sm"/>
                </a:ln>
              </p:spPr>
              <p:txBody>
                <a:bodyPr/>
                <a:lstStyle/>
                <a:p>
                  <a:endParaRPr lang="es-CL" noProof="0" dirty="0"/>
                </a:p>
              </p:txBody>
            </p:sp>
            <p:sp>
              <p:nvSpPr>
                <p:cNvPr id="23" name="TextBox 23"/>
                <p:cNvSpPr txBox="1"/>
                <p:nvPr/>
              </p:nvSpPr>
              <p:spPr>
                <a:xfrm>
                  <a:off x="9429750" y="2171700"/>
                  <a:ext cx="714375" cy="222885"/>
                </a:xfrm>
                <a:prstGeom prst="rect">
                  <a:avLst/>
                </a:prstGeom>
              </p:spPr>
              <p:txBody>
                <a:bodyPr lIns="0" tIns="0" rIns="0" bIns="0" rtlCol="0" anchor="t">
                  <a:spAutoFit/>
                </a:bodyPr>
                <a:lstStyle/>
                <a:p>
                  <a:pPr algn="ctr">
                    <a:lnSpc>
                      <a:spcPts val="1889"/>
                    </a:lnSpc>
                  </a:pPr>
                  <a:r>
                    <a:rPr lang="es-CL" sz="1350" b="1" noProof="0" dirty="0">
                      <a:solidFill>
                        <a:srgbClr val="64748B"/>
                      </a:solidFill>
                      <a:latin typeface="Montserrat Bold"/>
                      <a:ea typeface="Montserrat Bold"/>
                      <a:cs typeface="Montserrat Bold"/>
                      <a:sym typeface="Montserrat Bold"/>
                    </a:rPr>
                    <a:t>S9</a:t>
                  </a:r>
                </a:p>
              </p:txBody>
            </p:sp>
            <p:sp>
              <p:nvSpPr>
                <p:cNvPr id="24" name="AutoShape 24"/>
                <p:cNvSpPr/>
                <p:nvPr/>
              </p:nvSpPr>
              <p:spPr>
                <a:xfrm>
                  <a:off x="9429750" y="2619375"/>
                  <a:ext cx="0" cy="6191250"/>
                </a:xfrm>
                <a:prstGeom prst="line">
                  <a:avLst/>
                </a:prstGeom>
                <a:ln w="9525" cap="flat">
                  <a:solidFill>
                    <a:srgbClr val="D7E0E8"/>
                  </a:solidFill>
                  <a:prstDash val="solid"/>
                  <a:headEnd type="none" w="sm" len="sm"/>
                  <a:tailEnd type="none" w="sm" len="sm"/>
                </a:ln>
              </p:spPr>
              <p:txBody>
                <a:bodyPr/>
                <a:lstStyle/>
                <a:p>
                  <a:endParaRPr lang="es-CL" noProof="0" dirty="0"/>
                </a:p>
              </p:txBody>
            </p:sp>
            <p:sp>
              <p:nvSpPr>
                <p:cNvPr id="25" name="TextBox 25"/>
                <p:cNvSpPr txBox="1"/>
                <p:nvPr/>
              </p:nvSpPr>
              <p:spPr>
                <a:xfrm>
                  <a:off x="10144125" y="2171700"/>
                  <a:ext cx="714375" cy="222885"/>
                </a:xfrm>
                <a:prstGeom prst="rect">
                  <a:avLst/>
                </a:prstGeom>
              </p:spPr>
              <p:txBody>
                <a:bodyPr lIns="0" tIns="0" rIns="0" bIns="0" rtlCol="0" anchor="t">
                  <a:spAutoFit/>
                </a:bodyPr>
                <a:lstStyle/>
                <a:p>
                  <a:pPr algn="ctr">
                    <a:lnSpc>
                      <a:spcPts val="1889"/>
                    </a:lnSpc>
                  </a:pPr>
                  <a:r>
                    <a:rPr lang="es-CL" sz="1350" b="1" noProof="0" dirty="0">
                      <a:solidFill>
                        <a:srgbClr val="64748B"/>
                      </a:solidFill>
                      <a:latin typeface="Montserrat Bold"/>
                      <a:ea typeface="Montserrat Bold"/>
                      <a:cs typeface="Montserrat Bold"/>
                      <a:sym typeface="Montserrat Bold"/>
                    </a:rPr>
                    <a:t>S10</a:t>
                  </a:r>
                </a:p>
              </p:txBody>
            </p:sp>
            <p:sp>
              <p:nvSpPr>
                <p:cNvPr id="26" name="AutoShape 26"/>
                <p:cNvSpPr/>
                <p:nvPr/>
              </p:nvSpPr>
              <p:spPr>
                <a:xfrm>
                  <a:off x="10144125" y="2619375"/>
                  <a:ext cx="0" cy="6191250"/>
                </a:xfrm>
                <a:prstGeom prst="line">
                  <a:avLst/>
                </a:prstGeom>
                <a:ln w="9525" cap="flat">
                  <a:solidFill>
                    <a:srgbClr val="D7E0E8"/>
                  </a:solidFill>
                  <a:prstDash val="solid"/>
                  <a:headEnd type="none" w="sm" len="sm"/>
                  <a:tailEnd type="none" w="sm" len="sm"/>
                </a:ln>
              </p:spPr>
              <p:txBody>
                <a:bodyPr/>
                <a:lstStyle/>
                <a:p>
                  <a:endParaRPr lang="es-CL" noProof="0" dirty="0"/>
                </a:p>
              </p:txBody>
            </p:sp>
            <p:sp>
              <p:nvSpPr>
                <p:cNvPr id="27" name="TextBox 27"/>
                <p:cNvSpPr txBox="1"/>
                <p:nvPr/>
              </p:nvSpPr>
              <p:spPr>
                <a:xfrm>
                  <a:off x="10858500" y="2171700"/>
                  <a:ext cx="714375" cy="222885"/>
                </a:xfrm>
                <a:prstGeom prst="rect">
                  <a:avLst/>
                </a:prstGeom>
              </p:spPr>
              <p:txBody>
                <a:bodyPr lIns="0" tIns="0" rIns="0" bIns="0" rtlCol="0" anchor="t">
                  <a:spAutoFit/>
                </a:bodyPr>
                <a:lstStyle/>
                <a:p>
                  <a:pPr algn="ctr">
                    <a:lnSpc>
                      <a:spcPts val="1889"/>
                    </a:lnSpc>
                  </a:pPr>
                  <a:r>
                    <a:rPr lang="es-CL" sz="1350" b="1" noProof="0" dirty="0">
                      <a:solidFill>
                        <a:srgbClr val="64748B"/>
                      </a:solidFill>
                      <a:latin typeface="Montserrat Bold"/>
                      <a:ea typeface="Montserrat Bold"/>
                      <a:cs typeface="Montserrat Bold"/>
                      <a:sym typeface="Montserrat Bold"/>
                    </a:rPr>
                    <a:t>S11</a:t>
                  </a:r>
                </a:p>
              </p:txBody>
            </p:sp>
            <p:sp>
              <p:nvSpPr>
                <p:cNvPr id="28" name="AutoShape 28"/>
                <p:cNvSpPr/>
                <p:nvPr/>
              </p:nvSpPr>
              <p:spPr>
                <a:xfrm>
                  <a:off x="10858500" y="2619375"/>
                  <a:ext cx="0" cy="6191250"/>
                </a:xfrm>
                <a:prstGeom prst="line">
                  <a:avLst/>
                </a:prstGeom>
                <a:ln w="9525" cap="flat">
                  <a:solidFill>
                    <a:srgbClr val="D7E0E8"/>
                  </a:solidFill>
                  <a:prstDash val="solid"/>
                  <a:headEnd type="none" w="sm" len="sm"/>
                  <a:tailEnd type="none" w="sm" len="sm"/>
                </a:ln>
              </p:spPr>
              <p:txBody>
                <a:bodyPr/>
                <a:lstStyle/>
                <a:p>
                  <a:endParaRPr lang="es-CL" noProof="0" dirty="0"/>
                </a:p>
              </p:txBody>
            </p:sp>
            <p:sp>
              <p:nvSpPr>
                <p:cNvPr id="29" name="TextBox 29"/>
                <p:cNvSpPr txBox="1"/>
                <p:nvPr/>
              </p:nvSpPr>
              <p:spPr>
                <a:xfrm>
                  <a:off x="11572875" y="2171700"/>
                  <a:ext cx="714375" cy="222885"/>
                </a:xfrm>
                <a:prstGeom prst="rect">
                  <a:avLst/>
                </a:prstGeom>
              </p:spPr>
              <p:txBody>
                <a:bodyPr lIns="0" tIns="0" rIns="0" bIns="0" rtlCol="0" anchor="t">
                  <a:spAutoFit/>
                </a:bodyPr>
                <a:lstStyle/>
                <a:p>
                  <a:pPr algn="ctr">
                    <a:lnSpc>
                      <a:spcPts val="1889"/>
                    </a:lnSpc>
                  </a:pPr>
                  <a:r>
                    <a:rPr lang="es-CL" sz="1350" b="1" noProof="0" dirty="0">
                      <a:solidFill>
                        <a:srgbClr val="64748B"/>
                      </a:solidFill>
                      <a:latin typeface="Montserrat Bold"/>
                      <a:ea typeface="Montserrat Bold"/>
                      <a:cs typeface="Montserrat Bold"/>
                      <a:sym typeface="Montserrat Bold"/>
                    </a:rPr>
                    <a:t>S12</a:t>
                  </a:r>
                </a:p>
              </p:txBody>
            </p:sp>
            <p:sp>
              <p:nvSpPr>
                <p:cNvPr id="30" name="AutoShape 30"/>
                <p:cNvSpPr/>
                <p:nvPr/>
              </p:nvSpPr>
              <p:spPr>
                <a:xfrm>
                  <a:off x="11572875" y="2619375"/>
                  <a:ext cx="0" cy="6191250"/>
                </a:xfrm>
                <a:prstGeom prst="line">
                  <a:avLst/>
                </a:prstGeom>
                <a:ln w="9525" cap="flat">
                  <a:solidFill>
                    <a:srgbClr val="D7E0E8"/>
                  </a:solidFill>
                  <a:prstDash val="solid"/>
                  <a:headEnd type="none" w="sm" len="sm"/>
                  <a:tailEnd type="none" w="sm" len="sm"/>
                </a:ln>
              </p:spPr>
              <p:txBody>
                <a:bodyPr/>
                <a:lstStyle/>
                <a:p>
                  <a:endParaRPr lang="es-CL" noProof="0" dirty="0"/>
                </a:p>
              </p:txBody>
            </p:sp>
            <p:sp>
              <p:nvSpPr>
                <p:cNvPr id="31" name="TextBox 31"/>
                <p:cNvSpPr txBox="1"/>
                <p:nvPr/>
              </p:nvSpPr>
              <p:spPr>
                <a:xfrm>
                  <a:off x="12287250" y="2171700"/>
                  <a:ext cx="714375" cy="222885"/>
                </a:xfrm>
                <a:prstGeom prst="rect">
                  <a:avLst/>
                </a:prstGeom>
              </p:spPr>
              <p:txBody>
                <a:bodyPr lIns="0" tIns="0" rIns="0" bIns="0" rtlCol="0" anchor="t">
                  <a:spAutoFit/>
                </a:bodyPr>
                <a:lstStyle/>
                <a:p>
                  <a:pPr algn="ctr">
                    <a:lnSpc>
                      <a:spcPts val="1889"/>
                    </a:lnSpc>
                  </a:pPr>
                  <a:r>
                    <a:rPr lang="es-CL" sz="1350" b="1" noProof="0" dirty="0">
                      <a:solidFill>
                        <a:srgbClr val="64748B"/>
                      </a:solidFill>
                      <a:latin typeface="Montserrat Bold"/>
                      <a:ea typeface="Montserrat Bold"/>
                      <a:cs typeface="Montserrat Bold"/>
                      <a:sym typeface="Montserrat Bold"/>
                    </a:rPr>
                    <a:t>S13</a:t>
                  </a:r>
                </a:p>
              </p:txBody>
            </p:sp>
            <p:sp>
              <p:nvSpPr>
                <p:cNvPr id="32" name="AutoShape 32"/>
                <p:cNvSpPr/>
                <p:nvPr/>
              </p:nvSpPr>
              <p:spPr>
                <a:xfrm>
                  <a:off x="12287250" y="2619375"/>
                  <a:ext cx="0" cy="6191250"/>
                </a:xfrm>
                <a:prstGeom prst="line">
                  <a:avLst/>
                </a:prstGeom>
                <a:ln w="9525" cap="flat">
                  <a:solidFill>
                    <a:srgbClr val="D7E0E8"/>
                  </a:solidFill>
                  <a:prstDash val="solid"/>
                  <a:headEnd type="none" w="sm" len="sm"/>
                  <a:tailEnd type="none" w="sm" len="sm"/>
                </a:ln>
              </p:spPr>
              <p:txBody>
                <a:bodyPr/>
                <a:lstStyle/>
                <a:p>
                  <a:endParaRPr lang="es-CL" noProof="0" dirty="0"/>
                </a:p>
              </p:txBody>
            </p:sp>
            <p:sp>
              <p:nvSpPr>
                <p:cNvPr id="33" name="TextBox 33"/>
                <p:cNvSpPr txBox="1"/>
                <p:nvPr/>
              </p:nvSpPr>
              <p:spPr>
                <a:xfrm>
                  <a:off x="13001625" y="2171700"/>
                  <a:ext cx="714375" cy="222885"/>
                </a:xfrm>
                <a:prstGeom prst="rect">
                  <a:avLst/>
                </a:prstGeom>
              </p:spPr>
              <p:txBody>
                <a:bodyPr lIns="0" tIns="0" rIns="0" bIns="0" rtlCol="0" anchor="t">
                  <a:spAutoFit/>
                </a:bodyPr>
                <a:lstStyle/>
                <a:p>
                  <a:pPr algn="ctr">
                    <a:lnSpc>
                      <a:spcPts val="1889"/>
                    </a:lnSpc>
                  </a:pPr>
                  <a:r>
                    <a:rPr lang="es-CL" sz="1350" b="1" noProof="0" dirty="0">
                      <a:solidFill>
                        <a:srgbClr val="64748B"/>
                      </a:solidFill>
                      <a:latin typeface="Montserrat Bold"/>
                      <a:ea typeface="Montserrat Bold"/>
                      <a:cs typeface="Montserrat Bold"/>
                      <a:sym typeface="Montserrat Bold"/>
                    </a:rPr>
                    <a:t>S14</a:t>
                  </a:r>
                </a:p>
              </p:txBody>
            </p:sp>
            <p:sp>
              <p:nvSpPr>
                <p:cNvPr id="34" name="AutoShape 34"/>
                <p:cNvSpPr/>
                <p:nvPr/>
              </p:nvSpPr>
              <p:spPr>
                <a:xfrm>
                  <a:off x="13001625" y="2619375"/>
                  <a:ext cx="0" cy="6191250"/>
                </a:xfrm>
                <a:prstGeom prst="line">
                  <a:avLst/>
                </a:prstGeom>
                <a:ln w="9525" cap="flat">
                  <a:solidFill>
                    <a:srgbClr val="D7E0E8"/>
                  </a:solidFill>
                  <a:prstDash val="solid"/>
                  <a:headEnd type="none" w="sm" len="sm"/>
                  <a:tailEnd type="none" w="sm" len="sm"/>
                </a:ln>
              </p:spPr>
              <p:txBody>
                <a:bodyPr/>
                <a:lstStyle/>
                <a:p>
                  <a:endParaRPr lang="es-CL" noProof="0" dirty="0"/>
                </a:p>
              </p:txBody>
            </p:sp>
            <p:sp>
              <p:nvSpPr>
                <p:cNvPr id="35" name="TextBox 35"/>
                <p:cNvSpPr txBox="1"/>
                <p:nvPr/>
              </p:nvSpPr>
              <p:spPr>
                <a:xfrm>
                  <a:off x="13716000" y="2171700"/>
                  <a:ext cx="714375" cy="222885"/>
                </a:xfrm>
                <a:prstGeom prst="rect">
                  <a:avLst/>
                </a:prstGeom>
              </p:spPr>
              <p:txBody>
                <a:bodyPr lIns="0" tIns="0" rIns="0" bIns="0" rtlCol="0" anchor="t">
                  <a:spAutoFit/>
                </a:bodyPr>
                <a:lstStyle/>
                <a:p>
                  <a:pPr algn="ctr">
                    <a:lnSpc>
                      <a:spcPts val="1889"/>
                    </a:lnSpc>
                  </a:pPr>
                  <a:r>
                    <a:rPr lang="es-CL" sz="1350" b="1" noProof="0" dirty="0">
                      <a:solidFill>
                        <a:srgbClr val="64748B"/>
                      </a:solidFill>
                      <a:latin typeface="Montserrat Bold"/>
                      <a:ea typeface="Montserrat Bold"/>
                      <a:cs typeface="Montserrat Bold"/>
                      <a:sym typeface="Montserrat Bold"/>
                    </a:rPr>
                    <a:t>S15</a:t>
                  </a:r>
                </a:p>
              </p:txBody>
            </p:sp>
            <p:sp>
              <p:nvSpPr>
                <p:cNvPr id="36" name="AutoShape 36"/>
                <p:cNvSpPr/>
                <p:nvPr/>
              </p:nvSpPr>
              <p:spPr>
                <a:xfrm>
                  <a:off x="13716000" y="2619375"/>
                  <a:ext cx="0" cy="6191250"/>
                </a:xfrm>
                <a:prstGeom prst="line">
                  <a:avLst/>
                </a:prstGeom>
                <a:ln w="9525" cap="flat">
                  <a:solidFill>
                    <a:srgbClr val="D7E0E8"/>
                  </a:solidFill>
                  <a:prstDash val="solid"/>
                  <a:headEnd type="none" w="sm" len="sm"/>
                  <a:tailEnd type="none" w="sm" len="sm"/>
                </a:ln>
              </p:spPr>
              <p:txBody>
                <a:bodyPr/>
                <a:lstStyle/>
                <a:p>
                  <a:endParaRPr lang="es-CL" noProof="0" dirty="0"/>
                </a:p>
              </p:txBody>
            </p:sp>
            <p:sp>
              <p:nvSpPr>
                <p:cNvPr id="37" name="TextBox 37"/>
                <p:cNvSpPr txBox="1"/>
                <p:nvPr/>
              </p:nvSpPr>
              <p:spPr>
                <a:xfrm>
                  <a:off x="14430375" y="2171700"/>
                  <a:ext cx="714375" cy="222885"/>
                </a:xfrm>
                <a:prstGeom prst="rect">
                  <a:avLst/>
                </a:prstGeom>
              </p:spPr>
              <p:txBody>
                <a:bodyPr lIns="0" tIns="0" rIns="0" bIns="0" rtlCol="0" anchor="t">
                  <a:spAutoFit/>
                </a:bodyPr>
                <a:lstStyle/>
                <a:p>
                  <a:pPr algn="ctr">
                    <a:lnSpc>
                      <a:spcPts val="1889"/>
                    </a:lnSpc>
                  </a:pPr>
                  <a:r>
                    <a:rPr lang="es-CL" sz="1350" b="1" noProof="0" dirty="0">
                      <a:solidFill>
                        <a:srgbClr val="64748B"/>
                      </a:solidFill>
                      <a:latin typeface="Montserrat Bold"/>
                      <a:ea typeface="Montserrat Bold"/>
                      <a:cs typeface="Montserrat Bold"/>
                      <a:sym typeface="Montserrat Bold"/>
                    </a:rPr>
                    <a:t>S16</a:t>
                  </a:r>
                </a:p>
              </p:txBody>
            </p:sp>
            <p:sp>
              <p:nvSpPr>
                <p:cNvPr id="38" name="AutoShape 38"/>
                <p:cNvSpPr/>
                <p:nvPr/>
              </p:nvSpPr>
              <p:spPr>
                <a:xfrm>
                  <a:off x="14430375" y="2619375"/>
                  <a:ext cx="0" cy="6191250"/>
                </a:xfrm>
                <a:prstGeom prst="line">
                  <a:avLst/>
                </a:prstGeom>
                <a:ln w="9525" cap="flat">
                  <a:solidFill>
                    <a:srgbClr val="D7E0E8"/>
                  </a:solidFill>
                  <a:prstDash val="solid"/>
                  <a:headEnd type="none" w="sm" len="sm"/>
                  <a:tailEnd type="none" w="sm" len="sm"/>
                </a:ln>
              </p:spPr>
              <p:txBody>
                <a:bodyPr/>
                <a:lstStyle/>
                <a:p>
                  <a:endParaRPr lang="es-CL" noProof="0" dirty="0"/>
                </a:p>
              </p:txBody>
            </p:sp>
            <p:sp>
              <p:nvSpPr>
                <p:cNvPr id="39" name="TextBox 39"/>
                <p:cNvSpPr txBox="1"/>
                <p:nvPr/>
              </p:nvSpPr>
              <p:spPr>
                <a:xfrm>
                  <a:off x="15144750" y="2171700"/>
                  <a:ext cx="714375" cy="222885"/>
                </a:xfrm>
                <a:prstGeom prst="rect">
                  <a:avLst/>
                </a:prstGeom>
              </p:spPr>
              <p:txBody>
                <a:bodyPr lIns="0" tIns="0" rIns="0" bIns="0" rtlCol="0" anchor="t">
                  <a:spAutoFit/>
                </a:bodyPr>
                <a:lstStyle/>
                <a:p>
                  <a:pPr algn="ctr">
                    <a:lnSpc>
                      <a:spcPts val="1889"/>
                    </a:lnSpc>
                  </a:pPr>
                  <a:r>
                    <a:rPr lang="es-CL" sz="1350" b="1" noProof="0" dirty="0">
                      <a:solidFill>
                        <a:srgbClr val="64748B"/>
                      </a:solidFill>
                      <a:latin typeface="Montserrat Bold"/>
                      <a:ea typeface="Montserrat Bold"/>
                      <a:cs typeface="Montserrat Bold"/>
                      <a:sym typeface="Montserrat Bold"/>
                    </a:rPr>
                    <a:t>S17</a:t>
                  </a:r>
                </a:p>
              </p:txBody>
            </p:sp>
            <p:sp>
              <p:nvSpPr>
                <p:cNvPr id="40" name="AutoShape 40"/>
                <p:cNvSpPr/>
                <p:nvPr/>
              </p:nvSpPr>
              <p:spPr>
                <a:xfrm>
                  <a:off x="15144750" y="2619375"/>
                  <a:ext cx="0" cy="6191250"/>
                </a:xfrm>
                <a:prstGeom prst="line">
                  <a:avLst/>
                </a:prstGeom>
                <a:ln w="9525" cap="flat">
                  <a:solidFill>
                    <a:srgbClr val="D7E0E8"/>
                  </a:solidFill>
                  <a:prstDash val="solid"/>
                  <a:headEnd type="none" w="sm" len="sm"/>
                  <a:tailEnd type="none" w="sm" len="sm"/>
                </a:ln>
              </p:spPr>
              <p:txBody>
                <a:bodyPr/>
                <a:lstStyle/>
                <a:p>
                  <a:endParaRPr lang="es-CL" noProof="0" dirty="0"/>
                </a:p>
              </p:txBody>
            </p:sp>
            <p:sp>
              <p:nvSpPr>
                <p:cNvPr id="41" name="TextBox 41"/>
                <p:cNvSpPr txBox="1"/>
                <p:nvPr/>
              </p:nvSpPr>
              <p:spPr>
                <a:xfrm>
                  <a:off x="15859125" y="2171700"/>
                  <a:ext cx="714375" cy="222885"/>
                </a:xfrm>
                <a:prstGeom prst="rect">
                  <a:avLst/>
                </a:prstGeom>
              </p:spPr>
              <p:txBody>
                <a:bodyPr lIns="0" tIns="0" rIns="0" bIns="0" rtlCol="0" anchor="t">
                  <a:spAutoFit/>
                </a:bodyPr>
                <a:lstStyle/>
                <a:p>
                  <a:pPr algn="ctr">
                    <a:lnSpc>
                      <a:spcPts val="1889"/>
                    </a:lnSpc>
                  </a:pPr>
                  <a:r>
                    <a:rPr lang="es-CL" sz="1350" b="1" noProof="0" dirty="0">
                      <a:solidFill>
                        <a:srgbClr val="64748B"/>
                      </a:solidFill>
                      <a:latin typeface="Montserrat Bold"/>
                      <a:ea typeface="Montserrat Bold"/>
                      <a:cs typeface="Montserrat Bold"/>
                      <a:sym typeface="Montserrat Bold"/>
                    </a:rPr>
                    <a:t>S18</a:t>
                  </a:r>
                </a:p>
              </p:txBody>
            </p:sp>
            <p:sp>
              <p:nvSpPr>
                <p:cNvPr id="42" name="AutoShape 42"/>
                <p:cNvSpPr/>
                <p:nvPr/>
              </p:nvSpPr>
              <p:spPr>
                <a:xfrm>
                  <a:off x="15859125" y="2619375"/>
                  <a:ext cx="0" cy="6191250"/>
                </a:xfrm>
                <a:prstGeom prst="line">
                  <a:avLst/>
                </a:prstGeom>
                <a:ln w="9525" cap="flat">
                  <a:solidFill>
                    <a:srgbClr val="D7E0E8"/>
                  </a:solidFill>
                  <a:prstDash val="solid"/>
                  <a:headEnd type="none" w="sm" len="sm"/>
                  <a:tailEnd type="none" w="sm" len="sm"/>
                </a:ln>
              </p:spPr>
              <p:txBody>
                <a:bodyPr/>
                <a:lstStyle/>
                <a:p>
                  <a:endParaRPr lang="es-CL" noProof="0" dirty="0"/>
                </a:p>
              </p:txBody>
            </p:sp>
            <p:sp>
              <p:nvSpPr>
                <p:cNvPr id="43" name="TextBox 43"/>
                <p:cNvSpPr txBox="1"/>
                <p:nvPr/>
              </p:nvSpPr>
              <p:spPr>
                <a:xfrm>
                  <a:off x="952500" y="2886075"/>
                  <a:ext cx="2571750" cy="228600"/>
                </a:xfrm>
                <a:prstGeom prst="rect">
                  <a:avLst/>
                </a:prstGeom>
              </p:spPr>
              <p:txBody>
                <a:bodyPr lIns="0" tIns="0" rIns="0" bIns="0" rtlCol="0" anchor="t">
                  <a:spAutoFit/>
                </a:bodyPr>
                <a:lstStyle/>
                <a:p>
                  <a:pPr algn="l">
                    <a:lnSpc>
                      <a:spcPts val="1875"/>
                    </a:lnSpc>
                  </a:pPr>
                  <a:r>
                    <a:rPr lang="es-CL" sz="1500" noProof="0" dirty="0">
                      <a:solidFill>
                        <a:srgbClr val="64748B"/>
                      </a:solidFill>
                      <a:latin typeface="Source Sans 3"/>
                      <a:ea typeface="Source Sans 3"/>
                      <a:cs typeface="Source Sans 3"/>
                      <a:sym typeface="Source Sans 3"/>
                    </a:rPr>
                    <a:t>Análisis y requerimientos</a:t>
                  </a:r>
                </a:p>
              </p:txBody>
            </p:sp>
            <p:grpSp>
              <p:nvGrpSpPr>
                <p:cNvPr id="44" name="Group 44"/>
                <p:cNvGrpSpPr/>
                <p:nvPr/>
              </p:nvGrpSpPr>
              <p:grpSpPr>
                <a:xfrm>
                  <a:off x="3714749" y="2800350"/>
                  <a:ext cx="2857497" cy="390525"/>
                  <a:chOff x="-1" y="-38100"/>
                  <a:chExt cx="3809996" cy="520700"/>
                </a:xfrm>
              </p:grpSpPr>
              <p:sp>
                <p:nvSpPr>
                  <p:cNvPr id="45" name="Freeform 45"/>
                  <p:cNvSpPr/>
                  <p:nvPr/>
                </p:nvSpPr>
                <p:spPr>
                  <a:xfrm>
                    <a:off x="-1" y="0"/>
                    <a:ext cx="3809996" cy="48260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683000" h="482600">
                        <a:moveTo>
                          <a:pt x="0" y="0"/>
                        </a:moveTo>
                        <a:lnTo>
                          <a:pt x="3683000" y="0"/>
                        </a:lnTo>
                        <a:lnTo>
                          <a:pt x="3683000" y="482600"/>
                        </a:lnTo>
                        <a:lnTo>
                          <a:pt x="0" y="482600"/>
                        </a:lnTo>
                        <a:close/>
                      </a:path>
                    </a:pathLst>
                  </a:custGeom>
                  <a:solidFill>
                    <a:srgbClr val="0878B9"/>
                  </a:solidFill>
                  <a:ln cap="sq">
                    <a:noFill/>
                    <a:prstDash val="solid"/>
                    <a:miter/>
                  </a:ln>
                </p:spPr>
                <p:txBody>
                  <a:bodyPr/>
                  <a:lstStyle/>
                  <a:p>
                    <a:endParaRPr lang="es-CL" noProof="0" dirty="0"/>
                  </a:p>
                </p:txBody>
              </p:sp>
              <p:sp>
                <p:nvSpPr>
                  <p:cNvPr id="46" name="TextBox 46"/>
                  <p:cNvSpPr txBox="1"/>
                  <p:nvPr/>
                </p:nvSpPr>
                <p:spPr>
                  <a:xfrm>
                    <a:off x="0" y="-38100"/>
                    <a:ext cx="3683000" cy="520700"/>
                  </a:xfrm>
                  <a:prstGeom prst="rect">
                    <a:avLst/>
                  </a:prstGeom>
                </p:spPr>
                <p:txBody>
                  <a:bodyPr lIns="50800" tIns="50800" rIns="50800" bIns="50800" rtlCol="0" anchor="ctr"/>
                  <a:lstStyle/>
                  <a:p>
                    <a:pPr algn="l">
                      <a:lnSpc>
                        <a:spcPts val="1679"/>
                      </a:lnSpc>
                    </a:pPr>
                    <a:endParaRPr lang="es-CL" noProof="0" dirty="0"/>
                  </a:p>
                </p:txBody>
              </p:sp>
            </p:grpSp>
            <p:sp>
              <p:nvSpPr>
                <p:cNvPr id="47" name="TextBox 47"/>
                <p:cNvSpPr txBox="1"/>
                <p:nvPr/>
              </p:nvSpPr>
              <p:spPr>
                <a:xfrm>
                  <a:off x="952500" y="3648075"/>
                  <a:ext cx="2571750" cy="228600"/>
                </a:xfrm>
                <a:prstGeom prst="rect">
                  <a:avLst/>
                </a:prstGeom>
              </p:spPr>
              <p:txBody>
                <a:bodyPr lIns="0" tIns="0" rIns="0" bIns="0" rtlCol="0" anchor="t">
                  <a:spAutoFit/>
                </a:bodyPr>
                <a:lstStyle/>
                <a:p>
                  <a:pPr algn="l">
                    <a:lnSpc>
                      <a:spcPts val="1875"/>
                    </a:lnSpc>
                  </a:pPr>
                  <a:r>
                    <a:rPr lang="es-CL" sz="1500" noProof="0" dirty="0">
                      <a:solidFill>
                        <a:srgbClr val="64748B"/>
                      </a:solidFill>
                      <a:latin typeface="Source Sans 3"/>
                      <a:ea typeface="Source Sans 3"/>
                      <a:cs typeface="Source Sans 3"/>
                      <a:sym typeface="Source Sans 3"/>
                    </a:rPr>
                    <a:t>Arquitectura y base de datos</a:t>
                  </a:r>
                </a:p>
              </p:txBody>
            </p:sp>
            <p:grpSp>
              <p:nvGrpSpPr>
                <p:cNvPr id="48" name="Group 48"/>
                <p:cNvGrpSpPr/>
                <p:nvPr/>
              </p:nvGrpSpPr>
              <p:grpSpPr>
                <a:xfrm>
                  <a:off x="5143499" y="3562350"/>
                  <a:ext cx="2857495" cy="390525"/>
                  <a:chOff x="-1" y="-38100"/>
                  <a:chExt cx="3809993" cy="520700"/>
                </a:xfrm>
              </p:grpSpPr>
              <p:sp>
                <p:nvSpPr>
                  <p:cNvPr id="49" name="Freeform 49"/>
                  <p:cNvSpPr/>
                  <p:nvPr/>
                </p:nvSpPr>
                <p:spPr>
                  <a:xfrm>
                    <a:off x="-1" y="0"/>
                    <a:ext cx="3809993" cy="48260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683000" h="482600">
                        <a:moveTo>
                          <a:pt x="0" y="0"/>
                        </a:moveTo>
                        <a:lnTo>
                          <a:pt x="3683000" y="0"/>
                        </a:lnTo>
                        <a:lnTo>
                          <a:pt x="3683000" y="482600"/>
                        </a:lnTo>
                        <a:lnTo>
                          <a:pt x="0" y="482600"/>
                        </a:lnTo>
                        <a:close/>
                      </a:path>
                    </a:pathLst>
                  </a:custGeom>
                  <a:solidFill>
                    <a:srgbClr val="0878B9"/>
                  </a:solidFill>
                  <a:ln cap="sq">
                    <a:noFill/>
                    <a:prstDash val="solid"/>
                    <a:miter/>
                  </a:ln>
                </p:spPr>
                <p:txBody>
                  <a:bodyPr/>
                  <a:lstStyle/>
                  <a:p>
                    <a:endParaRPr lang="es-CL" noProof="0" dirty="0"/>
                  </a:p>
                </p:txBody>
              </p:sp>
              <p:sp>
                <p:nvSpPr>
                  <p:cNvPr id="50" name="TextBox 50"/>
                  <p:cNvSpPr txBox="1"/>
                  <p:nvPr/>
                </p:nvSpPr>
                <p:spPr>
                  <a:xfrm>
                    <a:off x="0" y="-38100"/>
                    <a:ext cx="3683000" cy="520700"/>
                  </a:xfrm>
                  <a:prstGeom prst="rect">
                    <a:avLst/>
                  </a:prstGeom>
                </p:spPr>
                <p:txBody>
                  <a:bodyPr lIns="50800" tIns="50800" rIns="50800" bIns="50800" rtlCol="0" anchor="ctr"/>
                  <a:lstStyle/>
                  <a:p>
                    <a:pPr algn="l">
                      <a:lnSpc>
                        <a:spcPts val="1679"/>
                      </a:lnSpc>
                    </a:pPr>
                    <a:endParaRPr lang="es-CL" noProof="0" dirty="0"/>
                  </a:p>
                </p:txBody>
              </p:sp>
            </p:grpSp>
            <p:sp>
              <p:nvSpPr>
                <p:cNvPr id="51" name="TextBox 51"/>
                <p:cNvSpPr txBox="1"/>
                <p:nvPr/>
              </p:nvSpPr>
              <p:spPr>
                <a:xfrm>
                  <a:off x="952500" y="4410075"/>
                  <a:ext cx="2571750" cy="228600"/>
                </a:xfrm>
                <a:prstGeom prst="rect">
                  <a:avLst/>
                </a:prstGeom>
              </p:spPr>
              <p:txBody>
                <a:bodyPr lIns="0" tIns="0" rIns="0" bIns="0" rtlCol="0" anchor="t">
                  <a:spAutoFit/>
                </a:bodyPr>
                <a:lstStyle/>
                <a:p>
                  <a:pPr algn="l">
                    <a:lnSpc>
                      <a:spcPts val="1875"/>
                    </a:lnSpc>
                  </a:pPr>
                  <a:r>
                    <a:rPr lang="es-CL" sz="1500" noProof="0" dirty="0">
                      <a:solidFill>
                        <a:srgbClr val="64748B"/>
                      </a:solidFill>
                      <a:latin typeface="Source Sans 3"/>
                      <a:ea typeface="Source Sans 3"/>
                      <a:cs typeface="Source Sans 3"/>
                      <a:sym typeface="Source Sans 3"/>
                    </a:rPr>
                    <a:t>Interfaces + ETL</a:t>
                  </a:r>
                </a:p>
              </p:txBody>
            </p:sp>
            <p:grpSp>
              <p:nvGrpSpPr>
                <p:cNvPr id="52" name="Group 52"/>
                <p:cNvGrpSpPr/>
                <p:nvPr/>
              </p:nvGrpSpPr>
              <p:grpSpPr>
                <a:xfrm>
                  <a:off x="6572250" y="4324350"/>
                  <a:ext cx="4286250" cy="390525"/>
                  <a:chOff x="0" y="-38100"/>
                  <a:chExt cx="5715000" cy="520700"/>
                </a:xfrm>
              </p:grpSpPr>
              <p:sp>
                <p:nvSpPr>
                  <p:cNvPr id="53" name="Freeform 53"/>
                  <p:cNvSpPr/>
                  <p:nvPr/>
                </p:nvSpPr>
                <p:spPr>
                  <a:xfrm>
                    <a:off x="0" y="0"/>
                    <a:ext cx="5715000" cy="48260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5588000" h="482600">
                        <a:moveTo>
                          <a:pt x="0" y="0"/>
                        </a:moveTo>
                        <a:lnTo>
                          <a:pt x="5588000" y="0"/>
                        </a:lnTo>
                        <a:lnTo>
                          <a:pt x="5588000" y="482600"/>
                        </a:lnTo>
                        <a:lnTo>
                          <a:pt x="0" y="482600"/>
                        </a:lnTo>
                        <a:close/>
                      </a:path>
                    </a:pathLst>
                  </a:custGeom>
                  <a:solidFill>
                    <a:srgbClr val="16B6C8"/>
                  </a:solidFill>
                  <a:ln cap="sq">
                    <a:noFill/>
                    <a:prstDash val="solid"/>
                    <a:miter/>
                  </a:ln>
                </p:spPr>
                <p:txBody>
                  <a:bodyPr/>
                  <a:lstStyle/>
                  <a:p>
                    <a:endParaRPr lang="es-CL" noProof="0" dirty="0"/>
                  </a:p>
                </p:txBody>
              </p:sp>
              <p:sp>
                <p:nvSpPr>
                  <p:cNvPr id="54" name="TextBox 54"/>
                  <p:cNvSpPr txBox="1"/>
                  <p:nvPr/>
                </p:nvSpPr>
                <p:spPr>
                  <a:xfrm>
                    <a:off x="0" y="-38100"/>
                    <a:ext cx="5588000" cy="520700"/>
                  </a:xfrm>
                  <a:prstGeom prst="rect">
                    <a:avLst/>
                  </a:prstGeom>
                </p:spPr>
                <p:txBody>
                  <a:bodyPr lIns="50800" tIns="50800" rIns="50800" bIns="50800" rtlCol="0" anchor="ctr"/>
                  <a:lstStyle/>
                  <a:p>
                    <a:pPr algn="l">
                      <a:lnSpc>
                        <a:spcPts val="1679"/>
                      </a:lnSpc>
                    </a:pPr>
                    <a:endParaRPr lang="es-CL" noProof="0" dirty="0"/>
                  </a:p>
                </p:txBody>
              </p:sp>
            </p:grpSp>
            <p:sp>
              <p:nvSpPr>
                <p:cNvPr id="55" name="TextBox 55"/>
                <p:cNvSpPr txBox="1"/>
                <p:nvPr/>
              </p:nvSpPr>
              <p:spPr>
                <a:xfrm>
                  <a:off x="952500" y="5172075"/>
                  <a:ext cx="2571750" cy="228600"/>
                </a:xfrm>
                <a:prstGeom prst="rect">
                  <a:avLst/>
                </a:prstGeom>
              </p:spPr>
              <p:txBody>
                <a:bodyPr lIns="0" tIns="0" rIns="0" bIns="0" rtlCol="0" anchor="t">
                  <a:spAutoFit/>
                </a:bodyPr>
                <a:lstStyle/>
                <a:p>
                  <a:pPr algn="l">
                    <a:lnSpc>
                      <a:spcPts val="1875"/>
                    </a:lnSpc>
                  </a:pPr>
                  <a:r>
                    <a:rPr lang="es-CL" sz="1500" noProof="0" dirty="0">
                      <a:solidFill>
                        <a:srgbClr val="64748B"/>
                      </a:solidFill>
                      <a:latin typeface="Source Sans 3"/>
                      <a:ea typeface="Source Sans 3"/>
                      <a:cs typeface="Source Sans 3"/>
                      <a:sym typeface="Source Sans 3"/>
                    </a:rPr>
                    <a:t>Validaciones y reglas</a:t>
                  </a:r>
                </a:p>
              </p:txBody>
            </p:sp>
            <p:grpSp>
              <p:nvGrpSpPr>
                <p:cNvPr id="56" name="Group 56"/>
                <p:cNvGrpSpPr/>
                <p:nvPr/>
              </p:nvGrpSpPr>
              <p:grpSpPr>
                <a:xfrm>
                  <a:off x="8000999" y="5086350"/>
                  <a:ext cx="4286247" cy="390525"/>
                  <a:chOff x="-1" y="-38100"/>
                  <a:chExt cx="5714996" cy="520700"/>
                </a:xfrm>
              </p:grpSpPr>
              <p:sp>
                <p:nvSpPr>
                  <p:cNvPr id="57" name="Freeform 57"/>
                  <p:cNvSpPr/>
                  <p:nvPr/>
                </p:nvSpPr>
                <p:spPr>
                  <a:xfrm>
                    <a:off x="-1" y="0"/>
                    <a:ext cx="5714996" cy="48260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5588000" h="482600">
                        <a:moveTo>
                          <a:pt x="0" y="0"/>
                        </a:moveTo>
                        <a:lnTo>
                          <a:pt x="5588000" y="0"/>
                        </a:lnTo>
                        <a:lnTo>
                          <a:pt x="5588000" y="482600"/>
                        </a:lnTo>
                        <a:lnTo>
                          <a:pt x="0" y="482600"/>
                        </a:lnTo>
                        <a:close/>
                      </a:path>
                    </a:pathLst>
                  </a:custGeom>
                  <a:solidFill>
                    <a:srgbClr val="16B6C8"/>
                  </a:solidFill>
                  <a:ln cap="sq">
                    <a:noFill/>
                    <a:prstDash val="solid"/>
                    <a:miter/>
                  </a:ln>
                </p:spPr>
                <p:txBody>
                  <a:bodyPr/>
                  <a:lstStyle/>
                  <a:p>
                    <a:endParaRPr lang="es-CL" noProof="0" dirty="0"/>
                  </a:p>
                </p:txBody>
              </p:sp>
              <p:sp>
                <p:nvSpPr>
                  <p:cNvPr id="58" name="TextBox 58"/>
                  <p:cNvSpPr txBox="1"/>
                  <p:nvPr/>
                </p:nvSpPr>
                <p:spPr>
                  <a:xfrm>
                    <a:off x="0" y="-38100"/>
                    <a:ext cx="5588000" cy="520700"/>
                  </a:xfrm>
                  <a:prstGeom prst="rect">
                    <a:avLst/>
                  </a:prstGeom>
                </p:spPr>
                <p:txBody>
                  <a:bodyPr lIns="50800" tIns="50800" rIns="50800" bIns="50800" rtlCol="0" anchor="ctr"/>
                  <a:lstStyle/>
                  <a:p>
                    <a:pPr algn="l">
                      <a:lnSpc>
                        <a:spcPts val="1679"/>
                      </a:lnSpc>
                    </a:pPr>
                    <a:endParaRPr lang="es-CL" noProof="0" dirty="0"/>
                  </a:p>
                </p:txBody>
              </p:sp>
            </p:grpSp>
            <p:sp>
              <p:nvSpPr>
                <p:cNvPr id="59" name="TextBox 59"/>
                <p:cNvSpPr txBox="1"/>
                <p:nvPr/>
              </p:nvSpPr>
              <p:spPr>
                <a:xfrm>
                  <a:off x="952500" y="5924550"/>
                  <a:ext cx="2571750" cy="210503"/>
                </a:xfrm>
                <a:prstGeom prst="rect">
                  <a:avLst/>
                </a:prstGeom>
              </p:spPr>
              <p:txBody>
                <a:bodyPr lIns="0" tIns="0" rIns="0" bIns="0" rtlCol="0" anchor="t">
                  <a:spAutoFit/>
                </a:bodyPr>
                <a:lstStyle/>
                <a:p>
                  <a:pPr algn="l">
                    <a:lnSpc>
                      <a:spcPts val="1687"/>
                    </a:lnSpc>
                  </a:pPr>
                  <a:r>
                    <a:rPr lang="es-CL" sz="1350" noProof="0" dirty="0">
                      <a:solidFill>
                        <a:srgbClr val="64748B"/>
                      </a:solidFill>
                      <a:latin typeface="Source Sans 3"/>
                      <a:ea typeface="Source Sans 3"/>
                      <a:cs typeface="Source Sans 3"/>
                      <a:sym typeface="Source Sans 3"/>
                    </a:rPr>
                    <a:t>Histórico, </a:t>
                  </a:r>
                  <a:r>
                    <a:rPr lang="es-CL" sz="1350" noProof="0" dirty="0" err="1">
                      <a:solidFill>
                        <a:srgbClr val="64748B"/>
                      </a:solidFill>
                      <a:latin typeface="Source Sans 3"/>
                      <a:ea typeface="Source Sans 3"/>
                      <a:cs typeface="Source Sans 3"/>
                      <a:sym typeface="Source Sans 3"/>
                    </a:rPr>
                    <a:t>dashboard</a:t>
                  </a:r>
                  <a:r>
                    <a:rPr lang="es-CL" sz="1350" noProof="0" dirty="0">
                      <a:solidFill>
                        <a:srgbClr val="64748B"/>
                      </a:solidFill>
                      <a:latin typeface="Source Sans 3"/>
                      <a:ea typeface="Source Sans 3"/>
                      <a:cs typeface="Source Sans 3"/>
                      <a:sym typeface="Source Sans 3"/>
                    </a:rPr>
                    <a:t>, reportes e IA</a:t>
                  </a:r>
                </a:p>
              </p:txBody>
            </p:sp>
            <p:grpSp>
              <p:nvGrpSpPr>
                <p:cNvPr id="60" name="Group 60"/>
                <p:cNvGrpSpPr/>
                <p:nvPr/>
              </p:nvGrpSpPr>
              <p:grpSpPr>
                <a:xfrm>
                  <a:off x="9429749" y="5848350"/>
                  <a:ext cx="4286249" cy="390525"/>
                  <a:chOff x="-1" y="-38100"/>
                  <a:chExt cx="5714999" cy="520700"/>
                </a:xfrm>
              </p:grpSpPr>
              <p:sp>
                <p:nvSpPr>
                  <p:cNvPr id="61" name="Freeform 61"/>
                  <p:cNvSpPr/>
                  <p:nvPr/>
                </p:nvSpPr>
                <p:spPr>
                  <a:xfrm>
                    <a:off x="-1" y="0"/>
                    <a:ext cx="5714999" cy="48260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5588000" h="482600">
                        <a:moveTo>
                          <a:pt x="0" y="0"/>
                        </a:moveTo>
                        <a:lnTo>
                          <a:pt x="5588000" y="0"/>
                        </a:lnTo>
                        <a:lnTo>
                          <a:pt x="5588000" y="482600"/>
                        </a:lnTo>
                        <a:lnTo>
                          <a:pt x="0" y="482600"/>
                        </a:lnTo>
                        <a:close/>
                      </a:path>
                    </a:pathLst>
                  </a:custGeom>
                  <a:solidFill>
                    <a:srgbClr val="16B6C8"/>
                  </a:solidFill>
                  <a:ln cap="sq">
                    <a:noFill/>
                    <a:prstDash val="solid"/>
                    <a:miter/>
                  </a:ln>
                </p:spPr>
                <p:txBody>
                  <a:bodyPr/>
                  <a:lstStyle/>
                  <a:p>
                    <a:endParaRPr lang="es-CL" noProof="0" dirty="0"/>
                  </a:p>
                </p:txBody>
              </p:sp>
              <p:sp>
                <p:nvSpPr>
                  <p:cNvPr id="62" name="TextBox 62"/>
                  <p:cNvSpPr txBox="1"/>
                  <p:nvPr/>
                </p:nvSpPr>
                <p:spPr>
                  <a:xfrm>
                    <a:off x="0" y="-38100"/>
                    <a:ext cx="5588000" cy="520700"/>
                  </a:xfrm>
                  <a:prstGeom prst="rect">
                    <a:avLst/>
                  </a:prstGeom>
                </p:spPr>
                <p:txBody>
                  <a:bodyPr lIns="50800" tIns="50800" rIns="50800" bIns="50800" rtlCol="0" anchor="ctr"/>
                  <a:lstStyle/>
                  <a:p>
                    <a:pPr algn="l">
                      <a:lnSpc>
                        <a:spcPts val="1679"/>
                      </a:lnSpc>
                    </a:pPr>
                    <a:endParaRPr lang="es-CL" noProof="0" dirty="0"/>
                  </a:p>
                </p:txBody>
              </p:sp>
            </p:grpSp>
            <p:sp>
              <p:nvSpPr>
                <p:cNvPr id="63" name="TextBox 63"/>
                <p:cNvSpPr txBox="1"/>
                <p:nvPr/>
              </p:nvSpPr>
              <p:spPr>
                <a:xfrm>
                  <a:off x="952500" y="6696075"/>
                  <a:ext cx="2571750" cy="228600"/>
                </a:xfrm>
                <a:prstGeom prst="rect">
                  <a:avLst/>
                </a:prstGeom>
              </p:spPr>
              <p:txBody>
                <a:bodyPr lIns="0" tIns="0" rIns="0" bIns="0" rtlCol="0" anchor="t">
                  <a:spAutoFit/>
                </a:bodyPr>
                <a:lstStyle/>
                <a:p>
                  <a:pPr algn="l">
                    <a:lnSpc>
                      <a:spcPts val="1875"/>
                    </a:lnSpc>
                  </a:pPr>
                  <a:r>
                    <a:rPr lang="es-CL" sz="1500" noProof="0" dirty="0">
                      <a:solidFill>
                        <a:srgbClr val="64748B"/>
                      </a:solidFill>
                      <a:latin typeface="Source Sans 3"/>
                      <a:ea typeface="Source Sans 3"/>
                      <a:cs typeface="Source Sans 3"/>
                      <a:sym typeface="Source Sans 3"/>
                    </a:rPr>
                    <a:t>Integración</a:t>
                  </a:r>
                </a:p>
              </p:txBody>
            </p:sp>
            <p:grpSp>
              <p:nvGrpSpPr>
                <p:cNvPr id="64" name="Group 64"/>
                <p:cNvGrpSpPr/>
                <p:nvPr/>
              </p:nvGrpSpPr>
              <p:grpSpPr>
                <a:xfrm>
                  <a:off x="12287250" y="6610350"/>
                  <a:ext cx="1447800" cy="390525"/>
                  <a:chOff x="0" y="-38100"/>
                  <a:chExt cx="1930400" cy="520700"/>
                </a:xfrm>
              </p:grpSpPr>
              <p:sp>
                <p:nvSpPr>
                  <p:cNvPr id="65" name="Freeform 65"/>
                  <p:cNvSpPr/>
                  <p:nvPr/>
                </p:nvSpPr>
                <p:spPr>
                  <a:xfrm>
                    <a:off x="0" y="0"/>
                    <a:ext cx="1930400" cy="48260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778000" h="482600">
                        <a:moveTo>
                          <a:pt x="0" y="0"/>
                        </a:moveTo>
                        <a:lnTo>
                          <a:pt x="1778000" y="0"/>
                        </a:lnTo>
                        <a:lnTo>
                          <a:pt x="1778000" y="482600"/>
                        </a:lnTo>
                        <a:lnTo>
                          <a:pt x="0" y="482600"/>
                        </a:lnTo>
                        <a:close/>
                      </a:path>
                    </a:pathLst>
                  </a:custGeom>
                  <a:solidFill>
                    <a:srgbClr val="16B6C8"/>
                  </a:solidFill>
                  <a:ln cap="sq">
                    <a:noFill/>
                    <a:prstDash val="solid"/>
                    <a:miter/>
                  </a:ln>
                </p:spPr>
                <p:txBody>
                  <a:bodyPr/>
                  <a:lstStyle/>
                  <a:p>
                    <a:endParaRPr lang="es-CL" noProof="0" dirty="0"/>
                  </a:p>
                </p:txBody>
              </p:sp>
              <p:sp>
                <p:nvSpPr>
                  <p:cNvPr id="66" name="TextBox 66"/>
                  <p:cNvSpPr txBox="1"/>
                  <p:nvPr/>
                </p:nvSpPr>
                <p:spPr>
                  <a:xfrm>
                    <a:off x="0" y="-38100"/>
                    <a:ext cx="1778000" cy="520700"/>
                  </a:xfrm>
                  <a:prstGeom prst="rect">
                    <a:avLst/>
                  </a:prstGeom>
                </p:spPr>
                <p:txBody>
                  <a:bodyPr lIns="50800" tIns="50800" rIns="50800" bIns="50800" rtlCol="0" anchor="ctr"/>
                  <a:lstStyle/>
                  <a:p>
                    <a:pPr algn="l">
                      <a:lnSpc>
                        <a:spcPts val="1679"/>
                      </a:lnSpc>
                    </a:pPr>
                    <a:endParaRPr lang="es-CL" noProof="0" dirty="0"/>
                  </a:p>
                </p:txBody>
              </p:sp>
            </p:grpSp>
            <p:sp>
              <p:nvSpPr>
                <p:cNvPr id="67" name="TextBox 67"/>
                <p:cNvSpPr txBox="1"/>
                <p:nvPr/>
              </p:nvSpPr>
              <p:spPr>
                <a:xfrm>
                  <a:off x="952500" y="7458075"/>
                  <a:ext cx="2571750" cy="228600"/>
                </a:xfrm>
                <a:prstGeom prst="rect">
                  <a:avLst/>
                </a:prstGeom>
              </p:spPr>
              <p:txBody>
                <a:bodyPr lIns="0" tIns="0" rIns="0" bIns="0" rtlCol="0" anchor="t">
                  <a:spAutoFit/>
                </a:bodyPr>
                <a:lstStyle/>
                <a:p>
                  <a:pPr algn="l">
                    <a:lnSpc>
                      <a:spcPts val="1875"/>
                    </a:lnSpc>
                  </a:pPr>
                  <a:r>
                    <a:rPr lang="es-CL" sz="1500" noProof="0" dirty="0">
                      <a:solidFill>
                        <a:srgbClr val="64748B"/>
                      </a:solidFill>
                      <a:latin typeface="Source Sans 3"/>
                      <a:ea typeface="Source Sans 3"/>
                      <a:cs typeface="Source Sans 3"/>
                      <a:sym typeface="Source Sans 3"/>
                    </a:rPr>
                    <a:t>Pruebas y correcciones</a:t>
                  </a:r>
                </a:p>
              </p:txBody>
            </p:sp>
            <p:grpSp>
              <p:nvGrpSpPr>
                <p:cNvPr id="68" name="Group 68"/>
                <p:cNvGrpSpPr/>
                <p:nvPr/>
              </p:nvGrpSpPr>
              <p:grpSpPr>
                <a:xfrm>
                  <a:off x="13716000" y="7372350"/>
                  <a:ext cx="2143123" cy="390525"/>
                  <a:chOff x="0" y="-38100"/>
                  <a:chExt cx="2857497" cy="520700"/>
                </a:xfrm>
              </p:grpSpPr>
              <p:sp>
                <p:nvSpPr>
                  <p:cNvPr id="69" name="Freeform 69"/>
                  <p:cNvSpPr/>
                  <p:nvPr/>
                </p:nvSpPr>
                <p:spPr>
                  <a:xfrm>
                    <a:off x="0" y="0"/>
                    <a:ext cx="2857497" cy="48260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30500" h="482600">
                        <a:moveTo>
                          <a:pt x="0" y="0"/>
                        </a:moveTo>
                        <a:lnTo>
                          <a:pt x="2730500" y="0"/>
                        </a:lnTo>
                        <a:lnTo>
                          <a:pt x="2730500" y="482600"/>
                        </a:lnTo>
                        <a:lnTo>
                          <a:pt x="0" y="482600"/>
                        </a:lnTo>
                        <a:close/>
                      </a:path>
                    </a:pathLst>
                  </a:custGeom>
                  <a:solidFill>
                    <a:srgbClr val="F58220"/>
                  </a:solidFill>
                  <a:ln cap="sq">
                    <a:noFill/>
                    <a:prstDash val="solid"/>
                    <a:miter/>
                  </a:ln>
                </p:spPr>
                <p:txBody>
                  <a:bodyPr/>
                  <a:lstStyle/>
                  <a:p>
                    <a:endParaRPr lang="es-CL" noProof="0" dirty="0"/>
                  </a:p>
                </p:txBody>
              </p:sp>
              <p:sp>
                <p:nvSpPr>
                  <p:cNvPr id="70" name="TextBox 70"/>
                  <p:cNvSpPr txBox="1"/>
                  <p:nvPr/>
                </p:nvSpPr>
                <p:spPr>
                  <a:xfrm>
                    <a:off x="0" y="-38100"/>
                    <a:ext cx="2730500" cy="520700"/>
                  </a:xfrm>
                  <a:prstGeom prst="rect">
                    <a:avLst/>
                  </a:prstGeom>
                </p:spPr>
                <p:txBody>
                  <a:bodyPr lIns="50800" tIns="50800" rIns="50800" bIns="50800" rtlCol="0" anchor="ctr"/>
                  <a:lstStyle/>
                  <a:p>
                    <a:pPr algn="l">
                      <a:lnSpc>
                        <a:spcPts val="1679"/>
                      </a:lnSpc>
                    </a:pPr>
                    <a:endParaRPr lang="es-CL" noProof="0" dirty="0"/>
                  </a:p>
                </p:txBody>
              </p:sp>
            </p:grpSp>
            <p:sp>
              <p:nvSpPr>
                <p:cNvPr id="71" name="TextBox 71"/>
                <p:cNvSpPr txBox="1"/>
                <p:nvPr/>
              </p:nvSpPr>
              <p:spPr>
                <a:xfrm>
                  <a:off x="952500" y="8220075"/>
                  <a:ext cx="2571750" cy="228600"/>
                </a:xfrm>
                <a:prstGeom prst="rect">
                  <a:avLst/>
                </a:prstGeom>
              </p:spPr>
              <p:txBody>
                <a:bodyPr lIns="0" tIns="0" rIns="0" bIns="0" rtlCol="0" anchor="t">
                  <a:spAutoFit/>
                </a:bodyPr>
                <a:lstStyle/>
                <a:p>
                  <a:pPr algn="l">
                    <a:lnSpc>
                      <a:spcPts val="1875"/>
                    </a:lnSpc>
                  </a:pPr>
                  <a:r>
                    <a:rPr lang="es-CL" sz="1500" noProof="0" dirty="0">
                      <a:solidFill>
                        <a:srgbClr val="64748B"/>
                      </a:solidFill>
                      <a:latin typeface="Source Sans 3"/>
                      <a:ea typeface="Source Sans 3"/>
                      <a:cs typeface="Source Sans 3"/>
                      <a:sym typeface="Source Sans 3"/>
                    </a:rPr>
                    <a:t>Documentación y cierre</a:t>
                  </a:r>
                </a:p>
              </p:txBody>
            </p:sp>
            <p:grpSp>
              <p:nvGrpSpPr>
                <p:cNvPr id="72" name="Group 72"/>
                <p:cNvGrpSpPr/>
                <p:nvPr/>
              </p:nvGrpSpPr>
              <p:grpSpPr>
                <a:xfrm>
                  <a:off x="15144750" y="8134350"/>
                  <a:ext cx="1428750" cy="390525"/>
                  <a:chOff x="0" y="-38100"/>
                  <a:chExt cx="1905000" cy="520700"/>
                </a:xfrm>
              </p:grpSpPr>
              <p:sp>
                <p:nvSpPr>
                  <p:cNvPr id="73" name="Freeform 73"/>
                  <p:cNvSpPr/>
                  <p:nvPr/>
                </p:nvSpPr>
                <p:spPr>
                  <a:xfrm>
                    <a:off x="0" y="0"/>
                    <a:ext cx="1905000" cy="48260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778000" h="482600">
                        <a:moveTo>
                          <a:pt x="0" y="0"/>
                        </a:moveTo>
                        <a:lnTo>
                          <a:pt x="1778000" y="0"/>
                        </a:lnTo>
                        <a:lnTo>
                          <a:pt x="1778000" y="482600"/>
                        </a:lnTo>
                        <a:lnTo>
                          <a:pt x="0" y="482600"/>
                        </a:lnTo>
                        <a:close/>
                      </a:path>
                    </a:pathLst>
                  </a:custGeom>
                  <a:solidFill>
                    <a:srgbClr val="F58220"/>
                  </a:solidFill>
                  <a:ln cap="sq">
                    <a:noFill/>
                    <a:prstDash val="solid"/>
                    <a:miter/>
                  </a:ln>
                </p:spPr>
                <p:txBody>
                  <a:bodyPr/>
                  <a:lstStyle/>
                  <a:p>
                    <a:endParaRPr lang="es-CL" noProof="0" dirty="0"/>
                  </a:p>
                </p:txBody>
              </p:sp>
              <p:sp>
                <p:nvSpPr>
                  <p:cNvPr id="74" name="TextBox 74"/>
                  <p:cNvSpPr txBox="1"/>
                  <p:nvPr/>
                </p:nvSpPr>
                <p:spPr>
                  <a:xfrm>
                    <a:off x="0" y="-38100"/>
                    <a:ext cx="1778000" cy="520700"/>
                  </a:xfrm>
                  <a:prstGeom prst="rect">
                    <a:avLst/>
                  </a:prstGeom>
                </p:spPr>
                <p:txBody>
                  <a:bodyPr lIns="50800" tIns="50800" rIns="50800" bIns="50800" rtlCol="0" anchor="ctr"/>
                  <a:lstStyle/>
                  <a:p>
                    <a:pPr algn="l">
                      <a:lnSpc>
                        <a:spcPts val="1679"/>
                      </a:lnSpc>
                    </a:pPr>
                    <a:endParaRPr lang="es-CL" noProof="0" dirty="0"/>
                  </a:p>
                </p:txBody>
              </p:sp>
            </p:grpSp>
          </p:grpSp>
        </p:grpSp>
        <p:sp>
          <p:nvSpPr>
            <p:cNvPr id="88" name="AutoShape 40">
              <a:extLst>
                <a:ext uri="{FF2B5EF4-FFF2-40B4-BE49-F238E27FC236}">
                  <a16:creationId xmlns:a16="http://schemas.microsoft.com/office/drawing/2014/main" id="{95BEF748-FE1B-5DA4-FF96-504868BBD965}"/>
                </a:ext>
              </a:extLst>
            </p:cNvPr>
            <p:cNvSpPr/>
            <p:nvPr/>
          </p:nvSpPr>
          <p:spPr>
            <a:xfrm>
              <a:off x="16992600" y="3219450"/>
              <a:ext cx="0" cy="6191250"/>
            </a:xfrm>
            <a:prstGeom prst="line">
              <a:avLst/>
            </a:prstGeom>
            <a:ln w="9525" cap="flat">
              <a:solidFill>
                <a:srgbClr val="D7E0E8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es-CL" noProof="0" dirty="0"/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3581400" y="1412589"/>
            <a:ext cx="11832548" cy="8874411"/>
          </a:xfrm>
          <a:custGeom>
            <a:avLst/>
            <a:gdLst/>
            <a:ahLst/>
            <a:cxnLst/>
            <a:rect l="l" t="t" r="r" b="b"/>
            <a:pathLst>
              <a:path w="13716000" h="10287000">
                <a:moveTo>
                  <a:pt x="0" y="0"/>
                </a:moveTo>
                <a:lnTo>
                  <a:pt x="13716000" y="0"/>
                </a:lnTo>
                <a:lnTo>
                  <a:pt x="13716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s-CL" noProof="0" dirty="0"/>
          </a:p>
        </p:txBody>
      </p:sp>
      <p:grpSp>
        <p:nvGrpSpPr>
          <p:cNvPr id="5" name="Grupo 4">
            <a:extLst>
              <a:ext uri="{FF2B5EF4-FFF2-40B4-BE49-F238E27FC236}">
                <a16:creationId xmlns:a16="http://schemas.microsoft.com/office/drawing/2014/main" id="{DFBEAEA5-D9AF-004F-C2E2-03364A855868}"/>
              </a:ext>
            </a:extLst>
          </p:cNvPr>
          <p:cNvGrpSpPr/>
          <p:nvPr/>
        </p:nvGrpSpPr>
        <p:grpSpPr>
          <a:xfrm>
            <a:off x="857250" y="266700"/>
            <a:ext cx="16725900" cy="914400"/>
            <a:chOff x="857250" y="266700"/>
            <a:chExt cx="16725900" cy="914400"/>
          </a:xfrm>
        </p:grpSpPr>
        <p:sp>
          <p:nvSpPr>
            <p:cNvPr id="6" name="TextBox 3">
              <a:extLst>
                <a:ext uri="{FF2B5EF4-FFF2-40B4-BE49-F238E27FC236}">
                  <a16:creationId xmlns:a16="http://schemas.microsoft.com/office/drawing/2014/main" id="{74C95C01-CDAB-7EDB-F0DA-845CC57C43D1}"/>
                </a:ext>
              </a:extLst>
            </p:cNvPr>
            <p:cNvSpPr txBox="1"/>
            <p:nvPr/>
          </p:nvSpPr>
          <p:spPr>
            <a:xfrm>
              <a:off x="857250" y="647700"/>
              <a:ext cx="6858000" cy="23750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995"/>
                </a:lnSpc>
              </a:pPr>
              <a:r>
                <a:rPr lang="es-CL" sz="1425" b="1" spc="114" noProof="0" dirty="0">
                  <a:solidFill>
                    <a:srgbClr val="0878B9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Proyecto “TTDH </a:t>
              </a:r>
              <a:r>
                <a:rPr lang="es-CL" sz="1425" b="1" spc="114" noProof="0" dirty="0" err="1">
                  <a:solidFill>
                    <a:srgbClr val="0878B9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Automation</a:t>
              </a:r>
              <a:r>
                <a:rPr lang="es-CL" sz="1425" b="1" spc="114" noProof="0" dirty="0">
                  <a:solidFill>
                    <a:srgbClr val="0878B9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”</a:t>
              </a:r>
            </a:p>
          </p:txBody>
        </p:sp>
        <p:pic>
          <p:nvPicPr>
            <p:cNvPr id="7" name="Imagen 6">
              <a:extLst>
                <a:ext uri="{FF2B5EF4-FFF2-40B4-BE49-F238E27FC236}">
                  <a16:creationId xmlns:a16="http://schemas.microsoft.com/office/drawing/2014/main" id="{E6448F4F-248B-DC7B-33E7-546903D6046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5163800" y="266700"/>
              <a:ext cx="2419350" cy="886543"/>
            </a:xfrm>
            <a:prstGeom prst="rect">
              <a:avLst/>
            </a:prstGeom>
          </p:spPr>
        </p:pic>
        <p:sp>
          <p:nvSpPr>
            <p:cNvPr id="8" name="AutoShape 5">
              <a:extLst>
                <a:ext uri="{FF2B5EF4-FFF2-40B4-BE49-F238E27FC236}">
                  <a16:creationId xmlns:a16="http://schemas.microsoft.com/office/drawing/2014/main" id="{45DCC54C-9948-0842-C236-AAB3828784F3}"/>
                </a:ext>
              </a:extLst>
            </p:cNvPr>
            <p:cNvSpPr/>
            <p:nvPr/>
          </p:nvSpPr>
          <p:spPr>
            <a:xfrm>
              <a:off x="857250" y="1181100"/>
              <a:ext cx="16573500" cy="0"/>
            </a:xfrm>
            <a:prstGeom prst="line">
              <a:avLst/>
            </a:prstGeom>
            <a:ln w="25400" cap="flat">
              <a:solidFill>
                <a:srgbClr val="D7E0E8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es-CL" noProof="0" dirty="0"/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B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8F10952-E59F-3109-5B4E-4A45355486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upo 4">
            <a:extLst>
              <a:ext uri="{FF2B5EF4-FFF2-40B4-BE49-F238E27FC236}">
                <a16:creationId xmlns:a16="http://schemas.microsoft.com/office/drawing/2014/main" id="{166397F4-CAA5-DB04-1D7F-9702F5511EFD}"/>
              </a:ext>
            </a:extLst>
          </p:cNvPr>
          <p:cNvGrpSpPr/>
          <p:nvPr/>
        </p:nvGrpSpPr>
        <p:grpSpPr>
          <a:xfrm>
            <a:off x="857250" y="266700"/>
            <a:ext cx="16725900" cy="914400"/>
            <a:chOff x="857250" y="266700"/>
            <a:chExt cx="16725900" cy="914400"/>
          </a:xfrm>
        </p:grpSpPr>
        <p:sp>
          <p:nvSpPr>
            <p:cNvPr id="6" name="TextBox 3">
              <a:extLst>
                <a:ext uri="{FF2B5EF4-FFF2-40B4-BE49-F238E27FC236}">
                  <a16:creationId xmlns:a16="http://schemas.microsoft.com/office/drawing/2014/main" id="{B23F49E7-5F38-673F-AF32-971D653FF696}"/>
                </a:ext>
              </a:extLst>
            </p:cNvPr>
            <p:cNvSpPr txBox="1"/>
            <p:nvPr/>
          </p:nvSpPr>
          <p:spPr>
            <a:xfrm>
              <a:off x="857250" y="647700"/>
              <a:ext cx="6858000" cy="23750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995"/>
                </a:lnSpc>
              </a:pPr>
              <a:r>
                <a:rPr lang="es-CL" sz="1425" b="1" spc="114" noProof="0" dirty="0">
                  <a:solidFill>
                    <a:srgbClr val="0878B9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Proyecto “TTDH </a:t>
              </a:r>
              <a:r>
                <a:rPr lang="es-CL" sz="1425" b="1" spc="114" noProof="0" dirty="0" err="1">
                  <a:solidFill>
                    <a:srgbClr val="0878B9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Automation</a:t>
              </a:r>
              <a:r>
                <a:rPr lang="es-CL" sz="1425" b="1" spc="114" noProof="0" dirty="0">
                  <a:solidFill>
                    <a:srgbClr val="0878B9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”</a:t>
              </a:r>
            </a:p>
          </p:txBody>
        </p:sp>
        <p:pic>
          <p:nvPicPr>
            <p:cNvPr id="7" name="Imagen 6">
              <a:extLst>
                <a:ext uri="{FF2B5EF4-FFF2-40B4-BE49-F238E27FC236}">
                  <a16:creationId xmlns:a16="http://schemas.microsoft.com/office/drawing/2014/main" id="{E0FCCD52-DE57-DA1D-C78D-FBDC2FFED62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5163800" y="266700"/>
              <a:ext cx="2419350" cy="886543"/>
            </a:xfrm>
            <a:prstGeom prst="rect">
              <a:avLst/>
            </a:prstGeom>
          </p:spPr>
        </p:pic>
        <p:sp>
          <p:nvSpPr>
            <p:cNvPr id="8" name="AutoShape 5">
              <a:extLst>
                <a:ext uri="{FF2B5EF4-FFF2-40B4-BE49-F238E27FC236}">
                  <a16:creationId xmlns:a16="http://schemas.microsoft.com/office/drawing/2014/main" id="{2294FEA0-033E-32E8-3E15-41601A386548}"/>
                </a:ext>
              </a:extLst>
            </p:cNvPr>
            <p:cNvSpPr/>
            <p:nvPr/>
          </p:nvSpPr>
          <p:spPr>
            <a:xfrm>
              <a:off x="857250" y="1181100"/>
              <a:ext cx="16573500" cy="0"/>
            </a:xfrm>
            <a:prstGeom prst="line">
              <a:avLst/>
            </a:prstGeom>
            <a:ln w="25400" cap="flat">
              <a:solidFill>
                <a:srgbClr val="D7E0E8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es-CL" noProof="0" dirty="0"/>
            </a:p>
          </p:txBody>
        </p:sp>
      </p:grpSp>
      <p:sp>
        <p:nvSpPr>
          <p:cNvPr id="4" name="TextBox 10">
            <a:extLst>
              <a:ext uri="{FF2B5EF4-FFF2-40B4-BE49-F238E27FC236}">
                <a16:creationId xmlns:a16="http://schemas.microsoft.com/office/drawing/2014/main" id="{AB372D4A-98A2-FF9E-5C57-B0B30646ED7E}"/>
              </a:ext>
            </a:extLst>
          </p:cNvPr>
          <p:cNvSpPr txBox="1"/>
          <p:nvPr/>
        </p:nvSpPr>
        <p:spPr>
          <a:xfrm>
            <a:off x="2264459" y="4644934"/>
            <a:ext cx="13759082" cy="997132"/>
          </a:xfrm>
          <a:prstGeom prst="rect">
            <a:avLst/>
          </a:prstGeom>
        </p:spPr>
        <p:txBody>
          <a:bodyPr wrap="square" lIns="0" tIns="0" rIns="0" bIns="0" rtlCol="0" anchor="ctr">
            <a:spAutoFit/>
          </a:bodyPr>
          <a:lstStyle/>
          <a:p>
            <a:pPr algn="ctr">
              <a:lnSpc>
                <a:spcPts val="7560"/>
              </a:lnSpc>
            </a:pPr>
            <a:r>
              <a:rPr lang="es-CL" sz="8400" b="1" dirty="0">
                <a:solidFill>
                  <a:srgbClr val="082B4C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Gracias por su atención</a:t>
            </a:r>
            <a:endParaRPr lang="es-CL" sz="8400" b="1" noProof="0" dirty="0">
              <a:solidFill>
                <a:srgbClr val="082B4C"/>
              </a:solidFill>
              <a:latin typeface="Montserrat Bold"/>
              <a:ea typeface="Montserrat Bold"/>
              <a:cs typeface="Montserrat Bold"/>
              <a:sym typeface="Montserrat Bold"/>
            </a:endParaRPr>
          </a:p>
        </p:txBody>
      </p:sp>
    </p:spTree>
    <p:extLst>
      <p:ext uri="{BB962C8B-B14F-4D97-AF65-F5344CB8AC3E}">
        <p14:creationId xmlns:p14="http://schemas.microsoft.com/office/powerpoint/2010/main" val="259380283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227</TotalTime>
  <Words>489</Words>
  <Application>Microsoft Office PowerPoint</Application>
  <PresentationFormat>Personalizado</PresentationFormat>
  <Paragraphs>101</Paragraphs>
  <Slides>9</Slides>
  <Notes>1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9</vt:i4>
      </vt:variant>
    </vt:vector>
  </HeadingPairs>
  <TitlesOfParts>
    <vt:vector size="15" baseType="lpstr">
      <vt:lpstr>Aptos</vt:lpstr>
      <vt:lpstr>Arial</vt:lpstr>
      <vt:lpstr>Source Sans 3</vt:lpstr>
      <vt:lpstr>Calibri</vt:lpstr>
      <vt:lpstr>Montserrat Bold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TTDH Automation</dc:title>
  <cp:lastModifiedBy>Maria Trinidad Gaete Mella</cp:lastModifiedBy>
  <cp:revision>6</cp:revision>
  <dcterms:created xsi:type="dcterms:W3CDTF">2006-08-16T00:00:00Z</dcterms:created>
  <dcterms:modified xsi:type="dcterms:W3CDTF">2026-09-10T17:08:00Z</dcterms:modified>
  <dc:identifier>DAHUv2d-ybI</dc:identifier>
</cp:coreProperties>
</file>