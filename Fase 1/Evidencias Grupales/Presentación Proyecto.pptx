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Montserrat Bold" panose="020B0604020202020204" charset="0"/>
      <p:regular r:id="rId11"/>
    </p:embeddedFont>
    <p:embeddedFont>
      <p:font typeface="Source Sans 3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68" d="100"/>
          <a:sy n="68" d="100"/>
        </p:scale>
        <p:origin x="894" y="1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8100" y="0"/>
            <a:ext cx="10191750" cy="10287000"/>
          </a:xfrm>
          <a:custGeom>
            <a:avLst/>
            <a:gdLst/>
            <a:ahLst/>
            <a:cxnLst/>
            <a:rect l="l" t="t" r="r" b="b"/>
            <a:pathLst>
              <a:path w="10191750" h="10287000">
                <a:moveTo>
                  <a:pt x="0" y="0"/>
                </a:moveTo>
                <a:lnTo>
                  <a:pt x="10191750" y="0"/>
                </a:lnTo>
                <a:lnTo>
                  <a:pt x="1019175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719" r="-39719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 noProof="0" dirty="0"/>
          </a:p>
        </p:txBody>
      </p:sp>
      <p:grpSp>
        <p:nvGrpSpPr>
          <p:cNvPr id="7" name="Group 7"/>
          <p:cNvGrpSpPr/>
          <p:nvPr/>
        </p:nvGrpSpPr>
        <p:grpSpPr>
          <a:xfrm>
            <a:off x="11087100" y="7524750"/>
            <a:ext cx="1000125" cy="76200"/>
            <a:chOff x="0" y="0"/>
            <a:chExt cx="1333500" cy="10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333500" cy="101600"/>
            </a:xfrm>
            <a:custGeom>
              <a:avLst/>
              <a:gdLst/>
              <a:ahLst/>
              <a:cxnLst/>
              <a:rect l="l" t="t" r="r" b="b"/>
              <a:pathLst>
                <a:path w="1333500" h="101600">
                  <a:moveTo>
                    <a:pt x="0" y="0"/>
                  </a:moveTo>
                  <a:lnTo>
                    <a:pt x="1333500" y="0"/>
                  </a:lnTo>
                  <a:lnTo>
                    <a:pt x="13335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5822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 noProof="0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3335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 lang="es-CL" noProof="0" dirty="0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1039475" y="2962275"/>
            <a:ext cx="8096250" cy="1977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60"/>
              </a:lnSpc>
            </a:pPr>
            <a:r>
              <a:rPr lang="es-CL" sz="8400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TTDH</a:t>
            </a:r>
          </a:p>
          <a:p>
            <a:pPr algn="l">
              <a:lnSpc>
                <a:spcPts val="7560"/>
              </a:lnSpc>
            </a:pPr>
            <a:r>
              <a:rPr lang="es-CL" sz="8400" b="1" noProof="0" dirty="0" err="1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Automation</a:t>
            </a:r>
            <a:endParaRPr lang="es-CL" sz="8400" b="1" noProof="0" dirty="0">
              <a:solidFill>
                <a:srgbClr val="082B4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087100" y="5095875"/>
            <a:ext cx="6191250" cy="430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9"/>
              </a:lnSpc>
            </a:pPr>
            <a:r>
              <a:rPr lang="es-CL" sz="2550" b="1" noProof="0" dirty="0">
                <a:solidFill>
                  <a:srgbClr val="0878B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APT – </a:t>
            </a:r>
            <a:r>
              <a:rPr lang="es-CL" sz="2550" b="1" noProof="0" dirty="0" err="1">
                <a:solidFill>
                  <a:srgbClr val="0878B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Capstone</a:t>
            </a:r>
            <a:endParaRPr lang="es-CL" sz="2550" b="1" noProof="0" dirty="0">
              <a:solidFill>
                <a:srgbClr val="0878B9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1087100" y="5743575"/>
            <a:ext cx="5715000" cy="3000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s-CL" sz="1875" noProof="0" dirty="0">
                <a:solidFill>
                  <a:srgbClr val="082B4C"/>
                </a:solidFill>
                <a:latin typeface="Source Sans 3"/>
                <a:ea typeface="Source Sans 3"/>
                <a:cs typeface="Source Sans 3"/>
                <a:sym typeface="Source Sans 3"/>
              </a:rPr>
              <a:t>Ingeniería en Informática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087100" y="8067675"/>
            <a:ext cx="68580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s-CL" sz="1425" b="1" spc="114" noProof="0" dirty="0">
                <a:solidFill>
                  <a:srgbClr val="0878B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Automatización · Integración · Trazabilidad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DC49464E-EF54-6087-13A7-7F5A12B8F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6415" y="424842"/>
            <a:ext cx="2960585" cy="1084872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857250" y="1551623"/>
            <a:ext cx="14287500" cy="5438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2"/>
              </a:lnSpc>
            </a:pPr>
            <a:r>
              <a:rPr lang="es-CL" sz="4050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Integrantes del Proyecto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57250" y="2905125"/>
            <a:ext cx="7524750" cy="2714625"/>
            <a:chOff x="0" y="0"/>
            <a:chExt cx="10033000" cy="3619500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0033000" cy="3619500"/>
              <a:chOff x="0" y="0"/>
              <a:chExt cx="10033000" cy="36195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0033000" cy="3619500"/>
              </a:xfrm>
              <a:custGeom>
                <a:avLst/>
                <a:gdLst/>
                <a:ahLst/>
                <a:cxnLst/>
                <a:rect l="l" t="t" r="r" b="b"/>
                <a:pathLst>
                  <a:path w="10033000" h="3619500">
                    <a:moveTo>
                      <a:pt x="0" y="0"/>
                    </a:moveTo>
                    <a:lnTo>
                      <a:pt x="10033000" y="0"/>
                    </a:lnTo>
                    <a:lnTo>
                      <a:pt x="1003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-38100"/>
                <a:ext cx="10033000" cy="365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431800" y="381000"/>
              <a:ext cx="1270000" cy="1270000"/>
              <a:chOff x="0" y="0"/>
              <a:chExt cx="1270000" cy="1270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270000" cy="1270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0" h="1270000">
                    <a:moveTo>
                      <a:pt x="0" y="0"/>
                    </a:moveTo>
                    <a:lnTo>
                      <a:pt x="1270000" y="0"/>
                    </a:lnTo>
                    <a:lnTo>
                      <a:pt x="1270000" y="1270000"/>
                    </a:lnTo>
                    <a:lnTo>
                      <a:pt x="0" y="1270000"/>
                    </a:lnTo>
                    <a:close/>
                  </a:path>
                </a:pathLst>
              </a:custGeom>
              <a:solidFill>
                <a:srgbClr val="F5822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38100"/>
                <a:ext cx="1270000" cy="1308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31800" y="396875"/>
              <a:ext cx="1270000" cy="624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90"/>
                </a:lnSpc>
              </a:pPr>
              <a:r>
                <a:rPr lang="es-CL" sz="285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MG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222500" y="473075"/>
              <a:ext cx="7493000" cy="4565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lang="es-CL" sz="24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María Trinidad Gaete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222500" y="1266825"/>
              <a:ext cx="7493000" cy="3105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ANÁLISIS Y COORDINACIÓN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22500" y="1949450"/>
              <a:ext cx="7493000" cy="8001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Levantamiento de requerimientos, documentación y coordinación general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239250" y="2905125"/>
            <a:ext cx="7524750" cy="2714625"/>
            <a:chOff x="0" y="0"/>
            <a:chExt cx="10033000" cy="3619500"/>
          </a:xfrm>
        </p:grpSpPr>
        <p:grpSp>
          <p:nvGrpSpPr>
            <p:cNvPr id="19" name="Group 19"/>
            <p:cNvGrpSpPr/>
            <p:nvPr/>
          </p:nvGrpSpPr>
          <p:grpSpPr>
            <a:xfrm>
              <a:off x="0" y="0"/>
              <a:ext cx="10033000" cy="3619500"/>
              <a:chOff x="0" y="0"/>
              <a:chExt cx="10033000" cy="3619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0033000" cy="3619500"/>
              </a:xfrm>
              <a:custGeom>
                <a:avLst/>
                <a:gdLst/>
                <a:ahLst/>
                <a:cxnLst/>
                <a:rect l="l" t="t" r="r" b="b"/>
                <a:pathLst>
                  <a:path w="10033000" h="3619500">
                    <a:moveTo>
                      <a:pt x="0" y="0"/>
                    </a:moveTo>
                    <a:lnTo>
                      <a:pt x="10033000" y="0"/>
                    </a:lnTo>
                    <a:lnTo>
                      <a:pt x="1003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10033000" cy="365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431800" y="381000"/>
              <a:ext cx="1270000" cy="1270000"/>
              <a:chOff x="0" y="0"/>
              <a:chExt cx="1270000" cy="12700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270000" cy="1270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0" h="1270000">
                    <a:moveTo>
                      <a:pt x="0" y="0"/>
                    </a:moveTo>
                    <a:lnTo>
                      <a:pt x="1270000" y="0"/>
                    </a:lnTo>
                    <a:lnTo>
                      <a:pt x="1270000" y="1270000"/>
                    </a:lnTo>
                    <a:lnTo>
                      <a:pt x="0" y="12700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270000" cy="1308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431800" y="396875"/>
              <a:ext cx="1270000" cy="624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90"/>
                </a:lnSpc>
              </a:pPr>
              <a:r>
                <a:rPr lang="es-CL" sz="285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TC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222500" y="473075"/>
              <a:ext cx="7493000" cy="4565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lang="es-CL" sz="24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Tomás Catalán Madariaga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222500" y="1266825"/>
              <a:ext cx="7493000" cy="3105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BASES DE DATOS Y ETL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222500" y="1949450"/>
              <a:ext cx="7493000" cy="8001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Diseño e implementación de bases de datos, procesos ETL y gestión histórica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57250" y="6238875"/>
            <a:ext cx="7524750" cy="2714625"/>
            <a:chOff x="0" y="0"/>
            <a:chExt cx="10033000" cy="3619500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10033000" cy="3619500"/>
              <a:chOff x="0" y="0"/>
              <a:chExt cx="10033000" cy="36195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0033000" cy="3619500"/>
              </a:xfrm>
              <a:custGeom>
                <a:avLst/>
                <a:gdLst/>
                <a:ahLst/>
                <a:cxnLst/>
                <a:rect l="l" t="t" r="r" b="b"/>
                <a:pathLst>
                  <a:path w="10033000" h="3619500">
                    <a:moveTo>
                      <a:pt x="0" y="0"/>
                    </a:moveTo>
                    <a:lnTo>
                      <a:pt x="10033000" y="0"/>
                    </a:lnTo>
                    <a:lnTo>
                      <a:pt x="1003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0033000" cy="365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431800" y="381000"/>
              <a:ext cx="1270000" cy="1270000"/>
              <a:chOff x="0" y="0"/>
              <a:chExt cx="1270000" cy="12700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270000" cy="1270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0" h="1270000">
                    <a:moveTo>
                      <a:pt x="0" y="0"/>
                    </a:moveTo>
                    <a:lnTo>
                      <a:pt x="1270000" y="0"/>
                    </a:lnTo>
                    <a:lnTo>
                      <a:pt x="1270000" y="1270000"/>
                    </a:lnTo>
                    <a:lnTo>
                      <a:pt x="0" y="12700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1270000" cy="1308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431800" y="396875"/>
              <a:ext cx="1270000" cy="624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90"/>
                </a:lnSpc>
              </a:pPr>
              <a:r>
                <a:rPr lang="es-CL" sz="285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DM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222500" y="473075"/>
              <a:ext cx="7493000" cy="4565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lang="es-CL" sz="24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David Muñoz Bravo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222500" y="1266825"/>
              <a:ext cx="7493000" cy="3105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APLICACIÓN Y NEGOCIO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222500" y="1949450"/>
              <a:ext cx="7493000" cy="8001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Desarrollo, validaciones, reglas de negocio, </a:t>
              </a:r>
              <a:r>
                <a:rPr lang="es-CL" sz="1875" noProof="0" dirty="0" err="1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dashboard</a:t>
              </a: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 y reportes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239250" y="6238875"/>
            <a:ext cx="7524750" cy="2714625"/>
            <a:chOff x="0" y="0"/>
            <a:chExt cx="10033000" cy="3619500"/>
          </a:xfrm>
        </p:grpSpPr>
        <p:grpSp>
          <p:nvGrpSpPr>
            <p:cNvPr id="41" name="Group 41"/>
            <p:cNvGrpSpPr/>
            <p:nvPr/>
          </p:nvGrpSpPr>
          <p:grpSpPr>
            <a:xfrm>
              <a:off x="0" y="0"/>
              <a:ext cx="10033000" cy="3619500"/>
              <a:chOff x="0" y="0"/>
              <a:chExt cx="10033000" cy="36195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0033000" cy="3619500"/>
              </a:xfrm>
              <a:custGeom>
                <a:avLst/>
                <a:gdLst/>
                <a:ahLst/>
                <a:cxnLst/>
                <a:rect l="l" t="t" r="r" b="b"/>
                <a:pathLst>
                  <a:path w="10033000" h="3619500">
                    <a:moveTo>
                      <a:pt x="0" y="0"/>
                    </a:moveTo>
                    <a:lnTo>
                      <a:pt x="10033000" y="0"/>
                    </a:lnTo>
                    <a:lnTo>
                      <a:pt x="1003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38100"/>
                <a:ext cx="10033000" cy="365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431800" y="381000"/>
              <a:ext cx="1270000" cy="1270000"/>
              <a:chOff x="0" y="0"/>
              <a:chExt cx="1270000" cy="12700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1270000" cy="1270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0" h="1270000">
                    <a:moveTo>
                      <a:pt x="0" y="0"/>
                    </a:moveTo>
                    <a:lnTo>
                      <a:pt x="1270000" y="0"/>
                    </a:lnTo>
                    <a:lnTo>
                      <a:pt x="1270000" y="1270000"/>
                    </a:lnTo>
                    <a:lnTo>
                      <a:pt x="0" y="12700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38100"/>
                <a:ext cx="1270000" cy="1308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47" name="TextBox 47"/>
            <p:cNvSpPr txBox="1"/>
            <p:nvPr/>
          </p:nvSpPr>
          <p:spPr>
            <a:xfrm>
              <a:off x="431800" y="396875"/>
              <a:ext cx="1270000" cy="6242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90"/>
                </a:lnSpc>
              </a:pPr>
              <a:r>
                <a:rPr lang="es-CL" sz="285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HS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222500" y="473075"/>
              <a:ext cx="7493000" cy="4565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lang="es-CL" sz="24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Héctor Sanhueza Castro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222500" y="1266825"/>
              <a:ext cx="7493000" cy="3105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IA Y PRUEBAS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222500" y="1949450"/>
              <a:ext cx="7493000" cy="393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Análisis IA, pruebas e integración</a:t>
              </a:r>
            </a:p>
          </p:txBody>
        </p:sp>
      </p:grpSp>
      <p:grpSp>
        <p:nvGrpSpPr>
          <p:cNvPr id="56" name="Grupo 55">
            <a:extLst>
              <a:ext uri="{FF2B5EF4-FFF2-40B4-BE49-F238E27FC236}">
                <a16:creationId xmlns:a16="http://schemas.microsoft.com/office/drawing/2014/main" id="{BC35A9AA-D854-65AC-5F45-E982A979C2CB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3" name="TextBox 3"/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53" name="Imagen 52">
              <a:extLst>
                <a:ext uri="{FF2B5EF4-FFF2-40B4-BE49-F238E27FC236}">
                  <a16:creationId xmlns:a16="http://schemas.microsoft.com/office/drawing/2014/main" id="{9341C206-B676-C166-9BE2-03774A84D4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55" name="AutoShape 5">
              <a:extLst>
                <a:ext uri="{FF2B5EF4-FFF2-40B4-BE49-F238E27FC236}">
                  <a16:creationId xmlns:a16="http://schemas.microsoft.com/office/drawing/2014/main" id="{BE14F98C-1342-BEE5-C07F-E14D54826629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982317" y="3081130"/>
            <a:ext cx="5715000" cy="4000500"/>
            <a:chOff x="0" y="0"/>
            <a:chExt cx="7620000" cy="5334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620000" cy="5334000"/>
            </a:xfrm>
            <a:custGeom>
              <a:avLst/>
              <a:gdLst/>
              <a:ahLst/>
              <a:cxnLst/>
              <a:rect l="l" t="t" r="r" b="b"/>
              <a:pathLst>
                <a:path w="7620000" h="5334000">
                  <a:moveTo>
                    <a:pt x="25400" y="0"/>
                  </a:moveTo>
                  <a:lnTo>
                    <a:pt x="7594600" y="0"/>
                  </a:lnTo>
                  <a:cubicBezTo>
                    <a:pt x="7608628" y="0"/>
                    <a:pt x="7620000" y="11372"/>
                    <a:pt x="7620000" y="25400"/>
                  </a:cubicBezTo>
                  <a:lnTo>
                    <a:pt x="7620000" y="5308600"/>
                  </a:lnTo>
                  <a:cubicBezTo>
                    <a:pt x="7620000" y="5322628"/>
                    <a:pt x="7608628" y="5334000"/>
                    <a:pt x="7594600" y="5334000"/>
                  </a:cubicBezTo>
                  <a:lnTo>
                    <a:pt x="25400" y="5334000"/>
                  </a:lnTo>
                  <a:cubicBezTo>
                    <a:pt x="11372" y="5334000"/>
                    <a:pt x="0" y="5322628"/>
                    <a:pt x="0" y="5308600"/>
                  </a:cubicBezTo>
                  <a:lnTo>
                    <a:pt x="0" y="25400"/>
                  </a:lnTo>
                  <a:cubicBezTo>
                    <a:pt x="0" y="11372"/>
                    <a:pt x="11372" y="0"/>
                    <a:pt x="25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 noProof="0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19050"/>
              <a:ext cx="7620000" cy="53149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10"/>
                </a:lnSpc>
              </a:pPr>
              <a:r>
                <a:rPr lang="es-CL" sz="21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PROBLEMA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20500" y="2571750"/>
            <a:ext cx="5810250" cy="4572000"/>
            <a:chOff x="0" y="0"/>
            <a:chExt cx="7747000" cy="609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747000" cy="6096000"/>
            </a:xfrm>
            <a:custGeom>
              <a:avLst/>
              <a:gdLst/>
              <a:ahLst/>
              <a:cxnLst/>
              <a:rect l="l" t="t" r="r" b="b"/>
              <a:pathLst>
                <a:path w="7747000" h="6096000">
                  <a:moveTo>
                    <a:pt x="24984" y="0"/>
                  </a:moveTo>
                  <a:lnTo>
                    <a:pt x="7722016" y="0"/>
                  </a:lnTo>
                  <a:cubicBezTo>
                    <a:pt x="7728642" y="0"/>
                    <a:pt x="7734997" y="2632"/>
                    <a:pt x="7739683" y="7318"/>
                  </a:cubicBezTo>
                  <a:cubicBezTo>
                    <a:pt x="7744368" y="12003"/>
                    <a:pt x="7747000" y="18358"/>
                    <a:pt x="7747000" y="24984"/>
                  </a:cubicBezTo>
                  <a:lnTo>
                    <a:pt x="7747000" y="6071016"/>
                  </a:lnTo>
                  <a:cubicBezTo>
                    <a:pt x="7747000" y="6077643"/>
                    <a:pt x="7744368" y="6083997"/>
                    <a:pt x="7739683" y="6088683"/>
                  </a:cubicBezTo>
                  <a:cubicBezTo>
                    <a:pt x="7734997" y="6093368"/>
                    <a:pt x="7728642" y="6096000"/>
                    <a:pt x="7722016" y="6096000"/>
                  </a:cubicBezTo>
                  <a:lnTo>
                    <a:pt x="24984" y="6096000"/>
                  </a:lnTo>
                  <a:cubicBezTo>
                    <a:pt x="18358" y="6096000"/>
                    <a:pt x="12003" y="6093368"/>
                    <a:pt x="7318" y="6088683"/>
                  </a:cubicBezTo>
                  <a:cubicBezTo>
                    <a:pt x="2632" y="6083997"/>
                    <a:pt x="0" y="6077643"/>
                    <a:pt x="0" y="6071016"/>
                  </a:cubicBezTo>
                  <a:lnTo>
                    <a:pt x="0" y="24984"/>
                  </a:lnTo>
                  <a:cubicBezTo>
                    <a:pt x="0" y="18358"/>
                    <a:pt x="2632" y="12003"/>
                    <a:pt x="7318" y="7318"/>
                  </a:cubicBezTo>
                  <a:cubicBezTo>
                    <a:pt x="12003" y="2632"/>
                    <a:pt x="18358" y="0"/>
                    <a:pt x="24984" y="0"/>
                  </a:cubicBezTo>
                  <a:close/>
                </a:path>
              </a:pathLst>
            </a:custGeom>
            <a:solidFill>
              <a:srgbClr val="082B4C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 noProof="0" dirty="0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28575"/>
              <a:ext cx="7747000" cy="6067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92"/>
                </a:lnSpc>
              </a:pPr>
              <a:r>
                <a:rPr lang="es-CL" sz="2175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TTDH AUTOMATION</a:t>
              </a:r>
            </a:p>
          </p:txBody>
        </p:sp>
      </p:grpSp>
      <p:sp>
        <p:nvSpPr>
          <p:cNvPr id="13" name="AutoShape 13"/>
          <p:cNvSpPr/>
          <p:nvPr/>
        </p:nvSpPr>
        <p:spPr>
          <a:xfrm>
            <a:off x="6858000" y="5162550"/>
            <a:ext cx="4572000" cy="0"/>
          </a:xfrm>
          <a:prstGeom prst="line">
            <a:avLst/>
          </a:prstGeom>
          <a:ln w="38100" cap="rnd">
            <a:solidFill>
              <a:srgbClr val="F5822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s-CL" noProof="0" dirty="0"/>
          </a:p>
        </p:txBody>
      </p:sp>
      <p:sp>
        <p:nvSpPr>
          <p:cNvPr id="14" name="TextBox 14"/>
          <p:cNvSpPr txBox="1"/>
          <p:nvPr/>
        </p:nvSpPr>
        <p:spPr>
          <a:xfrm>
            <a:off x="1506192" y="3879056"/>
            <a:ext cx="4667250" cy="21288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s-CL" sz="1875" noProof="0" dirty="0">
                <a:solidFill>
                  <a:srgbClr val="082B4C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Procesamiento manual de gran volumen</a:t>
            </a:r>
          </a:p>
          <a:p>
            <a:pPr algn="l">
              <a:lnSpc>
                <a:spcPts val="2437"/>
              </a:lnSpc>
            </a:pPr>
            <a:endParaRPr lang="es-CL" sz="1875" noProof="0" dirty="0">
              <a:solidFill>
                <a:srgbClr val="082B4C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algn="l">
              <a:lnSpc>
                <a:spcPts val="2437"/>
              </a:lnSpc>
            </a:pPr>
            <a:r>
              <a:rPr lang="es-CL" sz="1875" noProof="0" dirty="0">
                <a:solidFill>
                  <a:srgbClr val="082B4C"/>
                </a:solidFill>
                <a:latin typeface="Source Sans 3"/>
                <a:ea typeface="Source Sans 3"/>
                <a:cs typeface="Source Sans 3"/>
                <a:sym typeface="Source Sans 3"/>
              </a:rPr>
              <a:t>Errores, duplicidades e inconsistencias</a:t>
            </a:r>
          </a:p>
          <a:p>
            <a:pPr algn="l">
              <a:lnSpc>
                <a:spcPts val="2437"/>
              </a:lnSpc>
            </a:pPr>
            <a:endParaRPr lang="es-CL" sz="1875" noProof="0" dirty="0">
              <a:solidFill>
                <a:srgbClr val="082B4C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algn="l">
              <a:lnSpc>
                <a:spcPts val="2437"/>
              </a:lnSpc>
            </a:pPr>
            <a:endParaRPr lang="es-CL" sz="1875" noProof="0" dirty="0">
              <a:solidFill>
                <a:srgbClr val="082B4C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algn="l">
              <a:lnSpc>
                <a:spcPts val="2437"/>
              </a:lnSpc>
            </a:pPr>
            <a:endParaRPr lang="es-CL" sz="1875" noProof="0" dirty="0">
              <a:solidFill>
                <a:srgbClr val="082B4C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algn="l">
              <a:lnSpc>
                <a:spcPts val="2437"/>
              </a:lnSpc>
            </a:pPr>
            <a:r>
              <a:rPr lang="es-CL" sz="1875" noProof="0" dirty="0">
                <a:solidFill>
                  <a:srgbClr val="082B4C"/>
                </a:solidFill>
                <a:latin typeface="Source Sans 3"/>
                <a:ea typeface="Source Sans 3"/>
                <a:cs typeface="Source Sans 3"/>
                <a:sym typeface="Source Sans 3"/>
              </a:rPr>
              <a:t>Baja trazabilidad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91375" y="4629150"/>
            <a:ext cx="390525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5"/>
              </a:lnSpc>
            </a:pPr>
            <a:r>
              <a:rPr lang="es-CL" sz="1875" b="1" noProof="0" dirty="0">
                <a:solidFill>
                  <a:srgbClr val="F5822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INTEGRAR  →  AUTOMATIZAR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192000" y="3695700"/>
            <a:ext cx="4667250" cy="151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s-CL" sz="1875" noProof="0" dirty="0">
                <a:solidFill>
                  <a:srgbClr val="082B4C"/>
                </a:solidFill>
                <a:latin typeface="Source Sans 3"/>
                <a:ea typeface="Source Sans 3"/>
                <a:cs typeface="Source Sans 3"/>
                <a:sym typeface="Source Sans 3"/>
              </a:rPr>
              <a:t>ETL, validaciones y reglas de negocio</a:t>
            </a:r>
          </a:p>
          <a:p>
            <a:pPr algn="l">
              <a:lnSpc>
                <a:spcPts val="2437"/>
              </a:lnSpc>
            </a:pPr>
            <a:endParaRPr lang="es-CL" sz="1875" noProof="0" dirty="0">
              <a:solidFill>
                <a:srgbClr val="082B4C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algn="l">
              <a:lnSpc>
                <a:spcPts val="2437"/>
              </a:lnSpc>
            </a:pPr>
            <a:r>
              <a:rPr lang="es-CL" sz="1875" noProof="0" dirty="0">
                <a:solidFill>
                  <a:srgbClr val="082B4C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Comparación histórica y trazabilidad</a:t>
            </a:r>
          </a:p>
          <a:p>
            <a:pPr algn="l">
              <a:lnSpc>
                <a:spcPts val="2437"/>
              </a:lnSpc>
            </a:pPr>
            <a:endParaRPr lang="es-CL" sz="1875" noProof="0" dirty="0">
              <a:solidFill>
                <a:srgbClr val="082B4C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algn="l">
              <a:lnSpc>
                <a:spcPts val="2437"/>
              </a:lnSpc>
            </a:pPr>
            <a:r>
              <a:rPr lang="es-CL" sz="1875" noProof="0" dirty="0">
                <a:solidFill>
                  <a:srgbClr val="082B4C"/>
                </a:solidFill>
                <a:latin typeface="Source Sans 3"/>
                <a:ea typeface="Source Sans 3"/>
                <a:cs typeface="Source Sans 3"/>
                <a:sym typeface="Source Sans 3"/>
              </a:rPr>
              <a:t>Reportes parametrizables + apoyo IA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000500" y="8058150"/>
            <a:ext cx="1028700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5"/>
              </a:lnSpc>
            </a:pPr>
            <a:r>
              <a:rPr lang="es-CL" sz="1875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 un proceso fragmentado a una plataforma integrada, verificable y escalable.</a:t>
            </a:r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E383E78D-144C-2C00-963E-0B603F6DBC86}"/>
              </a:ext>
            </a:extLst>
          </p:cNvPr>
          <p:cNvSpPr txBox="1"/>
          <p:nvPr/>
        </p:nvSpPr>
        <p:spPr>
          <a:xfrm>
            <a:off x="857250" y="1551623"/>
            <a:ext cx="14287500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52"/>
              </a:lnSpc>
            </a:pPr>
            <a:r>
              <a:rPr lang="es-CL" sz="4050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Descripción del Proyecto</a:t>
            </a:r>
          </a:p>
        </p:txBody>
      </p:sp>
      <p:grpSp>
        <p:nvGrpSpPr>
          <p:cNvPr id="22" name="Grupo 21">
            <a:extLst>
              <a:ext uri="{FF2B5EF4-FFF2-40B4-BE49-F238E27FC236}">
                <a16:creationId xmlns:a16="http://schemas.microsoft.com/office/drawing/2014/main" id="{347E38E2-F85D-B59E-C1FC-CB6A8FC8BA04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23" name="TextBox 3">
              <a:extLst>
                <a:ext uri="{FF2B5EF4-FFF2-40B4-BE49-F238E27FC236}">
                  <a16:creationId xmlns:a16="http://schemas.microsoft.com/office/drawing/2014/main" id="{4899A9F0-3E24-5DB4-F7C6-78FCD9D3B487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24" name="Imagen 23">
              <a:extLst>
                <a:ext uri="{FF2B5EF4-FFF2-40B4-BE49-F238E27FC236}">
                  <a16:creationId xmlns:a16="http://schemas.microsoft.com/office/drawing/2014/main" id="{5A2167D7-CBC5-0BE4-BC3B-091A781C4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25" name="AutoShape 5">
              <a:extLst>
                <a:ext uri="{FF2B5EF4-FFF2-40B4-BE49-F238E27FC236}">
                  <a16:creationId xmlns:a16="http://schemas.microsoft.com/office/drawing/2014/main" id="{AF479E21-9AD4-AB43-95AD-A224C33F2EBD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upo 40">
            <a:extLst>
              <a:ext uri="{FF2B5EF4-FFF2-40B4-BE49-F238E27FC236}">
                <a16:creationId xmlns:a16="http://schemas.microsoft.com/office/drawing/2014/main" id="{DD14A437-1D64-A67C-7FF7-B171C682F5D6}"/>
              </a:ext>
            </a:extLst>
          </p:cNvPr>
          <p:cNvGrpSpPr/>
          <p:nvPr/>
        </p:nvGrpSpPr>
        <p:grpSpPr>
          <a:xfrm>
            <a:off x="952500" y="2795587"/>
            <a:ext cx="16383000" cy="2095500"/>
            <a:chOff x="952500" y="1790700"/>
            <a:chExt cx="16383000" cy="2095500"/>
          </a:xfrm>
        </p:grpSpPr>
        <p:grpSp>
          <p:nvGrpSpPr>
            <p:cNvPr id="7" name="Group 7"/>
            <p:cNvGrpSpPr/>
            <p:nvPr/>
          </p:nvGrpSpPr>
          <p:grpSpPr>
            <a:xfrm>
              <a:off x="952500" y="1790700"/>
              <a:ext cx="16383000" cy="2095500"/>
              <a:chOff x="0" y="0"/>
              <a:chExt cx="21844000" cy="27940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1844000" cy="2794000"/>
              </a:xfrm>
              <a:custGeom>
                <a:avLst/>
                <a:gdLst/>
                <a:ahLst/>
                <a:cxnLst/>
                <a:rect l="l" t="t" r="r" b="b"/>
                <a:pathLst>
                  <a:path w="21844000" h="2794000">
                    <a:moveTo>
                      <a:pt x="0" y="0"/>
                    </a:moveTo>
                    <a:lnTo>
                      <a:pt x="21844000" y="0"/>
                    </a:lnTo>
                    <a:lnTo>
                      <a:pt x="21844000" y="2794000"/>
                    </a:lnTo>
                    <a:lnTo>
                      <a:pt x="0" y="2794000"/>
                    </a:lnTo>
                    <a:close/>
                  </a:path>
                </a:pathLst>
              </a:custGeom>
              <a:solidFill>
                <a:srgbClr val="EAF3F8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21844000" cy="2832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7239000" y="1924050"/>
              <a:ext cx="3810000" cy="2400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OBJETIVO GENERAL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38250" y="2333625"/>
              <a:ext cx="15811500" cy="9144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</a:pPr>
              <a:r>
                <a:rPr lang="es-CL" sz="2625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Desarrollar una plataforma para integrar y automatizar registros de deudores, validación, análisis y reportes con ETL, reglas de negocio, trazabilidad e IA.</a:t>
              </a:r>
            </a:p>
          </p:txBody>
        </p: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156A67E2-8121-AB0E-8BCD-89CFD65FE90F}"/>
              </a:ext>
            </a:extLst>
          </p:cNvPr>
          <p:cNvGrpSpPr/>
          <p:nvPr/>
        </p:nvGrpSpPr>
        <p:grpSpPr>
          <a:xfrm>
            <a:off x="952500" y="6434137"/>
            <a:ext cx="16002000" cy="1757363"/>
            <a:chOff x="952500" y="5429250"/>
            <a:chExt cx="16002000" cy="1757363"/>
          </a:xfrm>
        </p:grpSpPr>
        <p:grpSp>
          <p:nvGrpSpPr>
            <p:cNvPr id="12" name="Group 12"/>
            <p:cNvGrpSpPr/>
            <p:nvPr/>
          </p:nvGrpSpPr>
          <p:grpSpPr>
            <a:xfrm>
              <a:off x="952500" y="5429250"/>
              <a:ext cx="3429000" cy="1190625"/>
              <a:chOff x="0" y="0"/>
              <a:chExt cx="4572000" cy="15875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4572000" cy="1587500"/>
              </a:xfrm>
              <a:custGeom>
                <a:avLst/>
                <a:gdLst/>
                <a:ahLst/>
                <a:cxnLst/>
                <a:rect l="l" t="t" r="r" b="b"/>
                <a:pathLst>
                  <a:path w="4572000" h="1587500">
                    <a:moveTo>
                      <a:pt x="42333" y="0"/>
                    </a:moveTo>
                    <a:lnTo>
                      <a:pt x="4529667" y="0"/>
                    </a:lnTo>
                    <a:cubicBezTo>
                      <a:pt x="4540894" y="0"/>
                      <a:pt x="4551662" y="4460"/>
                      <a:pt x="4559601" y="12399"/>
                    </a:cubicBezTo>
                    <a:cubicBezTo>
                      <a:pt x="4567540" y="20338"/>
                      <a:pt x="4572000" y="31106"/>
                      <a:pt x="4572000" y="42333"/>
                    </a:cubicBezTo>
                    <a:lnTo>
                      <a:pt x="4572000" y="1545167"/>
                    </a:lnTo>
                    <a:cubicBezTo>
                      <a:pt x="4572000" y="1556394"/>
                      <a:pt x="4567540" y="1567162"/>
                      <a:pt x="4559601" y="1575101"/>
                    </a:cubicBezTo>
                    <a:cubicBezTo>
                      <a:pt x="4551662" y="1583040"/>
                      <a:pt x="4540894" y="1587500"/>
                      <a:pt x="4529667" y="1587500"/>
                    </a:cubicBezTo>
                    <a:lnTo>
                      <a:pt x="42333" y="1587500"/>
                    </a:lnTo>
                    <a:cubicBezTo>
                      <a:pt x="31106" y="1587500"/>
                      <a:pt x="20338" y="1583040"/>
                      <a:pt x="12399" y="1575101"/>
                    </a:cubicBezTo>
                    <a:cubicBezTo>
                      <a:pt x="4460" y="1567162"/>
                      <a:pt x="0" y="1556394"/>
                      <a:pt x="0" y="1545167"/>
                    </a:cubicBezTo>
                    <a:lnTo>
                      <a:pt x="0" y="42333"/>
                    </a:lnTo>
                    <a:cubicBezTo>
                      <a:pt x="0" y="31106"/>
                      <a:pt x="4460" y="20338"/>
                      <a:pt x="12399" y="12399"/>
                    </a:cubicBezTo>
                    <a:cubicBezTo>
                      <a:pt x="20338" y="4460"/>
                      <a:pt x="31106" y="0"/>
                      <a:pt x="42333" y="0"/>
                    </a:cubicBez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9525"/>
                <a:ext cx="4572000" cy="1577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32"/>
                  </a:lnSpc>
                </a:pPr>
                <a:r>
                  <a:rPr lang="es-CL" sz="1575" b="1" noProof="0" dirty="0">
                    <a:solidFill>
                      <a:srgbClr val="FFFFFF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01  ANALIZAR</a:t>
                </a:r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952500" y="6886575"/>
              <a:ext cx="3429000" cy="3000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Requerimientos, fuentes y reglas</a:t>
              </a:r>
            </a:p>
          </p:txBody>
        </p:sp>
        <p:sp>
          <p:nvSpPr>
            <p:cNvPr id="16" name="AutoShape 16"/>
            <p:cNvSpPr/>
            <p:nvPr/>
          </p:nvSpPr>
          <p:spPr>
            <a:xfrm>
              <a:off x="4476750" y="6019800"/>
              <a:ext cx="523875" cy="0"/>
            </a:xfrm>
            <a:prstGeom prst="line">
              <a:avLst/>
            </a:prstGeom>
            <a:ln w="38100" cap="rnd">
              <a:solidFill>
                <a:srgbClr val="0878B9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s-CL" noProof="0" dirty="0"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5143500" y="5429250"/>
              <a:ext cx="3429000" cy="1190625"/>
              <a:chOff x="0" y="0"/>
              <a:chExt cx="4572000" cy="15875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572000" cy="1587500"/>
              </a:xfrm>
              <a:custGeom>
                <a:avLst/>
                <a:gdLst/>
                <a:ahLst/>
                <a:cxnLst/>
                <a:rect l="l" t="t" r="r" b="b"/>
                <a:pathLst>
                  <a:path w="4572000" h="1587500">
                    <a:moveTo>
                      <a:pt x="42333" y="0"/>
                    </a:moveTo>
                    <a:lnTo>
                      <a:pt x="4529667" y="0"/>
                    </a:lnTo>
                    <a:cubicBezTo>
                      <a:pt x="4540894" y="0"/>
                      <a:pt x="4551662" y="4460"/>
                      <a:pt x="4559601" y="12399"/>
                    </a:cubicBezTo>
                    <a:cubicBezTo>
                      <a:pt x="4567540" y="20338"/>
                      <a:pt x="4572000" y="31106"/>
                      <a:pt x="4572000" y="42333"/>
                    </a:cubicBezTo>
                    <a:lnTo>
                      <a:pt x="4572000" y="1545167"/>
                    </a:lnTo>
                    <a:cubicBezTo>
                      <a:pt x="4572000" y="1556394"/>
                      <a:pt x="4567540" y="1567162"/>
                      <a:pt x="4559601" y="1575101"/>
                    </a:cubicBezTo>
                    <a:cubicBezTo>
                      <a:pt x="4551662" y="1583040"/>
                      <a:pt x="4540894" y="1587500"/>
                      <a:pt x="4529667" y="1587500"/>
                    </a:cubicBezTo>
                    <a:lnTo>
                      <a:pt x="42333" y="1587500"/>
                    </a:lnTo>
                    <a:cubicBezTo>
                      <a:pt x="31106" y="1587500"/>
                      <a:pt x="20338" y="1583040"/>
                      <a:pt x="12399" y="1575101"/>
                    </a:cubicBezTo>
                    <a:cubicBezTo>
                      <a:pt x="4460" y="1567162"/>
                      <a:pt x="0" y="1556394"/>
                      <a:pt x="0" y="1545167"/>
                    </a:cubicBezTo>
                    <a:lnTo>
                      <a:pt x="0" y="42333"/>
                    </a:lnTo>
                    <a:cubicBezTo>
                      <a:pt x="0" y="31106"/>
                      <a:pt x="4460" y="20338"/>
                      <a:pt x="12399" y="12399"/>
                    </a:cubicBezTo>
                    <a:cubicBezTo>
                      <a:pt x="20338" y="4460"/>
                      <a:pt x="31106" y="0"/>
                      <a:pt x="42333" y="0"/>
                    </a:cubicBez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9525"/>
                <a:ext cx="4572000" cy="1577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32"/>
                  </a:lnSpc>
                </a:pPr>
                <a:r>
                  <a:rPr lang="es-CL" sz="1575" b="1" noProof="0" dirty="0">
                    <a:solidFill>
                      <a:srgbClr val="FFFFFF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02  DISEÑAR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5143500" y="6886575"/>
              <a:ext cx="3429000" cy="3000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Arquitectura, datos e integración</a:t>
              </a:r>
            </a:p>
          </p:txBody>
        </p:sp>
        <p:sp>
          <p:nvSpPr>
            <p:cNvPr id="21" name="AutoShape 21"/>
            <p:cNvSpPr/>
            <p:nvPr/>
          </p:nvSpPr>
          <p:spPr>
            <a:xfrm>
              <a:off x="8667750" y="6019800"/>
              <a:ext cx="523875" cy="0"/>
            </a:xfrm>
            <a:prstGeom prst="line">
              <a:avLst/>
            </a:prstGeom>
            <a:ln w="38100" cap="rnd">
              <a:solidFill>
                <a:srgbClr val="0878B9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s-CL" noProof="0" dirty="0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9334500" y="5429250"/>
              <a:ext cx="3429000" cy="1190625"/>
              <a:chOff x="0" y="0"/>
              <a:chExt cx="4572000" cy="15875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4572000" cy="1587500"/>
              </a:xfrm>
              <a:custGeom>
                <a:avLst/>
                <a:gdLst/>
                <a:ahLst/>
                <a:cxnLst/>
                <a:rect l="l" t="t" r="r" b="b"/>
                <a:pathLst>
                  <a:path w="4572000" h="1587500">
                    <a:moveTo>
                      <a:pt x="42333" y="0"/>
                    </a:moveTo>
                    <a:lnTo>
                      <a:pt x="4529667" y="0"/>
                    </a:lnTo>
                    <a:cubicBezTo>
                      <a:pt x="4540894" y="0"/>
                      <a:pt x="4551662" y="4460"/>
                      <a:pt x="4559601" y="12399"/>
                    </a:cubicBezTo>
                    <a:cubicBezTo>
                      <a:pt x="4567540" y="20338"/>
                      <a:pt x="4572000" y="31106"/>
                      <a:pt x="4572000" y="42333"/>
                    </a:cubicBezTo>
                    <a:lnTo>
                      <a:pt x="4572000" y="1545167"/>
                    </a:lnTo>
                    <a:cubicBezTo>
                      <a:pt x="4572000" y="1556394"/>
                      <a:pt x="4567540" y="1567162"/>
                      <a:pt x="4559601" y="1575101"/>
                    </a:cubicBezTo>
                    <a:cubicBezTo>
                      <a:pt x="4551662" y="1583040"/>
                      <a:pt x="4540894" y="1587500"/>
                      <a:pt x="4529667" y="1587500"/>
                    </a:cubicBezTo>
                    <a:lnTo>
                      <a:pt x="42333" y="1587500"/>
                    </a:lnTo>
                    <a:cubicBezTo>
                      <a:pt x="31106" y="1587500"/>
                      <a:pt x="20338" y="1583040"/>
                      <a:pt x="12399" y="1575101"/>
                    </a:cubicBezTo>
                    <a:cubicBezTo>
                      <a:pt x="4460" y="1567162"/>
                      <a:pt x="0" y="1556394"/>
                      <a:pt x="0" y="1545167"/>
                    </a:cubicBezTo>
                    <a:lnTo>
                      <a:pt x="0" y="42333"/>
                    </a:lnTo>
                    <a:cubicBezTo>
                      <a:pt x="0" y="31106"/>
                      <a:pt x="4460" y="20338"/>
                      <a:pt x="12399" y="12399"/>
                    </a:cubicBezTo>
                    <a:cubicBezTo>
                      <a:pt x="20338" y="4460"/>
                      <a:pt x="31106" y="0"/>
                      <a:pt x="42333" y="0"/>
                    </a:cubicBez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9525"/>
                <a:ext cx="4572000" cy="1577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32"/>
                  </a:lnSpc>
                </a:pPr>
                <a:r>
                  <a:rPr lang="es-CL" sz="1575" b="1" noProof="0" dirty="0">
                    <a:solidFill>
                      <a:srgbClr val="FFFFFF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03  DESARROLLAR E INTEGRAR</a:t>
                </a:r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9334500" y="6886575"/>
              <a:ext cx="3429000" cy="3000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Componentes y automatización</a:t>
              </a:r>
            </a:p>
          </p:txBody>
        </p:sp>
        <p:sp>
          <p:nvSpPr>
            <p:cNvPr id="26" name="AutoShape 26"/>
            <p:cNvSpPr/>
            <p:nvPr/>
          </p:nvSpPr>
          <p:spPr>
            <a:xfrm>
              <a:off x="12858750" y="6019800"/>
              <a:ext cx="523875" cy="0"/>
            </a:xfrm>
            <a:prstGeom prst="line">
              <a:avLst/>
            </a:prstGeom>
            <a:ln w="38100" cap="rnd">
              <a:solidFill>
                <a:srgbClr val="0878B9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endParaRPr lang="es-CL" noProof="0" dirty="0"/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13525500" y="5429250"/>
              <a:ext cx="3429000" cy="1190625"/>
              <a:chOff x="0" y="0"/>
              <a:chExt cx="4572000" cy="15875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4572000" cy="1587500"/>
              </a:xfrm>
              <a:custGeom>
                <a:avLst/>
                <a:gdLst/>
                <a:ahLst/>
                <a:cxnLst/>
                <a:rect l="l" t="t" r="r" b="b"/>
                <a:pathLst>
                  <a:path w="4572000" h="1587500">
                    <a:moveTo>
                      <a:pt x="42333" y="0"/>
                    </a:moveTo>
                    <a:lnTo>
                      <a:pt x="4529667" y="0"/>
                    </a:lnTo>
                    <a:cubicBezTo>
                      <a:pt x="4540894" y="0"/>
                      <a:pt x="4551662" y="4460"/>
                      <a:pt x="4559601" y="12399"/>
                    </a:cubicBezTo>
                    <a:cubicBezTo>
                      <a:pt x="4567540" y="20338"/>
                      <a:pt x="4572000" y="31106"/>
                      <a:pt x="4572000" y="42333"/>
                    </a:cubicBezTo>
                    <a:lnTo>
                      <a:pt x="4572000" y="1545167"/>
                    </a:lnTo>
                    <a:cubicBezTo>
                      <a:pt x="4572000" y="1556394"/>
                      <a:pt x="4567540" y="1567162"/>
                      <a:pt x="4559601" y="1575101"/>
                    </a:cubicBezTo>
                    <a:cubicBezTo>
                      <a:pt x="4551662" y="1583040"/>
                      <a:pt x="4540894" y="1587500"/>
                      <a:pt x="4529667" y="1587500"/>
                    </a:cubicBezTo>
                    <a:lnTo>
                      <a:pt x="42333" y="1587500"/>
                    </a:lnTo>
                    <a:cubicBezTo>
                      <a:pt x="31106" y="1587500"/>
                      <a:pt x="20338" y="1583040"/>
                      <a:pt x="12399" y="1575101"/>
                    </a:cubicBezTo>
                    <a:cubicBezTo>
                      <a:pt x="4460" y="1567162"/>
                      <a:pt x="0" y="1556394"/>
                      <a:pt x="0" y="1545167"/>
                    </a:cubicBezTo>
                    <a:lnTo>
                      <a:pt x="0" y="42333"/>
                    </a:lnTo>
                    <a:cubicBezTo>
                      <a:pt x="0" y="31106"/>
                      <a:pt x="4460" y="20338"/>
                      <a:pt x="12399" y="12399"/>
                    </a:cubicBezTo>
                    <a:cubicBezTo>
                      <a:pt x="20338" y="4460"/>
                      <a:pt x="31106" y="0"/>
                      <a:pt x="42333" y="0"/>
                    </a:cubicBezTo>
                    <a:close/>
                  </a:path>
                </a:pathLst>
              </a:custGeom>
              <a:solidFill>
                <a:srgbClr val="F5822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9525"/>
                <a:ext cx="4572000" cy="1577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32"/>
                  </a:lnSpc>
                </a:pPr>
                <a:r>
                  <a:rPr lang="es-CL" sz="1575" b="1" noProof="0" dirty="0">
                    <a:solidFill>
                      <a:srgbClr val="FFFFFF"/>
                    </a:solidFill>
                    <a:latin typeface="Montserrat Bold"/>
                    <a:ea typeface="Montserrat Bold"/>
                    <a:cs typeface="Montserrat Bold"/>
                    <a:sym typeface="Montserrat Bold"/>
                  </a:rPr>
                  <a:t>04  VALIDAR</a:t>
                </a:r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525500" y="6886575"/>
              <a:ext cx="3429000" cy="3000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Pruebas funcionales e integración</a:t>
              </a:r>
            </a:p>
          </p:txBody>
        </p:sp>
      </p:grpSp>
      <p:sp>
        <p:nvSpPr>
          <p:cNvPr id="36" name="TextBox 6">
            <a:extLst>
              <a:ext uri="{FF2B5EF4-FFF2-40B4-BE49-F238E27FC236}">
                <a16:creationId xmlns:a16="http://schemas.microsoft.com/office/drawing/2014/main" id="{9D7D2566-3C68-CC16-EA33-FA7885247033}"/>
              </a:ext>
            </a:extLst>
          </p:cNvPr>
          <p:cNvSpPr txBox="1"/>
          <p:nvPr/>
        </p:nvSpPr>
        <p:spPr>
          <a:xfrm>
            <a:off x="857250" y="1551623"/>
            <a:ext cx="14287500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52"/>
              </a:lnSpc>
            </a:pPr>
            <a:r>
              <a:rPr lang="es-CL" sz="4050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Objetivos</a:t>
            </a:r>
          </a:p>
        </p:txBody>
      </p:sp>
      <p:grpSp>
        <p:nvGrpSpPr>
          <p:cNvPr id="37" name="Grupo 36">
            <a:extLst>
              <a:ext uri="{FF2B5EF4-FFF2-40B4-BE49-F238E27FC236}">
                <a16:creationId xmlns:a16="http://schemas.microsoft.com/office/drawing/2014/main" id="{9542EA1C-1297-43F3-F963-8A929C404426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38" name="TextBox 3">
              <a:extLst>
                <a:ext uri="{FF2B5EF4-FFF2-40B4-BE49-F238E27FC236}">
                  <a16:creationId xmlns:a16="http://schemas.microsoft.com/office/drawing/2014/main" id="{A20F4DC5-24A7-A303-0B8D-07514088184A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39" name="Imagen 38">
              <a:extLst>
                <a:ext uri="{FF2B5EF4-FFF2-40B4-BE49-F238E27FC236}">
                  <a16:creationId xmlns:a16="http://schemas.microsoft.com/office/drawing/2014/main" id="{C41C474D-A382-AC4D-9DA8-457D609FF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40" name="AutoShape 5">
              <a:extLst>
                <a:ext uri="{FF2B5EF4-FFF2-40B4-BE49-F238E27FC236}">
                  <a16:creationId xmlns:a16="http://schemas.microsoft.com/office/drawing/2014/main" id="{67D790FB-5F48-E25A-0E15-1FA7A504EA22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upo 30">
            <a:extLst>
              <a:ext uri="{FF2B5EF4-FFF2-40B4-BE49-F238E27FC236}">
                <a16:creationId xmlns:a16="http://schemas.microsoft.com/office/drawing/2014/main" id="{6293FDA1-F0D8-BFC9-5DD4-B87209A2C1E8}"/>
              </a:ext>
            </a:extLst>
          </p:cNvPr>
          <p:cNvGrpSpPr/>
          <p:nvPr/>
        </p:nvGrpSpPr>
        <p:grpSpPr>
          <a:xfrm>
            <a:off x="857250" y="2857500"/>
            <a:ext cx="7620000" cy="6191250"/>
            <a:chOff x="857250" y="2143125"/>
            <a:chExt cx="7620000" cy="6191250"/>
          </a:xfrm>
        </p:grpSpPr>
        <p:grpSp>
          <p:nvGrpSpPr>
            <p:cNvPr id="7" name="Group 7"/>
            <p:cNvGrpSpPr/>
            <p:nvPr/>
          </p:nvGrpSpPr>
          <p:grpSpPr>
            <a:xfrm>
              <a:off x="857250" y="2143125"/>
              <a:ext cx="7620000" cy="6191250"/>
              <a:chOff x="0" y="0"/>
              <a:chExt cx="10160000" cy="82550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10160000" cy="8255000"/>
              </a:xfrm>
              <a:custGeom>
                <a:avLst/>
                <a:gdLst/>
                <a:ahLst/>
                <a:cxnLst/>
                <a:rect l="l" t="t" r="r" b="b"/>
                <a:pathLst>
                  <a:path w="10160000" h="8255000">
                    <a:moveTo>
                      <a:pt x="0" y="0"/>
                    </a:moveTo>
                    <a:lnTo>
                      <a:pt x="10160000" y="0"/>
                    </a:lnTo>
                    <a:lnTo>
                      <a:pt x="10160000" y="8255000"/>
                    </a:lnTo>
                    <a:lnTo>
                      <a:pt x="0" y="8255000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10160000" cy="8293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857250" y="2143125"/>
              <a:ext cx="114300" cy="6191250"/>
              <a:chOff x="0" y="0"/>
              <a:chExt cx="152400" cy="8255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152400" cy="8255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255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8255000"/>
                    </a:lnTo>
                    <a:lnTo>
                      <a:pt x="0" y="8255000"/>
                    </a:lnTo>
                    <a:close/>
                  </a:path>
                </a:pathLst>
              </a:custGeom>
              <a:solidFill>
                <a:srgbClr val="16B6C8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38100"/>
                <a:ext cx="152400" cy="8293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1381125" y="2457450"/>
              <a:ext cx="6191250" cy="335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lang="es-CL" sz="24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ALCANCES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81125" y="3219450"/>
              <a:ext cx="6667500" cy="18240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• Recepción y procesamiento de información</a:t>
              </a:r>
            </a:p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• Integración Tesorería y Banco</a:t>
              </a:r>
            </a:p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• ETL, modelo de datos y almacenamiento</a:t>
              </a:r>
            </a:p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• Validaciones, reglas y comparación histórica</a:t>
              </a:r>
            </a:p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• Trazabilidad, </a:t>
              </a:r>
              <a:r>
                <a:rPr lang="es-CL" sz="1875" noProof="0" dirty="0" err="1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dashboard</a:t>
              </a: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 y reportes</a:t>
              </a:r>
            </a:p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• Análisis IA e integración completa</a:t>
              </a:r>
            </a:p>
          </p:txBody>
        </p:sp>
      </p:grpSp>
      <p:grpSp>
        <p:nvGrpSpPr>
          <p:cNvPr id="32" name="Grupo 31">
            <a:extLst>
              <a:ext uri="{FF2B5EF4-FFF2-40B4-BE49-F238E27FC236}">
                <a16:creationId xmlns:a16="http://schemas.microsoft.com/office/drawing/2014/main" id="{87CA7579-5CAC-4F3A-DC71-1BA36BB7B329}"/>
              </a:ext>
            </a:extLst>
          </p:cNvPr>
          <p:cNvGrpSpPr/>
          <p:nvPr/>
        </p:nvGrpSpPr>
        <p:grpSpPr>
          <a:xfrm>
            <a:off x="9429750" y="2857500"/>
            <a:ext cx="8001000" cy="6191250"/>
            <a:chOff x="9429750" y="2143125"/>
            <a:chExt cx="8001000" cy="6191250"/>
          </a:xfrm>
        </p:grpSpPr>
        <p:grpSp>
          <p:nvGrpSpPr>
            <p:cNvPr id="10" name="Group 10"/>
            <p:cNvGrpSpPr/>
            <p:nvPr/>
          </p:nvGrpSpPr>
          <p:grpSpPr>
            <a:xfrm>
              <a:off x="9429750" y="2143125"/>
              <a:ext cx="8001000" cy="6191250"/>
              <a:chOff x="0" y="0"/>
              <a:chExt cx="10668000" cy="82550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0668000" cy="8255000"/>
              </a:xfrm>
              <a:custGeom>
                <a:avLst/>
                <a:gdLst/>
                <a:ahLst/>
                <a:cxnLst/>
                <a:rect l="l" t="t" r="r" b="b"/>
                <a:pathLst>
                  <a:path w="10668000" h="8255000">
                    <a:moveTo>
                      <a:pt x="0" y="0"/>
                    </a:moveTo>
                    <a:lnTo>
                      <a:pt x="10668000" y="0"/>
                    </a:lnTo>
                    <a:lnTo>
                      <a:pt x="10668000" y="8255000"/>
                    </a:lnTo>
                    <a:lnTo>
                      <a:pt x="0" y="8255000"/>
                    </a:lnTo>
                    <a:close/>
                  </a:path>
                </a:pathLst>
              </a:custGeom>
              <a:solidFill>
                <a:srgbClr val="FFF3E8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10668000" cy="8293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9429750" y="2143125"/>
              <a:ext cx="114300" cy="6191250"/>
              <a:chOff x="0" y="0"/>
              <a:chExt cx="152400" cy="82550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152400" cy="8255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255000">
                    <a:moveTo>
                      <a:pt x="0" y="0"/>
                    </a:moveTo>
                    <a:lnTo>
                      <a:pt x="152400" y="0"/>
                    </a:lnTo>
                    <a:lnTo>
                      <a:pt x="152400" y="8255000"/>
                    </a:lnTo>
                    <a:lnTo>
                      <a:pt x="0" y="8255000"/>
                    </a:lnTo>
                    <a:close/>
                  </a:path>
                </a:pathLst>
              </a:custGeom>
              <a:solidFill>
                <a:srgbClr val="F5822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38100"/>
                <a:ext cx="152400" cy="8293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10144125" y="2457450"/>
              <a:ext cx="6477000" cy="335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lang="es-CL" sz="24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LIMITACIONES / CONSIDERACIONES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144125" y="3219450"/>
              <a:ext cx="6572250" cy="12144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• Disponibilidad limitada de datos reales</a:t>
              </a:r>
            </a:p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• Complejidad técnica de integración</a:t>
              </a:r>
            </a:p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• Uso inicial de datos de prueba o simulados</a:t>
              </a:r>
            </a:p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• Desarrollo modular para reducir riesgos</a:t>
              </a:r>
            </a:p>
          </p:txBody>
        </p:sp>
      </p:grpSp>
      <p:sp>
        <p:nvSpPr>
          <p:cNvPr id="26" name="TextBox 6">
            <a:extLst>
              <a:ext uri="{FF2B5EF4-FFF2-40B4-BE49-F238E27FC236}">
                <a16:creationId xmlns:a16="http://schemas.microsoft.com/office/drawing/2014/main" id="{BB651DE2-98F0-1034-1A11-99C3D988E218}"/>
              </a:ext>
            </a:extLst>
          </p:cNvPr>
          <p:cNvSpPr txBox="1"/>
          <p:nvPr/>
        </p:nvSpPr>
        <p:spPr>
          <a:xfrm>
            <a:off x="857250" y="1551623"/>
            <a:ext cx="14287500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52"/>
              </a:lnSpc>
            </a:pPr>
            <a:r>
              <a:rPr lang="es-CL" sz="4050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Alcances y Limitaciones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DF32A7D9-1BB6-371A-8E60-9A2E9BAAAB76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28" name="TextBox 3">
              <a:extLst>
                <a:ext uri="{FF2B5EF4-FFF2-40B4-BE49-F238E27FC236}">
                  <a16:creationId xmlns:a16="http://schemas.microsoft.com/office/drawing/2014/main" id="{BF8A59C2-6AFB-7CC1-F49D-F374A4902FAD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29" name="Imagen 28">
              <a:extLst>
                <a:ext uri="{FF2B5EF4-FFF2-40B4-BE49-F238E27FC236}">
                  <a16:creationId xmlns:a16="http://schemas.microsoft.com/office/drawing/2014/main" id="{5BD6253C-ACB5-9747-87DF-4C4D1EBF8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30" name="AutoShape 5">
              <a:extLst>
                <a:ext uri="{FF2B5EF4-FFF2-40B4-BE49-F238E27FC236}">
                  <a16:creationId xmlns:a16="http://schemas.microsoft.com/office/drawing/2014/main" id="{6F65EEC3-B6C5-8A6B-8081-08256C04529C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1047750" y="2619375"/>
            <a:ext cx="2524125" cy="1809750"/>
            <a:chOff x="0" y="0"/>
            <a:chExt cx="3365500" cy="2413000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33500" y="250825"/>
              <a:ext cx="2032000" cy="3105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Requerimientos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33500" y="812800"/>
              <a:ext cx="2032000" cy="622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Levantamiento y análisis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3524250" y="4286250"/>
            <a:ext cx="523875" cy="571500"/>
          </a:xfrm>
          <a:prstGeom prst="line">
            <a:avLst/>
          </a:prstGeom>
          <a:ln w="38100" cap="rnd">
            <a:solidFill>
              <a:srgbClr val="0878B9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s-CL" noProof="0" dirty="0"/>
          </a:p>
        </p:txBody>
      </p:sp>
      <p:grpSp>
        <p:nvGrpSpPr>
          <p:cNvPr id="18" name="Group 18"/>
          <p:cNvGrpSpPr/>
          <p:nvPr/>
        </p:nvGrpSpPr>
        <p:grpSpPr>
          <a:xfrm>
            <a:off x="3762375" y="3476625"/>
            <a:ext cx="2524125" cy="1809750"/>
            <a:chOff x="0" y="0"/>
            <a:chExt cx="3365500" cy="2413000"/>
          </a:xfrm>
        </p:grpSpPr>
        <p:grpSp>
          <p:nvGrpSpPr>
            <p:cNvPr id="19" name="Group 19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33500" y="241300"/>
              <a:ext cx="2032000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s-CL" sz="18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Diseño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33500" y="812800"/>
              <a:ext cx="2032000" cy="939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Arquitectura, datos, ETL y módulos</a:t>
              </a:r>
            </a:p>
          </p:txBody>
        </p:sp>
      </p:grpSp>
      <p:sp>
        <p:nvSpPr>
          <p:cNvPr id="28" name="AutoShape 28"/>
          <p:cNvSpPr/>
          <p:nvPr/>
        </p:nvSpPr>
        <p:spPr>
          <a:xfrm>
            <a:off x="6238875" y="5143500"/>
            <a:ext cx="523875" cy="571500"/>
          </a:xfrm>
          <a:prstGeom prst="line">
            <a:avLst/>
          </a:prstGeom>
          <a:ln w="38100" cap="rnd">
            <a:solidFill>
              <a:srgbClr val="0878B9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s-CL" noProof="0" dirty="0"/>
          </a:p>
        </p:txBody>
      </p:sp>
      <p:grpSp>
        <p:nvGrpSpPr>
          <p:cNvPr id="29" name="Group 29"/>
          <p:cNvGrpSpPr/>
          <p:nvPr/>
        </p:nvGrpSpPr>
        <p:grpSpPr>
          <a:xfrm>
            <a:off x="6477000" y="4333875"/>
            <a:ext cx="2524125" cy="1809750"/>
            <a:chOff x="0" y="0"/>
            <a:chExt cx="3365500" cy="2413000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333500" y="241300"/>
              <a:ext cx="2032000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s-CL" sz="18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Desarrollo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333500" y="812800"/>
              <a:ext cx="2032000" cy="939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Recepción, reglas, trazabilidad, reportes e IA</a:t>
              </a:r>
            </a:p>
          </p:txBody>
        </p:sp>
      </p:grpSp>
      <p:sp>
        <p:nvSpPr>
          <p:cNvPr id="39" name="AutoShape 39"/>
          <p:cNvSpPr/>
          <p:nvPr/>
        </p:nvSpPr>
        <p:spPr>
          <a:xfrm>
            <a:off x="8953500" y="6000750"/>
            <a:ext cx="523875" cy="571500"/>
          </a:xfrm>
          <a:prstGeom prst="line">
            <a:avLst/>
          </a:prstGeom>
          <a:ln w="38100" cap="rnd">
            <a:solidFill>
              <a:srgbClr val="0878B9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s-CL" noProof="0" dirty="0"/>
          </a:p>
        </p:txBody>
      </p:sp>
      <p:grpSp>
        <p:nvGrpSpPr>
          <p:cNvPr id="40" name="Group 40"/>
          <p:cNvGrpSpPr/>
          <p:nvPr/>
        </p:nvGrpSpPr>
        <p:grpSpPr>
          <a:xfrm>
            <a:off x="9191625" y="5191125"/>
            <a:ext cx="2524125" cy="1809750"/>
            <a:chOff x="0" y="0"/>
            <a:chExt cx="3365500" cy="2413000"/>
          </a:xfrm>
        </p:grpSpPr>
        <p:grpSp>
          <p:nvGrpSpPr>
            <p:cNvPr id="41" name="Group 41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47" name="TextBox 47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333500" y="241300"/>
              <a:ext cx="2032000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s-CL" sz="18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Pruebas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333500" y="812800"/>
              <a:ext cx="2032000" cy="622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Funcionales e integración</a:t>
              </a:r>
            </a:p>
          </p:txBody>
        </p:sp>
      </p:grpSp>
      <p:sp>
        <p:nvSpPr>
          <p:cNvPr id="50" name="AutoShape 50"/>
          <p:cNvSpPr/>
          <p:nvPr/>
        </p:nvSpPr>
        <p:spPr>
          <a:xfrm>
            <a:off x="11668125" y="6858000"/>
            <a:ext cx="523875" cy="571500"/>
          </a:xfrm>
          <a:prstGeom prst="line">
            <a:avLst/>
          </a:prstGeom>
          <a:ln w="38100" cap="rnd">
            <a:solidFill>
              <a:srgbClr val="0878B9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s-CL" noProof="0" dirty="0"/>
          </a:p>
        </p:txBody>
      </p:sp>
      <p:grpSp>
        <p:nvGrpSpPr>
          <p:cNvPr id="51" name="Group 51"/>
          <p:cNvGrpSpPr/>
          <p:nvPr/>
        </p:nvGrpSpPr>
        <p:grpSpPr>
          <a:xfrm>
            <a:off x="11906250" y="6048375"/>
            <a:ext cx="2524125" cy="1809750"/>
            <a:chOff x="0" y="0"/>
            <a:chExt cx="3365500" cy="2413000"/>
          </a:xfrm>
        </p:grpSpPr>
        <p:grpSp>
          <p:nvGrpSpPr>
            <p:cNvPr id="52" name="Group 52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333500" y="260350"/>
              <a:ext cx="2032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s-CL" sz="135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Implementación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333500" y="812800"/>
              <a:ext cx="2032000" cy="622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Documentación técnica</a:t>
              </a:r>
            </a:p>
          </p:txBody>
        </p:sp>
      </p:grpSp>
      <p:sp>
        <p:nvSpPr>
          <p:cNvPr id="61" name="AutoShape 61"/>
          <p:cNvSpPr/>
          <p:nvPr/>
        </p:nvSpPr>
        <p:spPr>
          <a:xfrm>
            <a:off x="14382750" y="7715250"/>
            <a:ext cx="523875" cy="571500"/>
          </a:xfrm>
          <a:prstGeom prst="line">
            <a:avLst/>
          </a:prstGeom>
          <a:ln w="38100" cap="rnd">
            <a:solidFill>
              <a:srgbClr val="0878B9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es-CL" noProof="0" dirty="0"/>
          </a:p>
        </p:txBody>
      </p:sp>
      <p:grpSp>
        <p:nvGrpSpPr>
          <p:cNvPr id="62" name="Group 62"/>
          <p:cNvGrpSpPr/>
          <p:nvPr/>
        </p:nvGrpSpPr>
        <p:grpSpPr>
          <a:xfrm>
            <a:off x="14620875" y="6905625"/>
            <a:ext cx="2524125" cy="1809750"/>
            <a:chOff x="0" y="0"/>
            <a:chExt cx="3365500" cy="2413000"/>
          </a:xfrm>
        </p:grpSpPr>
        <p:grpSp>
          <p:nvGrpSpPr>
            <p:cNvPr id="63" name="Group 63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F5822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69" name="TextBox 69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06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333500" y="241300"/>
              <a:ext cx="2032000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s-CL" sz="18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Cierre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333500" y="812800"/>
              <a:ext cx="2032000" cy="622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Correcciones y validación final</a:t>
              </a:r>
            </a:p>
          </p:txBody>
        </p:sp>
      </p:grpSp>
      <p:sp>
        <p:nvSpPr>
          <p:cNvPr id="75" name="TextBox 6">
            <a:extLst>
              <a:ext uri="{FF2B5EF4-FFF2-40B4-BE49-F238E27FC236}">
                <a16:creationId xmlns:a16="http://schemas.microsoft.com/office/drawing/2014/main" id="{0441246B-F707-B3E5-DC02-57904E87C3DC}"/>
              </a:ext>
            </a:extLst>
          </p:cNvPr>
          <p:cNvSpPr txBox="1"/>
          <p:nvPr/>
        </p:nvSpPr>
        <p:spPr>
          <a:xfrm>
            <a:off x="857250" y="1551623"/>
            <a:ext cx="14287500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52"/>
              </a:lnSpc>
            </a:pPr>
            <a:r>
              <a:rPr lang="es-CL" sz="4050" b="1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Metodología en Cascada</a:t>
            </a:r>
          </a:p>
        </p:txBody>
      </p:sp>
      <p:grpSp>
        <p:nvGrpSpPr>
          <p:cNvPr id="76" name="Grupo 75">
            <a:extLst>
              <a:ext uri="{FF2B5EF4-FFF2-40B4-BE49-F238E27FC236}">
                <a16:creationId xmlns:a16="http://schemas.microsoft.com/office/drawing/2014/main" id="{58AF053D-FDA4-7D54-D89A-50FF8908D2ED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77" name="TextBox 3">
              <a:extLst>
                <a:ext uri="{FF2B5EF4-FFF2-40B4-BE49-F238E27FC236}">
                  <a16:creationId xmlns:a16="http://schemas.microsoft.com/office/drawing/2014/main" id="{774955EF-5A49-0F65-7FF2-162A22C29A0B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78" name="Imagen 77">
              <a:extLst>
                <a:ext uri="{FF2B5EF4-FFF2-40B4-BE49-F238E27FC236}">
                  <a16:creationId xmlns:a16="http://schemas.microsoft.com/office/drawing/2014/main" id="{983DA5C0-2E00-0F5A-C912-5518FA3B7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79" name="AutoShape 5">
              <a:extLst>
                <a:ext uri="{FF2B5EF4-FFF2-40B4-BE49-F238E27FC236}">
                  <a16:creationId xmlns:a16="http://schemas.microsoft.com/office/drawing/2014/main" id="{8C8851D6-F00A-0E63-3749-B65B98D60917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6">
            <a:extLst>
              <a:ext uri="{FF2B5EF4-FFF2-40B4-BE49-F238E27FC236}">
                <a16:creationId xmlns:a16="http://schemas.microsoft.com/office/drawing/2014/main" id="{0C13F269-5BBB-073A-8613-CE004D6E1585}"/>
              </a:ext>
            </a:extLst>
          </p:cNvPr>
          <p:cNvSpPr txBox="1"/>
          <p:nvPr/>
        </p:nvSpPr>
        <p:spPr>
          <a:xfrm>
            <a:off x="857250" y="1551623"/>
            <a:ext cx="14287500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52"/>
              </a:lnSpc>
            </a:pPr>
            <a:r>
              <a:rPr lang="es-CL" sz="4050" b="1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Cronograma del Proyecto · 18 semanas</a:t>
            </a:r>
          </a:p>
        </p:txBody>
      </p:sp>
      <p:grpSp>
        <p:nvGrpSpPr>
          <p:cNvPr id="79" name="Grupo 78">
            <a:extLst>
              <a:ext uri="{FF2B5EF4-FFF2-40B4-BE49-F238E27FC236}">
                <a16:creationId xmlns:a16="http://schemas.microsoft.com/office/drawing/2014/main" id="{C46105D2-BC1D-73F1-7AF1-C890FADDD915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80" name="TextBox 3">
              <a:extLst>
                <a:ext uri="{FF2B5EF4-FFF2-40B4-BE49-F238E27FC236}">
                  <a16:creationId xmlns:a16="http://schemas.microsoft.com/office/drawing/2014/main" id="{08F9E046-121C-21B4-E45F-732E22A52FA8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81" name="Imagen 80">
              <a:extLst>
                <a:ext uri="{FF2B5EF4-FFF2-40B4-BE49-F238E27FC236}">
                  <a16:creationId xmlns:a16="http://schemas.microsoft.com/office/drawing/2014/main" id="{99066CE5-05E7-9D57-F37A-B8CF741EB4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82" name="AutoShape 5">
              <a:extLst>
                <a:ext uri="{FF2B5EF4-FFF2-40B4-BE49-F238E27FC236}">
                  <a16:creationId xmlns:a16="http://schemas.microsoft.com/office/drawing/2014/main" id="{89D95406-BBC8-6F58-A6BC-BC7A3E3CC45E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  <p:grpSp>
        <p:nvGrpSpPr>
          <p:cNvPr id="89" name="Grupo 88">
            <a:extLst>
              <a:ext uri="{FF2B5EF4-FFF2-40B4-BE49-F238E27FC236}">
                <a16:creationId xmlns:a16="http://schemas.microsoft.com/office/drawing/2014/main" id="{8729E60B-DA24-E49C-2F19-D8A64FE37E26}"/>
              </a:ext>
            </a:extLst>
          </p:cNvPr>
          <p:cNvGrpSpPr/>
          <p:nvPr/>
        </p:nvGrpSpPr>
        <p:grpSpPr>
          <a:xfrm>
            <a:off x="1371600" y="2676525"/>
            <a:ext cx="15621000" cy="6657975"/>
            <a:chOff x="1371600" y="2771775"/>
            <a:chExt cx="15621000" cy="6657975"/>
          </a:xfrm>
        </p:grpSpPr>
        <p:grpSp>
          <p:nvGrpSpPr>
            <p:cNvPr id="84" name="Grupo 83">
              <a:extLst>
                <a:ext uri="{FF2B5EF4-FFF2-40B4-BE49-F238E27FC236}">
                  <a16:creationId xmlns:a16="http://schemas.microsoft.com/office/drawing/2014/main" id="{01E02C42-9D21-E64B-08EA-4ED3D22A0322}"/>
                </a:ext>
              </a:extLst>
            </p:cNvPr>
            <p:cNvGrpSpPr/>
            <p:nvPr/>
          </p:nvGrpSpPr>
          <p:grpSpPr>
            <a:xfrm>
              <a:off x="1371600" y="2771775"/>
              <a:ext cx="15621000" cy="6657975"/>
              <a:chOff x="1371600" y="2771775"/>
              <a:chExt cx="15621000" cy="6657975"/>
            </a:xfrm>
          </p:grpSpPr>
          <p:sp>
            <p:nvSpPr>
              <p:cNvPr id="20" name="AutoShape 20"/>
              <p:cNvSpPr/>
              <p:nvPr/>
            </p:nvSpPr>
            <p:spPr>
              <a:xfrm>
                <a:off x="8420100" y="3238500"/>
                <a:ext cx="0" cy="6191250"/>
              </a:xfrm>
              <a:prstGeom prst="line">
                <a:avLst/>
              </a:prstGeom>
              <a:ln w="9525" cap="flat">
                <a:solidFill>
                  <a:srgbClr val="D7E0E8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grpSp>
            <p:nvGrpSpPr>
              <p:cNvPr id="83" name="Grupo 82">
                <a:extLst>
                  <a:ext uri="{FF2B5EF4-FFF2-40B4-BE49-F238E27FC236}">
                    <a16:creationId xmlns:a16="http://schemas.microsoft.com/office/drawing/2014/main" id="{31DB4030-E609-8963-31AF-6B39B55E856D}"/>
                  </a:ext>
                </a:extLst>
              </p:cNvPr>
              <p:cNvGrpSpPr/>
              <p:nvPr/>
            </p:nvGrpSpPr>
            <p:grpSpPr>
              <a:xfrm>
                <a:off x="1371600" y="2771775"/>
                <a:ext cx="15621000" cy="6638925"/>
                <a:chOff x="952500" y="2171700"/>
                <a:chExt cx="15621000" cy="6638925"/>
              </a:xfrm>
            </p:grpSpPr>
            <p:sp>
              <p:nvSpPr>
                <p:cNvPr id="7" name="TextBox 7"/>
                <p:cNvSpPr txBox="1"/>
                <p:nvPr/>
              </p:nvSpPr>
              <p:spPr>
                <a:xfrm>
                  <a:off x="371475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</a:t>
                  </a:r>
                </a:p>
              </p:txBody>
            </p:sp>
            <p:sp>
              <p:nvSpPr>
                <p:cNvPr id="8" name="AutoShape 8"/>
                <p:cNvSpPr/>
                <p:nvPr/>
              </p:nvSpPr>
              <p:spPr>
                <a:xfrm>
                  <a:off x="371475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9" name="TextBox 9"/>
                <p:cNvSpPr txBox="1"/>
                <p:nvPr/>
              </p:nvSpPr>
              <p:spPr>
                <a:xfrm>
                  <a:off x="442912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S2</a:t>
                  </a:r>
                </a:p>
              </p:txBody>
            </p:sp>
            <p:sp>
              <p:nvSpPr>
                <p:cNvPr id="10" name="AutoShape 10"/>
                <p:cNvSpPr/>
                <p:nvPr/>
              </p:nvSpPr>
              <p:spPr>
                <a:xfrm>
                  <a:off x="442912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11" name="TextBox 11"/>
                <p:cNvSpPr txBox="1"/>
                <p:nvPr/>
              </p:nvSpPr>
              <p:spPr>
                <a:xfrm>
                  <a:off x="514350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S3</a:t>
                  </a:r>
                </a:p>
              </p:txBody>
            </p:sp>
            <p:sp>
              <p:nvSpPr>
                <p:cNvPr id="12" name="AutoShape 12"/>
                <p:cNvSpPr/>
                <p:nvPr/>
              </p:nvSpPr>
              <p:spPr>
                <a:xfrm>
                  <a:off x="514350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13" name="TextBox 13"/>
                <p:cNvSpPr txBox="1"/>
                <p:nvPr/>
              </p:nvSpPr>
              <p:spPr>
                <a:xfrm>
                  <a:off x="585787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S4</a:t>
                  </a:r>
                </a:p>
              </p:txBody>
            </p:sp>
            <p:sp>
              <p:nvSpPr>
                <p:cNvPr id="14" name="AutoShape 14"/>
                <p:cNvSpPr/>
                <p:nvPr/>
              </p:nvSpPr>
              <p:spPr>
                <a:xfrm>
                  <a:off x="585787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15" name="TextBox 15"/>
                <p:cNvSpPr txBox="1"/>
                <p:nvPr/>
              </p:nvSpPr>
              <p:spPr>
                <a:xfrm>
                  <a:off x="657225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S5</a:t>
                  </a:r>
                </a:p>
              </p:txBody>
            </p:sp>
            <p:sp>
              <p:nvSpPr>
                <p:cNvPr id="16" name="AutoShape 16"/>
                <p:cNvSpPr/>
                <p:nvPr/>
              </p:nvSpPr>
              <p:spPr>
                <a:xfrm>
                  <a:off x="657225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17" name="TextBox 17"/>
                <p:cNvSpPr txBox="1"/>
                <p:nvPr/>
              </p:nvSpPr>
              <p:spPr>
                <a:xfrm>
                  <a:off x="728662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S6</a:t>
                  </a:r>
                </a:p>
              </p:txBody>
            </p:sp>
            <p:sp>
              <p:nvSpPr>
                <p:cNvPr id="18" name="AutoShape 18"/>
                <p:cNvSpPr/>
                <p:nvPr/>
              </p:nvSpPr>
              <p:spPr>
                <a:xfrm>
                  <a:off x="728662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19" name="TextBox 19"/>
                <p:cNvSpPr txBox="1"/>
                <p:nvPr/>
              </p:nvSpPr>
              <p:spPr>
                <a:xfrm>
                  <a:off x="800100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S7</a:t>
                  </a:r>
                </a:p>
              </p:txBody>
            </p:sp>
            <p:sp>
              <p:nvSpPr>
                <p:cNvPr id="21" name="TextBox 21"/>
                <p:cNvSpPr txBox="1"/>
                <p:nvPr/>
              </p:nvSpPr>
              <p:spPr>
                <a:xfrm>
                  <a:off x="871537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S8</a:t>
                  </a:r>
                </a:p>
              </p:txBody>
            </p:sp>
            <p:sp>
              <p:nvSpPr>
                <p:cNvPr id="22" name="AutoShape 22"/>
                <p:cNvSpPr/>
                <p:nvPr/>
              </p:nvSpPr>
              <p:spPr>
                <a:xfrm>
                  <a:off x="871537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23" name="TextBox 23"/>
                <p:cNvSpPr txBox="1"/>
                <p:nvPr/>
              </p:nvSpPr>
              <p:spPr>
                <a:xfrm>
                  <a:off x="942975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S9</a:t>
                  </a:r>
                </a:p>
              </p:txBody>
            </p:sp>
            <p:sp>
              <p:nvSpPr>
                <p:cNvPr id="24" name="AutoShape 24"/>
                <p:cNvSpPr/>
                <p:nvPr/>
              </p:nvSpPr>
              <p:spPr>
                <a:xfrm>
                  <a:off x="942975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25" name="TextBox 25"/>
                <p:cNvSpPr txBox="1"/>
                <p:nvPr/>
              </p:nvSpPr>
              <p:spPr>
                <a:xfrm>
                  <a:off x="1014412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S10</a:t>
                  </a:r>
                </a:p>
              </p:txBody>
            </p:sp>
            <p:sp>
              <p:nvSpPr>
                <p:cNvPr id="26" name="AutoShape 26"/>
                <p:cNvSpPr/>
                <p:nvPr/>
              </p:nvSpPr>
              <p:spPr>
                <a:xfrm>
                  <a:off x="1014412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27" name="TextBox 27"/>
                <p:cNvSpPr txBox="1"/>
                <p:nvPr/>
              </p:nvSpPr>
              <p:spPr>
                <a:xfrm>
                  <a:off x="1085850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S11</a:t>
                  </a:r>
                </a:p>
              </p:txBody>
            </p:sp>
            <p:sp>
              <p:nvSpPr>
                <p:cNvPr id="28" name="AutoShape 28"/>
                <p:cNvSpPr/>
                <p:nvPr/>
              </p:nvSpPr>
              <p:spPr>
                <a:xfrm>
                  <a:off x="1085850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29" name="TextBox 29"/>
                <p:cNvSpPr txBox="1"/>
                <p:nvPr/>
              </p:nvSpPr>
              <p:spPr>
                <a:xfrm>
                  <a:off x="1157287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S12</a:t>
                  </a:r>
                </a:p>
              </p:txBody>
            </p:sp>
            <p:sp>
              <p:nvSpPr>
                <p:cNvPr id="30" name="AutoShape 30"/>
                <p:cNvSpPr/>
                <p:nvPr/>
              </p:nvSpPr>
              <p:spPr>
                <a:xfrm>
                  <a:off x="1157287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31" name="TextBox 31"/>
                <p:cNvSpPr txBox="1"/>
                <p:nvPr/>
              </p:nvSpPr>
              <p:spPr>
                <a:xfrm>
                  <a:off x="1228725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S13</a:t>
                  </a:r>
                </a:p>
              </p:txBody>
            </p:sp>
            <p:sp>
              <p:nvSpPr>
                <p:cNvPr id="32" name="AutoShape 32"/>
                <p:cNvSpPr/>
                <p:nvPr/>
              </p:nvSpPr>
              <p:spPr>
                <a:xfrm>
                  <a:off x="1228725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33" name="TextBox 33"/>
                <p:cNvSpPr txBox="1"/>
                <p:nvPr/>
              </p:nvSpPr>
              <p:spPr>
                <a:xfrm>
                  <a:off x="1300162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S14</a:t>
                  </a:r>
                </a:p>
              </p:txBody>
            </p:sp>
            <p:sp>
              <p:nvSpPr>
                <p:cNvPr id="34" name="AutoShape 34"/>
                <p:cNvSpPr/>
                <p:nvPr/>
              </p:nvSpPr>
              <p:spPr>
                <a:xfrm>
                  <a:off x="1300162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35" name="TextBox 35"/>
                <p:cNvSpPr txBox="1"/>
                <p:nvPr/>
              </p:nvSpPr>
              <p:spPr>
                <a:xfrm>
                  <a:off x="1371600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S15</a:t>
                  </a:r>
                </a:p>
              </p:txBody>
            </p:sp>
            <p:sp>
              <p:nvSpPr>
                <p:cNvPr id="36" name="AutoShape 36"/>
                <p:cNvSpPr/>
                <p:nvPr/>
              </p:nvSpPr>
              <p:spPr>
                <a:xfrm>
                  <a:off x="1371600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37" name="TextBox 37"/>
                <p:cNvSpPr txBox="1"/>
                <p:nvPr/>
              </p:nvSpPr>
              <p:spPr>
                <a:xfrm>
                  <a:off x="1443037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S16</a:t>
                  </a:r>
                </a:p>
              </p:txBody>
            </p:sp>
            <p:sp>
              <p:nvSpPr>
                <p:cNvPr id="38" name="AutoShape 38"/>
                <p:cNvSpPr/>
                <p:nvPr/>
              </p:nvSpPr>
              <p:spPr>
                <a:xfrm>
                  <a:off x="1443037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39" name="TextBox 39"/>
                <p:cNvSpPr txBox="1"/>
                <p:nvPr/>
              </p:nvSpPr>
              <p:spPr>
                <a:xfrm>
                  <a:off x="1514475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S17</a:t>
                  </a:r>
                </a:p>
              </p:txBody>
            </p:sp>
            <p:sp>
              <p:nvSpPr>
                <p:cNvPr id="40" name="AutoShape 40"/>
                <p:cNvSpPr/>
                <p:nvPr/>
              </p:nvSpPr>
              <p:spPr>
                <a:xfrm>
                  <a:off x="1514475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41" name="TextBox 41"/>
                <p:cNvSpPr txBox="1"/>
                <p:nvPr/>
              </p:nvSpPr>
              <p:spPr>
                <a:xfrm>
                  <a:off x="1585912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S18</a:t>
                  </a:r>
                </a:p>
              </p:txBody>
            </p:sp>
            <p:sp>
              <p:nvSpPr>
                <p:cNvPr id="42" name="AutoShape 42"/>
                <p:cNvSpPr/>
                <p:nvPr/>
              </p:nvSpPr>
              <p:spPr>
                <a:xfrm>
                  <a:off x="1585912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43" name="TextBox 43"/>
                <p:cNvSpPr txBox="1"/>
                <p:nvPr/>
              </p:nvSpPr>
              <p:spPr>
                <a:xfrm>
                  <a:off x="952500" y="2886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Análisis y requerimientos</a:t>
                  </a:r>
                </a:p>
              </p:txBody>
            </p:sp>
            <p:grpSp>
              <p:nvGrpSpPr>
                <p:cNvPr id="44" name="Group 44"/>
                <p:cNvGrpSpPr/>
                <p:nvPr/>
              </p:nvGrpSpPr>
              <p:grpSpPr>
                <a:xfrm>
                  <a:off x="3714749" y="2800350"/>
                  <a:ext cx="2857497" cy="390525"/>
                  <a:chOff x="-1" y="-38100"/>
                  <a:chExt cx="3809996" cy="520700"/>
                </a:xfrm>
              </p:grpSpPr>
              <p:sp>
                <p:nvSpPr>
                  <p:cNvPr id="45" name="Freeform 45"/>
                  <p:cNvSpPr/>
                  <p:nvPr/>
                </p:nvSpPr>
                <p:spPr>
                  <a:xfrm>
                    <a:off x="-1" y="0"/>
                    <a:ext cx="3809996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83000" h="482600">
                        <a:moveTo>
                          <a:pt x="0" y="0"/>
                        </a:moveTo>
                        <a:lnTo>
                          <a:pt x="3683000" y="0"/>
                        </a:lnTo>
                        <a:lnTo>
                          <a:pt x="3683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0878B9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46" name="TextBox 46"/>
                  <p:cNvSpPr txBox="1"/>
                  <p:nvPr/>
                </p:nvSpPr>
                <p:spPr>
                  <a:xfrm>
                    <a:off x="0" y="-38100"/>
                    <a:ext cx="3683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47" name="TextBox 47"/>
                <p:cNvSpPr txBox="1"/>
                <p:nvPr/>
              </p:nvSpPr>
              <p:spPr>
                <a:xfrm>
                  <a:off x="952500" y="3648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Arquitectura y base de datos</a:t>
                  </a:r>
                </a:p>
              </p:txBody>
            </p:sp>
            <p:grpSp>
              <p:nvGrpSpPr>
                <p:cNvPr id="48" name="Group 48"/>
                <p:cNvGrpSpPr/>
                <p:nvPr/>
              </p:nvGrpSpPr>
              <p:grpSpPr>
                <a:xfrm>
                  <a:off x="5143499" y="3562350"/>
                  <a:ext cx="2857495" cy="390525"/>
                  <a:chOff x="-1" y="-38100"/>
                  <a:chExt cx="3809993" cy="520700"/>
                </a:xfrm>
              </p:grpSpPr>
              <p:sp>
                <p:nvSpPr>
                  <p:cNvPr id="49" name="Freeform 49"/>
                  <p:cNvSpPr/>
                  <p:nvPr/>
                </p:nvSpPr>
                <p:spPr>
                  <a:xfrm>
                    <a:off x="-1" y="0"/>
                    <a:ext cx="3809993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83000" h="482600">
                        <a:moveTo>
                          <a:pt x="0" y="0"/>
                        </a:moveTo>
                        <a:lnTo>
                          <a:pt x="3683000" y="0"/>
                        </a:lnTo>
                        <a:lnTo>
                          <a:pt x="3683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0878B9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50" name="TextBox 50"/>
                  <p:cNvSpPr txBox="1"/>
                  <p:nvPr/>
                </p:nvSpPr>
                <p:spPr>
                  <a:xfrm>
                    <a:off x="0" y="-38100"/>
                    <a:ext cx="3683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51" name="TextBox 51"/>
                <p:cNvSpPr txBox="1"/>
                <p:nvPr/>
              </p:nvSpPr>
              <p:spPr>
                <a:xfrm>
                  <a:off x="952500" y="4410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Interfaces + ETL</a:t>
                  </a:r>
                </a:p>
              </p:txBody>
            </p:sp>
            <p:grpSp>
              <p:nvGrpSpPr>
                <p:cNvPr id="52" name="Group 52"/>
                <p:cNvGrpSpPr/>
                <p:nvPr/>
              </p:nvGrpSpPr>
              <p:grpSpPr>
                <a:xfrm>
                  <a:off x="6572250" y="4324350"/>
                  <a:ext cx="4286250" cy="390525"/>
                  <a:chOff x="0" y="-38100"/>
                  <a:chExt cx="5715000" cy="520700"/>
                </a:xfrm>
              </p:grpSpPr>
              <p:sp>
                <p:nvSpPr>
                  <p:cNvPr id="53" name="Freeform 53"/>
                  <p:cNvSpPr/>
                  <p:nvPr/>
                </p:nvSpPr>
                <p:spPr>
                  <a:xfrm>
                    <a:off x="0" y="0"/>
                    <a:ext cx="5715000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88000" h="482600">
                        <a:moveTo>
                          <a:pt x="0" y="0"/>
                        </a:moveTo>
                        <a:lnTo>
                          <a:pt x="5588000" y="0"/>
                        </a:lnTo>
                        <a:lnTo>
                          <a:pt x="5588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16B6C8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54" name="TextBox 54"/>
                  <p:cNvSpPr txBox="1"/>
                  <p:nvPr/>
                </p:nvSpPr>
                <p:spPr>
                  <a:xfrm>
                    <a:off x="0" y="-38100"/>
                    <a:ext cx="5588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55" name="TextBox 55"/>
                <p:cNvSpPr txBox="1"/>
                <p:nvPr/>
              </p:nvSpPr>
              <p:spPr>
                <a:xfrm>
                  <a:off x="952500" y="5172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Validaciones y reglas</a:t>
                  </a:r>
                </a:p>
              </p:txBody>
            </p:sp>
            <p:grpSp>
              <p:nvGrpSpPr>
                <p:cNvPr id="56" name="Group 56"/>
                <p:cNvGrpSpPr/>
                <p:nvPr/>
              </p:nvGrpSpPr>
              <p:grpSpPr>
                <a:xfrm>
                  <a:off x="8000999" y="5086350"/>
                  <a:ext cx="4286247" cy="390525"/>
                  <a:chOff x="-1" y="-38100"/>
                  <a:chExt cx="5714996" cy="520700"/>
                </a:xfrm>
              </p:grpSpPr>
              <p:sp>
                <p:nvSpPr>
                  <p:cNvPr id="57" name="Freeform 57"/>
                  <p:cNvSpPr/>
                  <p:nvPr/>
                </p:nvSpPr>
                <p:spPr>
                  <a:xfrm>
                    <a:off x="-1" y="0"/>
                    <a:ext cx="5714996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88000" h="482600">
                        <a:moveTo>
                          <a:pt x="0" y="0"/>
                        </a:moveTo>
                        <a:lnTo>
                          <a:pt x="5588000" y="0"/>
                        </a:lnTo>
                        <a:lnTo>
                          <a:pt x="5588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16B6C8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58" name="TextBox 58"/>
                  <p:cNvSpPr txBox="1"/>
                  <p:nvPr/>
                </p:nvSpPr>
                <p:spPr>
                  <a:xfrm>
                    <a:off x="0" y="-38100"/>
                    <a:ext cx="5588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59" name="TextBox 59"/>
                <p:cNvSpPr txBox="1"/>
                <p:nvPr/>
              </p:nvSpPr>
              <p:spPr>
                <a:xfrm>
                  <a:off x="952500" y="5924550"/>
                  <a:ext cx="2571750" cy="21050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687"/>
                    </a:lnSpc>
                  </a:pPr>
                  <a:r>
                    <a:rPr lang="es-CL" sz="135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Histórico, </a:t>
                  </a:r>
                  <a:r>
                    <a:rPr lang="es-CL" sz="1350" noProof="0" dirty="0" err="1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dashboard</a:t>
                  </a:r>
                  <a:r>
                    <a:rPr lang="es-CL" sz="135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, reportes e IA</a:t>
                  </a:r>
                </a:p>
              </p:txBody>
            </p:sp>
            <p:grpSp>
              <p:nvGrpSpPr>
                <p:cNvPr id="60" name="Group 60"/>
                <p:cNvGrpSpPr/>
                <p:nvPr/>
              </p:nvGrpSpPr>
              <p:grpSpPr>
                <a:xfrm>
                  <a:off x="9429749" y="5848350"/>
                  <a:ext cx="4286249" cy="390525"/>
                  <a:chOff x="-1" y="-38100"/>
                  <a:chExt cx="5714999" cy="520700"/>
                </a:xfrm>
              </p:grpSpPr>
              <p:sp>
                <p:nvSpPr>
                  <p:cNvPr id="61" name="Freeform 61"/>
                  <p:cNvSpPr/>
                  <p:nvPr/>
                </p:nvSpPr>
                <p:spPr>
                  <a:xfrm>
                    <a:off x="-1" y="0"/>
                    <a:ext cx="5714999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88000" h="482600">
                        <a:moveTo>
                          <a:pt x="0" y="0"/>
                        </a:moveTo>
                        <a:lnTo>
                          <a:pt x="5588000" y="0"/>
                        </a:lnTo>
                        <a:lnTo>
                          <a:pt x="5588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16B6C8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62" name="TextBox 62"/>
                  <p:cNvSpPr txBox="1"/>
                  <p:nvPr/>
                </p:nvSpPr>
                <p:spPr>
                  <a:xfrm>
                    <a:off x="0" y="-38100"/>
                    <a:ext cx="5588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63" name="TextBox 63"/>
                <p:cNvSpPr txBox="1"/>
                <p:nvPr/>
              </p:nvSpPr>
              <p:spPr>
                <a:xfrm>
                  <a:off x="952500" y="6696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Integración</a:t>
                  </a:r>
                </a:p>
              </p:txBody>
            </p:sp>
            <p:grpSp>
              <p:nvGrpSpPr>
                <p:cNvPr id="64" name="Group 64"/>
                <p:cNvGrpSpPr/>
                <p:nvPr/>
              </p:nvGrpSpPr>
              <p:grpSpPr>
                <a:xfrm>
                  <a:off x="12287250" y="6610350"/>
                  <a:ext cx="1447800" cy="390525"/>
                  <a:chOff x="0" y="-38100"/>
                  <a:chExt cx="1930400" cy="520700"/>
                </a:xfrm>
              </p:grpSpPr>
              <p:sp>
                <p:nvSpPr>
                  <p:cNvPr id="65" name="Freeform 65"/>
                  <p:cNvSpPr/>
                  <p:nvPr/>
                </p:nvSpPr>
                <p:spPr>
                  <a:xfrm>
                    <a:off x="0" y="0"/>
                    <a:ext cx="1930400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78000" h="482600">
                        <a:moveTo>
                          <a:pt x="0" y="0"/>
                        </a:moveTo>
                        <a:lnTo>
                          <a:pt x="1778000" y="0"/>
                        </a:lnTo>
                        <a:lnTo>
                          <a:pt x="1778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16B6C8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66" name="TextBox 66"/>
                  <p:cNvSpPr txBox="1"/>
                  <p:nvPr/>
                </p:nvSpPr>
                <p:spPr>
                  <a:xfrm>
                    <a:off x="0" y="-38100"/>
                    <a:ext cx="1778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67" name="TextBox 67"/>
                <p:cNvSpPr txBox="1"/>
                <p:nvPr/>
              </p:nvSpPr>
              <p:spPr>
                <a:xfrm>
                  <a:off x="952500" y="7458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Pruebas y correcciones</a:t>
                  </a:r>
                </a:p>
              </p:txBody>
            </p:sp>
            <p:grpSp>
              <p:nvGrpSpPr>
                <p:cNvPr id="68" name="Group 68"/>
                <p:cNvGrpSpPr/>
                <p:nvPr/>
              </p:nvGrpSpPr>
              <p:grpSpPr>
                <a:xfrm>
                  <a:off x="13716000" y="7372350"/>
                  <a:ext cx="2143123" cy="390525"/>
                  <a:chOff x="0" y="-38100"/>
                  <a:chExt cx="2857497" cy="520700"/>
                </a:xfrm>
              </p:grpSpPr>
              <p:sp>
                <p:nvSpPr>
                  <p:cNvPr id="69" name="Freeform 69"/>
                  <p:cNvSpPr/>
                  <p:nvPr/>
                </p:nvSpPr>
                <p:spPr>
                  <a:xfrm>
                    <a:off x="0" y="0"/>
                    <a:ext cx="2857497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30500" h="482600">
                        <a:moveTo>
                          <a:pt x="0" y="0"/>
                        </a:moveTo>
                        <a:lnTo>
                          <a:pt x="2730500" y="0"/>
                        </a:lnTo>
                        <a:lnTo>
                          <a:pt x="27305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F58220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70" name="TextBox 70"/>
                  <p:cNvSpPr txBox="1"/>
                  <p:nvPr/>
                </p:nvSpPr>
                <p:spPr>
                  <a:xfrm>
                    <a:off x="0" y="-38100"/>
                    <a:ext cx="27305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71" name="TextBox 71"/>
                <p:cNvSpPr txBox="1"/>
                <p:nvPr/>
              </p:nvSpPr>
              <p:spPr>
                <a:xfrm>
                  <a:off x="952500" y="8220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Documentación y cierre</a:t>
                  </a:r>
                </a:p>
              </p:txBody>
            </p:sp>
            <p:grpSp>
              <p:nvGrpSpPr>
                <p:cNvPr id="72" name="Group 72"/>
                <p:cNvGrpSpPr/>
                <p:nvPr/>
              </p:nvGrpSpPr>
              <p:grpSpPr>
                <a:xfrm>
                  <a:off x="15144750" y="8134350"/>
                  <a:ext cx="1428750" cy="390525"/>
                  <a:chOff x="0" y="-38100"/>
                  <a:chExt cx="1905000" cy="520700"/>
                </a:xfrm>
              </p:grpSpPr>
              <p:sp>
                <p:nvSpPr>
                  <p:cNvPr id="73" name="Freeform 73"/>
                  <p:cNvSpPr/>
                  <p:nvPr/>
                </p:nvSpPr>
                <p:spPr>
                  <a:xfrm>
                    <a:off x="0" y="0"/>
                    <a:ext cx="1905000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78000" h="482600">
                        <a:moveTo>
                          <a:pt x="0" y="0"/>
                        </a:moveTo>
                        <a:lnTo>
                          <a:pt x="1778000" y="0"/>
                        </a:lnTo>
                        <a:lnTo>
                          <a:pt x="1778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F58220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74" name="TextBox 74"/>
                  <p:cNvSpPr txBox="1"/>
                  <p:nvPr/>
                </p:nvSpPr>
                <p:spPr>
                  <a:xfrm>
                    <a:off x="0" y="-38100"/>
                    <a:ext cx="1778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</p:grpSp>
        </p:grpSp>
        <p:sp>
          <p:nvSpPr>
            <p:cNvPr id="88" name="AutoShape 40">
              <a:extLst>
                <a:ext uri="{FF2B5EF4-FFF2-40B4-BE49-F238E27FC236}">
                  <a16:creationId xmlns:a16="http://schemas.microsoft.com/office/drawing/2014/main" id="{95BEF748-FE1B-5DA4-FF96-504868BBD965}"/>
                </a:ext>
              </a:extLst>
            </p:cNvPr>
            <p:cNvSpPr/>
            <p:nvPr/>
          </p:nvSpPr>
          <p:spPr>
            <a:xfrm>
              <a:off x="16992600" y="3219450"/>
              <a:ext cx="0" cy="6191250"/>
            </a:xfrm>
            <a:prstGeom prst="line">
              <a:avLst/>
            </a:prstGeom>
            <a:ln w="9525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581400" y="1412589"/>
            <a:ext cx="11832548" cy="8874411"/>
          </a:xfrm>
          <a:custGeom>
            <a:avLst/>
            <a:gdLst/>
            <a:ahLst/>
            <a:cxnLst/>
            <a:rect l="l" t="t" r="r" b="b"/>
            <a:pathLst>
              <a:path w="13716000" h="10287000">
                <a:moveTo>
                  <a:pt x="0" y="0"/>
                </a:moveTo>
                <a:lnTo>
                  <a:pt x="13716000" y="0"/>
                </a:lnTo>
                <a:lnTo>
                  <a:pt x="13716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 noProof="0" dirty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DFBEAEA5-D9AF-004F-C2E2-03364A855868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74C95C01-CDAB-7EDB-F0DA-845CC57C43D1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E6448F4F-248B-DC7B-33E7-546903D604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8" name="AutoShape 5">
              <a:extLst>
                <a:ext uri="{FF2B5EF4-FFF2-40B4-BE49-F238E27FC236}">
                  <a16:creationId xmlns:a16="http://schemas.microsoft.com/office/drawing/2014/main" id="{45DCC54C-9948-0842-C236-AAB3828784F3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F10952-E59F-3109-5B4E-4A4535548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166397F4-CAA5-DB04-1D7F-9702F5511EFD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B23F49E7-5F38-673F-AF32-971D653FF696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E0FCCD52-DE57-DA1D-C78D-FBDC2FFED6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8" name="AutoShape 5">
              <a:extLst>
                <a:ext uri="{FF2B5EF4-FFF2-40B4-BE49-F238E27FC236}">
                  <a16:creationId xmlns:a16="http://schemas.microsoft.com/office/drawing/2014/main" id="{2294FEA0-033E-32E8-3E15-41601A386548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  <p:sp>
        <p:nvSpPr>
          <p:cNvPr id="4" name="TextBox 10">
            <a:extLst>
              <a:ext uri="{FF2B5EF4-FFF2-40B4-BE49-F238E27FC236}">
                <a16:creationId xmlns:a16="http://schemas.microsoft.com/office/drawing/2014/main" id="{AB372D4A-98A2-FF9E-5C57-B0B30646ED7E}"/>
              </a:ext>
            </a:extLst>
          </p:cNvPr>
          <p:cNvSpPr txBox="1"/>
          <p:nvPr/>
        </p:nvSpPr>
        <p:spPr>
          <a:xfrm>
            <a:off x="2264459" y="4644934"/>
            <a:ext cx="13759082" cy="997132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7560"/>
              </a:lnSpc>
            </a:pPr>
            <a:r>
              <a:rPr lang="es-CL" sz="8400" b="1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Gracias por su atención</a:t>
            </a:r>
            <a:endParaRPr lang="es-CL" sz="8400" b="1" noProof="0" dirty="0">
              <a:solidFill>
                <a:srgbClr val="082B4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</p:spTree>
    <p:extLst>
      <p:ext uri="{BB962C8B-B14F-4D97-AF65-F5344CB8AC3E}">
        <p14:creationId xmlns:p14="http://schemas.microsoft.com/office/powerpoint/2010/main" val="2593802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402</Words>
  <Application>Microsoft Office PowerPoint</Application>
  <PresentationFormat>Personalizado</PresentationFormat>
  <Paragraphs>118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Source Sans 3</vt:lpstr>
      <vt:lpstr>Calibri</vt:lpstr>
      <vt:lpstr>Montserrat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TTDH Automation</dc:title>
  <cp:lastModifiedBy>Maria Trinidad Gaete Mella</cp:lastModifiedBy>
  <cp:revision>2</cp:revision>
  <dcterms:created xsi:type="dcterms:W3CDTF">2006-08-16T00:00:00Z</dcterms:created>
  <dcterms:modified xsi:type="dcterms:W3CDTF">2026-09-10T14:24:11Z</dcterms:modified>
  <dc:identifier>DAHUv2d-ybI</dc:identifier>
</cp:coreProperties>
</file>