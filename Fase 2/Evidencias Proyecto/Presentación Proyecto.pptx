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d8127a-d88a-e786-b320-6c4b07e1478c}">
          <p14:sldIdLst>
            <p14:sldId id="256"/>
            <p14:sldId id="257"/>
          </p14:sldIdLst>
        </p14:section>
        <p14:section name="La solución" id="{98960ce7-1f1e-615c-e722-7adab0b38b08}">
          <p14:sldIdLst>
            <p14:sldId id="258"/>
            <p14:sldId id="259"/>
          </p14:sldIdLst>
        </p14:section>
        <p14:section name="Cómo funciona" id="{b9066465-e4a1-34ee-4219-249cfc0bac25}">
          <p14:sldIdLst>
            <p14:sldId id="260"/>
            <p14:sldId id="261"/>
            <p14:sldId id="262"/>
          </p14:sldIdLst>
        </p14:section>
        <p14:section name="Avance y próximos pasos" id="{c86b3965-3c1e-c5eb-ea86-e8f3ac49ad06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Etapas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6F6B"/>
              </a:solidFill>
              <a:effectLst/>
            </c:spPr>
          </c:dPt>
          <c:dPt>
            <c:idx val="1"/>
            <c:bubble3D val="0"/>
            <c:spPr>
              <a:solidFill>
                <a:srgbClr val="E0A43A"/>
              </a:solidFill>
              <a:effectLst/>
            </c:spPr>
          </c:dPt>
          <c:dPt>
            <c:idx val="2"/>
            <c:bubble3D val="0"/>
            <c:spPr>
              <a:solidFill>
                <a:srgbClr val="DCEDE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Implementadas</c:v>
                </c:pt>
                <c:pt idx="1">
                  <c:v>En desarrollo</c:v>
                </c:pt>
                <c:pt idx="2">
                  <c:v>Pendientes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 la Fase 2 de TTDH Automation, una plataforma pensada para Banco Genérico: automatiza el tratamiento de los informes de deudores que envía la Tesorería General de la República y la respuesta que el banco debe devolver.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partida: hoy el banco recibe los informes de deudores de la TGR en muchos formatos y los procesa manualmente. Eso trae errores, duplicados, horas de analista y poca trazabilidad frente a una auditoría.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plataforma recorre todo el proceso: recibe el informe, extrae a cada deudor, lo valida, lo cruza con los clientes del banco, genera la respuesta a la TGR y deja todo visible en un dashboard. El analista ya no transcribe; solo revisa las excepciones.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concreto: aceptamos siete formatos por tres canales, ningún dato dudoso se carga sin revisión (umbral de 90 % de confianza en OCR) y la regla de 0,5 UTM sobre el saldo del cliente se aplica automáticamente y queda justificada.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calidad del dato es lo primero. Cada deudor pasa por validaciones automáticas antes del cruce. Lo que no cumple no se pierde: llega a la Bandeja de Excepciones con su motivo y el analista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componente de IA está en desarrollo; esto es lo que hará. No decidirá por el banco: alertará y explicará. Detectará anomalías por deudor y tendencias de rechazo, y sugerirá reglas nuevas que el analista podrá aprobar. Si la IA falla, el informe se procesará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un banco, la seguridad es central. Los documentos se leen con OCR local, sin enviarlos a terceros. Toda acción queda en una bitácora inalterable, el acceso es por roles y la solución no exige licencias pagadas.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cierre de la Fase 2 tenemos cuatro de ocho etapas funcionando: recepción, extracción, ETL y bandeja de excepciones, respaldadas por 116 pruebas automatizadas. La IA analítica está en desarrollo. Quedan para la Fase 3 el cruce con clientes, la respuesta a la TGR y el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Fase 3 cerramos el ciclo de valor para el banco: el cruce con clientes y la regla de 0,5 UTM, la respuesta a la TGR con avisos a clientes, el dashboard con roles y, por último, terminar la IA analítica junto con las pruebas integrales y la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el mensaje central: menos trabajo manual, más control y una respuesta a la TGR auditable.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E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TTDH Automation  ·  Banco Genérico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E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image" Target="../media/image-8-8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TTDH Automation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 la TGR más rápidas, seguras y sin errores manuales para Banco Genérico</a:t>
            </a:r>
            <a:endParaRPr lang="en-US" sz="1800" dirty="0"/>
          </a:p>
        </p:txBody>
      </p:sp>
      <p:sp>
        <p:nvSpPr>
          <p:cNvPr id="4" name="Etiqueta fase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AVANCE FASE 2  ·  CAPSTONE APT122</a:t>
            </a:r>
            <a:endParaRPr lang="en-US" sz="1200" dirty="0"/>
          </a:p>
        </p:txBody>
      </p:sp>
      <p:sp>
        <p:nvSpPr>
          <p:cNvPr id="5" name="Equipo"/>
          <p:cNvSpPr txBox="1"/>
          <p:nvPr/>
        </p:nvSpPr>
        <p:spPr>
          <a:xfrm>
            <a:off x="548640" y="4343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Tomás Catalán  ·  María Trinidad Gaete  ·  David Muñoz  ·  Héctor Sanhueza</a:t>
            </a:r>
            <a:endParaRPr lang="en-US" sz="1200" dirty="0"/>
          </a:p>
        </p:txBody>
      </p:sp>
      <p:sp>
        <p:nvSpPr>
          <p:cNvPr id="6" name="Círculo portada"/>
          <p:cNvSpPr/>
          <p:nvPr/>
        </p:nvSpPr>
        <p:spPr>
          <a:xfrm>
            <a:off x="6537960" y="1234440"/>
            <a:ext cx="2194560" cy="219456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7" name="Icono banc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cada informe de la TGR se procesa a mano</a:t>
            </a:r>
            <a:endParaRPr lang="en-US" sz="2800" dirty="0"/>
          </a:p>
        </p:txBody>
      </p:sp>
      <p:sp>
        <p:nvSpPr>
          <p:cNvPr id="3" name="Tarjeta Formatos dispersos"/>
          <p:cNvSpPr/>
          <p:nvPr/>
        </p:nvSpPr>
        <p:spPr>
          <a:xfrm>
            <a:off x="457200" y="123444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F7F6"/>
          </a:solidFill>
          <a:ln/>
        </p:spPr>
      </p:sp>
      <p:sp>
        <p:nvSpPr>
          <p:cNvPr id="4" name="Formatos dispersos círculo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5" name="Formatos disperso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34490"/>
            <a:ext cx="342900" cy="342900"/>
          </a:xfrm>
          <a:prstGeom prst="rect">
            <a:avLst/>
          </a:prstGeom>
        </p:spPr>
      </p:pic>
      <p:sp>
        <p:nvSpPr>
          <p:cNvPr id="6" name="Título Formatos dispersos"/>
          <p:cNvSpPr txBox="1"/>
          <p:nvPr/>
        </p:nvSpPr>
        <p:spPr>
          <a:xfrm>
            <a:off x="68580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Formatos dispersos</a:t>
            </a:r>
            <a:endParaRPr lang="en-US" sz="1500" dirty="0"/>
          </a:p>
        </p:txBody>
      </p:sp>
      <p:sp>
        <p:nvSpPr>
          <p:cNvPr id="7" name="Texto Formatos dispersos"/>
          <p:cNvSpPr txBox="1"/>
          <p:nvPr/>
        </p:nvSpPr>
        <p:spPr>
          <a:xfrm>
            <a:off x="68580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Los informes llegan por correo como Excel, PDF, escaneos o fotos, y hay que transcribirlos.</a:t>
            </a:r>
            <a:endParaRPr lang="en-US" sz="1200" dirty="0"/>
          </a:p>
        </p:txBody>
      </p:sp>
      <p:sp>
        <p:nvSpPr>
          <p:cNvPr id="8" name="Tarjeta Errores y duplicados"/>
          <p:cNvSpPr/>
          <p:nvPr/>
        </p:nvSpPr>
        <p:spPr>
          <a:xfrm>
            <a:off x="2560320" y="123444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F7F6"/>
          </a:solidFill>
          <a:ln/>
        </p:spPr>
      </p:sp>
      <p:sp>
        <p:nvSpPr>
          <p:cNvPr id="9" name="Errores y duplicados círculo"/>
          <p:cNvSpPr/>
          <p:nvPr/>
        </p:nvSpPr>
        <p:spPr>
          <a:xfrm>
            <a:off x="2788920" y="1463040"/>
            <a:ext cx="685800" cy="68580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10" name="Errores y duplicados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370" y="1634490"/>
            <a:ext cx="342900" cy="342900"/>
          </a:xfrm>
          <a:prstGeom prst="rect">
            <a:avLst/>
          </a:prstGeom>
        </p:spPr>
      </p:pic>
      <p:sp>
        <p:nvSpPr>
          <p:cNvPr id="11" name="Título Errores y duplicados"/>
          <p:cNvSpPr txBox="1"/>
          <p:nvPr/>
        </p:nvSpPr>
        <p:spPr>
          <a:xfrm>
            <a:off x="278892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Errores y duplicados</a:t>
            </a:r>
            <a:endParaRPr lang="en-US" sz="1500" dirty="0"/>
          </a:p>
        </p:txBody>
      </p:sp>
      <p:sp>
        <p:nvSpPr>
          <p:cNvPr id="12" name="Texto Errores y duplicados"/>
          <p:cNvSpPr txBox="1"/>
          <p:nvPr/>
        </p:nvSpPr>
        <p:spPr>
          <a:xfrm>
            <a:off x="278892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RUT mal digitado o un deudor repetido pasa fácil en una revisión manual.</a:t>
            </a:r>
            <a:endParaRPr lang="en-US" sz="1200" dirty="0"/>
          </a:p>
        </p:txBody>
      </p:sp>
      <p:sp>
        <p:nvSpPr>
          <p:cNvPr id="13" name="Tarjeta Tiempo del analista"/>
          <p:cNvSpPr/>
          <p:nvPr/>
        </p:nvSpPr>
        <p:spPr>
          <a:xfrm>
            <a:off x="4663440" y="123444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F7F6"/>
          </a:solidFill>
          <a:ln/>
        </p:spPr>
      </p:sp>
      <p:sp>
        <p:nvSpPr>
          <p:cNvPr id="14" name="Tiempo del analista círculo"/>
          <p:cNvSpPr/>
          <p:nvPr/>
        </p:nvSpPr>
        <p:spPr>
          <a:xfrm>
            <a:off x="4892040" y="1463040"/>
            <a:ext cx="685800" cy="68580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15" name="Tiempo del analista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1634490"/>
            <a:ext cx="342900" cy="342900"/>
          </a:xfrm>
          <a:prstGeom prst="rect">
            <a:avLst/>
          </a:prstGeom>
        </p:spPr>
      </p:pic>
      <p:sp>
        <p:nvSpPr>
          <p:cNvPr id="16" name="Título Tiempo del analista"/>
          <p:cNvSpPr txBox="1"/>
          <p:nvPr/>
        </p:nvSpPr>
        <p:spPr>
          <a:xfrm>
            <a:off x="48920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Tiempo del analista</a:t>
            </a:r>
            <a:endParaRPr lang="en-US" sz="1500" dirty="0"/>
          </a:p>
        </p:txBody>
      </p:sp>
      <p:sp>
        <p:nvSpPr>
          <p:cNvPr id="17" name="Texto Tiempo del analista"/>
          <p:cNvSpPr txBox="1"/>
          <p:nvPr/>
        </p:nvSpPr>
        <p:spPr>
          <a:xfrm>
            <a:off x="489204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Recibir, revisar, cruzar con clientes y responder consume horas de trabajo repetitivo.</a:t>
            </a:r>
            <a:endParaRPr lang="en-US" sz="1200" dirty="0"/>
          </a:p>
        </p:txBody>
      </p:sp>
      <p:sp>
        <p:nvSpPr>
          <p:cNvPr id="18" name="Tarjeta Poca trazabilidad"/>
          <p:cNvSpPr/>
          <p:nvPr/>
        </p:nvSpPr>
        <p:spPr>
          <a:xfrm>
            <a:off x="6766560" y="123444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F3F7F6"/>
          </a:solidFill>
          <a:ln/>
        </p:spPr>
      </p:sp>
      <p:sp>
        <p:nvSpPr>
          <p:cNvPr id="19" name="Poca trazabilidad círculo"/>
          <p:cNvSpPr/>
          <p:nvPr/>
        </p:nvSpPr>
        <p:spPr>
          <a:xfrm>
            <a:off x="6995160" y="1463040"/>
            <a:ext cx="685800" cy="68580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20" name="Poca trazabilidad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1634490"/>
            <a:ext cx="342900" cy="342900"/>
          </a:xfrm>
          <a:prstGeom prst="rect">
            <a:avLst/>
          </a:prstGeom>
        </p:spPr>
      </p:pic>
      <p:sp>
        <p:nvSpPr>
          <p:cNvPr id="21" name="Título Poca trazabilidad"/>
          <p:cNvSpPr txBox="1"/>
          <p:nvPr/>
        </p:nvSpPr>
        <p:spPr>
          <a:xfrm>
            <a:off x="699516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Poca trazabilidad</a:t>
            </a:r>
            <a:endParaRPr lang="en-US" sz="1500" dirty="0"/>
          </a:p>
        </p:txBody>
      </p:sp>
      <p:sp>
        <p:nvSpPr>
          <p:cNvPr id="22" name="Texto Poca trazabilidad"/>
          <p:cNvSpPr txBox="1"/>
          <p:nvPr/>
        </p:nvSpPr>
        <p:spPr>
          <a:xfrm>
            <a:off x="6995160" y="28803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Cuesta demostrar después qué se hizo con cada deudor y por qué.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flujo automático de punta a punta</a:t>
            </a:r>
            <a:endParaRPr lang="en-US" sz="2800" dirty="0"/>
          </a:p>
        </p:txBody>
      </p:sp>
      <p:sp>
        <p:nvSpPr>
          <p:cNvPr id="3" name="Recepción círculo"/>
          <p:cNvSpPr/>
          <p:nvPr/>
        </p:nvSpPr>
        <p:spPr>
          <a:xfrm>
            <a:off x="740664" y="1417320"/>
            <a:ext cx="822960" cy="82296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4" name="Recepción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623060"/>
            <a:ext cx="411480" cy="411480"/>
          </a:xfrm>
          <a:prstGeom prst="rect">
            <a:avLst/>
          </a:prstGeom>
        </p:spPr>
      </p:pic>
      <p:sp>
        <p:nvSpPr>
          <p:cNvPr id="5" name="Paso Recepción"/>
          <p:cNvSpPr txBox="1"/>
          <p:nvPr/>
        </p:nvSpPr>
        <p:spPr>
          <a:xfrm>
            <a:off x="457200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Recepción</a:t>
            </a:r>
            <a:endParaRPr lang="en-US" sz="1400" dirty="0"/>
          </a:p>
        </p:txBody>
      </p:sp>
      <p:sp>
        <p:nvSpPr>
          <p:cNvPr id="6" name="Detalle Recepción"/>
          <p:cNvSpPr txBox="1"/>
          <p:nvPr/>
        </p:nvSpPr>
        <p:spPr>
          <a:xfrm>
            <a:off x="512064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Correo, SFTP o carga web</a:t>
            </a:r>
            <a:endParaRPr lang="en-US" sz="1100" dirty="0"/>
          </a:p>
        </p:txBody>
      </p:sp>
      <p:pic>
        <p:nvPicPr>
          <p:cNvPr id="7" name="Flecha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19072"/>
            <a:ext cx="219456" cy="219456"/>
          </a:xfrm>
          <a:prstGeom prst="rect">
            <a:avLst/>
          </a:prstGeom>
        </p:spPr>
      </p:pic>
      <p:sp>
        <p:nvSpPr>
          <p:cNvPr id="8" name="Extracción círculo"/>
          <p:cNvSpPr/>
          <p:nvPr/>
        </p:nvSpPr>
        <p:spPr>
          <a:xfrm>
            <a:off x="2130552" y="1417320"/>
            <a:ext cx="822960" cy="82296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9" name="Extracción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2" y="1623060"/>
            <a:ext cx="411480" cy="411480"/>
          </a:xfrm>
          <a:prstGeom prst="rect">
            <a:avLst/>
          </a:prstGeom>
        </p:spPr>
      </p:pic>
      <p:sp>
        <p:nvSpPr>
          <p:cNvPr id="10" name="Paso Extracción"/>
          <p:cNvSpPr txBox="1"/>
          <p:nvPr/>
        </p:nvSpPr>
        <p:spPr>
          <a:xfrm>
            <a:off x="1847088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Extracción</a:t>
            </a:r>
            <a:endParaRPr lang="en-US" sz="1400" dirty="0"/>
          </a:p>
        </p:txBody>
      </p:sp>
      <p:sp>
        <p:nvSpPr>
          <p:cNvPr id="11" name="Detalle Extracción"/>
          <p:cNvSpPr txBox="1"/>
          <p:nvPr/>
        </p:nvSpPr>
        <p:spPr>
          <a:xfrm>
            <a:off x="1901952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Lee tablas y aplica OCR</a:t>
            </a:r>
            <a:endParaRPr lang="en-US" sz="1100" dirty="0"/>
          </a:p>
        </p:txBody>
      </p:sp>
      <p:pic>
        <p:nvPicPr>
          <p:cNvPr id="12" name="Flech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719072"/>
            <a:ext cx="219456" cy="219456"/>
          </a:xfrm>
          <a:prstGeom prst="rect">
            <a:avLst/>
          </a:prstGeom>
        </p:spPr>
      </p:pic>
      <p:sp>
        <p:nvSpPr>
          <p:cNvPr id="13" name="Validación círculo"/>
          <p:cNvSpPr/>
          <p:nvPr/>
        </p:nvSpPr>
        <p:spPr>
          <a:xfrm>
            <a:off x="3520440" y="1417320"/>
            <a:ext cx="822960" cy="82296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14" name="Validación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80" y="1623060"/>
            <a:ext cx="411480" cy="411480"/>
          </a:xfrm>
          <a:prstGeom prst="rect">
            <a:avLst/>
          </a:prstGeom>
        </p:spPr>
      </p:pic>
      <p:sp>
        <p:nvSpPr>
          <p:cNvPr id="15" name="Paso Validación"/>
          <p:cNvSpPr txBox="1"/>
          <p:nvPr/>
        </p:nvSpPr>
        <p:spPr>
          <a:xfrm>
            <a:off x="3236976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16" name="Detalle Validación"/>
          <p:cNvSpPr txBox="1"/>
          <p:nvPr/>
        </p:nvSpPr>
        <p:spPr>
          <a:xfrm>
            <a:off x="329184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RUT, montos, duplicados</a:t>
            </a:r>
            <a:endParaRPr lang="en-US" sz="1100" dirty="0"/>
          </a:p>
        </p:txBody>
      </p:sp>
      <p:pic>
        <p:nvPicPr>
          <p:cNvPr id="17" name="Flecha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1719072"/>
            <a:ext cx="219456" cy="219456"/>
          </a:xfrm>
          <a:prstGeom prst="rect">
            <a:avLst/>
          </a:prstGeom>
        </p:spPr>
      </p:pic>
      <p:sp>
        <p:nvSpPr>
          <p:cNvPr id="18" name="Cruce círculo"/>
          <p:cNvSpPr/>
          <p:nvPr/>
        </p:nvSpPr>
        <p:spPr>
          <a:xfrm>
            <a:off x="4910328" y="1417320"/>
            <a:ext cx="822960" cy="822960"/>
          </a:xfrm>
          <a:prstGeom prst="ellipse">
            <a:avLst/>
          </a:prstGeom>
          <a:solidFill>
            <a:srgbClr val="0E3B3A"/>
          </a:solidFill>
          <a:ln/>
        </p:spPr>
      </p:sp>
      <p:pic>
        <p:nvPicPr>
          <p:cNvPr id="19" name="Cruce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6068" y="1623060"/>
            <a:ext cx="411480" cy="411480"/>
          </a:xfrm>
          <a:prstGeom prst="rect">
            <a:avLst/>
          </a:prstGeom>
        </p:spPr>
      </p:pic>
      <p:sp>
        <p:nvSpPr>
          <p:cNvPr id="20" name="Paso Cruce"/>
          <p:cNvSpPr txBox="1"/>
          <p:nvPr/>
        </p:nvSpPr>
        <p:spPr>
          <a:xfrm>
            <a:off x="4626864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Cruce</a:t>
            </a:r>
            <a:endParaRPr lang="en-US" sz="1400" dirty="0"/>
          </a:p>
        </p:txBody>
      </p:sp>
      <p:sp>
        <p:nvSpPr>
          <p:cNvPr id="21" name="Detalle Cruce"/>
          <p:cNvSpPr txBox="1"/>
          <p:nvPr/>
        </p:nvSpPr>
        <p:spPr>
          <a:xfrm>
            <a:off x="4681728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Con clientes del banco</a:t>
            </a:r>
            <a:endParaRPr lang="en-US" sz="1100" dirty="0"/>
          </a:p>
        </p:txBody>
      </p:sp>
      <p:pic>
        <p:nvPicPr>
          <p:cNvPr id="22" name="Flecha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7024" y="1719072"/>
            <a:ext cx="219456" cy="219456"/>
          </a:xfrm>
          <a:prstGeom prst="rect">
            <a:avLst/>
          </a:prstGeom>
        </p:spPr>
      </p:pic>
      <p:sp>
        <p:nvSpPr>
          <p:cNvPr id="23" name="Respuesta TGR círculo"/>
          <p:cNvSpPr/>
          <p:nvPr/>
        </p:nvSpPr>
        <p:spPr>
          <a:xfrm>
            <a:off x="6300216" y="1417320"/>
            <a:ext cx="822960" cy="822960"/>
          </a:xfrm>
          <a:prstGeom prst="ellipse">
            <a:avLst/>
          </a:prstGeom>
          <a:solidFill>
            <a:srgbClr val="0E3B3A"/>
          </a:solidFill>
          <a:ln/>
        </p:spPr>
      </p:sp>
      <p:pic>
        <p:nvPicPr>
          <p:cNvPr id="24" name="Respuesta TGR icon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1623060"/>
            <a:ext cx="411480" cy="411480"/>
          </a:xfrm>
          <a:prstGeom prst="rect">
            <a:avLst/>
          </a:prstGeom>
        </p:spPr>
      </p:pic>
      <p:sp>
        <p:nvSpPr>
          <p:cNvPr id="25" name="Paso Respuesta TGR"/>
          <p:cNvSpPr txBox="1"/>
          <p:nvPr/>
        </p:nvSpPr>
        <p:spPr>
          <a:xfrm>
            <a:off x="6016752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Respuesta TGR</a:t>
            </a:r>
            <a:endParaRPr lang="en-US" sz="1400" dirty="0"/>
          </a:p>
        </p:txBody>
      </p:sp>
      <p:sp>
        <p:nvSpPr>
          <p:cNvPr id="26" name="Detalle Respuesta TGR"/>
          <p:cNvSpPr txBox="1"/>
          <p:nvPr/>
        </p:nvSpPr>
        <p:spPr>
          <a:xfrm>
            <a:off x="6071616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Informe y avisos</a:t>
            </a:r>
            <a:endParaRPr lang="en-US" sz="1100" dirty="0"/>
          </a:p>
        </p:txBody>
      </p:sp>
      <p:pic>
        <p:nvPicPr>
          <p:cNvPr id="27" name="Flecha 4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912" y="1719072"/>
            <a:ext cx="219456" cy="219456"/>
          </a:xfrm>
          <a:prstGeom prst="rect">
            <a:avLst/>
          </a:prstGeom>
        </p:spPr>
      </p:pic>
      <p:sp>
        <p:nvSpPr>
          <p:cNvPr id="28" name="Monitoreo círculo"/>
          <p:cNvSpPr/>
          <p:nvPr/>
        </p:nvSpPr>
        <p:spPr>
          <a:xfrm>
            <a:off x="7690104" y="1417320"/>
            <a:ext cx="822960" cy="822960"/>
          </a:xfrm>
          <a:prstGeom prst="ellipse">
            <a:avLst/>
          </a:prstGeom>
          <a:solidFill>
            <a:srgbClr val="0E3B3A"/>
          </a:solidFill>
          <a:ln/>
        </p:spPr>
      </p:sp>
      <p:pic>
        <p:nvPicPr>
          <p:cNvPr id="29" name="Monitoreo icono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5844" y="1623060"/>
            <a:ext cx="411480" cy="411480"/>
          </a:xfrm>
          <a:prstGeom prst="rect">
            <a:avLst/>
          </a:prstGeom>
        </p:spPr>
      </p:pic>
      <p:sp>
        <p:nvSpPr>
          <p:cNvPr id="30" name="Paso Monitoreo"/>
          <p:cNvSpPr txBox="1"/>
          <p:nvPr/>
        </p:nvSpPr>
        <p:spPr>
          <a:xfrm>
            <a:off x="7406640" y="2377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Monitoreo</a:t>
            </a:r>
            <a:endParaRPr lang="en-US" sz="1400" dirty="0"/>
          </a:p>
        </p:txBody>
      </p:sp>
      <p:sp>
        <p:nvSpPr>
          <p:cNvPr id="31" name="Detalle Monitoreo"/>
          <p:cNvSpPr txBox="1"/>
          <p:nvPr/>
        </p:nvSpPr>
        <p:spPr>
          <a:xfrm>
            <a:off x="7461504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Dashboard y bitácora</a:t>
            </a:r>
            <a:endParaRPr lang="en-US" sz="1100" dirty="0"/>
          </a:p>
        </p:txBody>
      </p:sp>
      <p:sp>
        <p:nvSpPr>
          <p:cNvPr id="32" name="Mensaje clave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DCEDEA"/>
          </a:solidFill>
          <a:ln/>
        </p:spPr>
      </p:sp>
      <p:sp>
        <p:nvSpPr>
          <p:cNvPr id="33" name="Texto mensaje clave"/>
          <p:cNvSpPr txBox="1"/>
          <p:nvPr/>
        </p:nvSpPr>
        <p:spPr>
          <a:xfrm>
            <a:off x="731520" y="3520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 analista solo interviene en lo dudoso.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 que no cumple las reglas pasa a una Bandeja de Excepciones, donde se corrige o se descarta con su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gana el banco</a:t>
            </a:r>
            <a:endParaRPr lang="en-US" sz="2800" dirty="0"/>
          </a:p>
        </p:txBody>
      </p:sp>
      <p:sp>
        <p:nvSpPr>
          <p:cNvPr id="3" name="Cifra formatos aceptados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4" name="Número formatos aceptados"/>
          <p:cNvSpPr txBox="1"/>
          <p:nvPr/>
        </p:nvSpPr>
        <p:spPr>
          <a:xfrm>
            <a:off x="731520" y="137160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5" name="Etiqueta formatos aceptados"/>
          <p:cNvSpPr txBox="1"/>
          <p:nvPr/>
        </p:nvSpPr>
        <p:spPr>
          <a:xfrm>
            <a:off x="2331720" y="13716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formatos aceptados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Excel, CSV, TXT, Word, PDF, escaneo y fotografía</a:t>
            </a:r>
            <a:endParaRPr lang="en-US" sz="1500" dirty="0"/>
          </a:p>
        </p:txBody>
      </p:sp>
      <p:sp>
        <p:nvSpPr>
          <p:cNvPr id="6" name="Cifra canales de recepción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7" name="Número canales de recepción"/>
          <p:cNvSpPr txBox="1"/>
          <p:nvPr/>
        </p:nvSpPr>
        <p:spPr>
          <a:xfrm>
            <a:off x="4937760" y="137160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Etiqueta canales de recepción"/>
          <p:cNvSpPr txBox="1"/>
          <p:nvPr/>
        </p:nvSpPr>
        <p:spPr>
          <a:xfrm>
            <a:off x="6537960" y="137160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canales de recepción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Correo institucional, SFTP y carga web</a:t>
            </a:r>
            <a:endParaRPr lang="en-US" sz="1500" dirty="0"/>
          </a:p>
        </p:txBody>
      </p:sp>
      <p:sp>
        <p:nvSpPr>
          <p:cNvPr id="9" name="Cifra confianza mínima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10" name="Número confianza mínima"/>
          <p:cNvSpPr txBox="1"/>
          <p:nvPr/>
        </p:nvSpPr>
        <p:spPr>
          <a:xfrm>
            <a:off x="73152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4400" dirty="0"/>
          </a:p>
        </p:txBody>
      </p:sp>
      <p:sp>
        <p:nvSpPr>
          <p:cNvPr id="11" name="Etiqueta confianza mínima"/>
          <p:cNvSpPr txBox="1"/>
          <p:nvPr/>
        </p:nvSpPr>
        <p:spPr>
          <a:xfrm>
            <a:off x="2331720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confianza mínima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Bajo ese nivel, el dato leído por OCR va a revisión humana</a:t>
            </a:r>
            <a:endParaRPr lang="en-US" sz="1500" dirty="0"/>
          </a:p>
        </p:txBody>
      </p:sp>
      <p:sp>
        <p:nvSpPr>
          <p:cNvPr id="12" name="Cifra regla aplicada sola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13" name="Número regla aplicada sola"/>
          <p:cNvSpPr txBox="1"/>
          <p:nvPr/>
        </p:nvSpPr>
        <p:spPr>
          <a:xfrm>
            <a:off x="4937760" y="306324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UTM</a:t>
            </a:r>
            <a:endParaRPr lang="en-US" sz="3000" dirty="0"/>
          </a:p>
        </p:txBody>
      </p:sp>
      <p:sp>
        <p:nvSpPr>
          <p:cNvPr id="14" name="Etiqueta regla aplicada sola"/>
          <p:cNvSpPr txBox="1"/>
          <p:nvPr/>
        </p:nvSpPr>
        <p:spPr>
          <a:xfrm>
            <a:off x="6537960" y="3063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regla aplicada sola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Saldo bajo el umbral no se descuenta; se registra el motivo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dato dudoso llega al cruce</a:t>
            </a:r>
            <a:endParaRPr lang="en-US" sz="2800" dirty="0"/>
          </a:p>
        </p:txBody>
      </p:sp>
      <p:sp>
        <p:nvSpPr>
          <p:cNvPr id="3" name="Panel validaciones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3F7F6"/>
          </a:solidFill>
          <a:ln/>
        </p:spPr>
      </p:sp>
      <p:sp>
        <p:nvSpPr>
          <p:cNvPr id="4" name="Título validaciones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Validaciones automáticas</a:t>
            </a:r>
            <a:endParaRPr lang="en-US" sz="1600" dirty="0"/>
          </a:p>
        </p:txBody>
      </p:sp>
      <p:pic>
        <p:nvPicPr>
          <p:cNvPr id="5" name="Check RUT y dígito verificado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9384"/>
            <a:ext cx="228600" cy="228600"/>
          </a:xfrm>
          <a:prstGeom prst="rect">
            <a:avLst/>
          </a:prstGeom>
        </p:spPr>
      </p:pic>
      <p:sp>
        <p:nvSpPr>
          <p:cNvPr id="6" name="Regla RUT y dígito verificador"/>
          <p:cNvSpPr txBox="1"/>
          <p:nvPr/>
        </p:nvSpPr>
        <p:spPr>
          <a:xfrm>
            <a:off x="109728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RUT y dígito verificador</a:t>
            </a:r>
            <a:endParaRPr lang="en-US" sz="1400" dirty="0"/>
          </a:p>
        </p:txBody>
      </p:sp>
      <p:pic>
        <p:nvPicPr>
          <p:cNvPr id="7" name="Check Formato del expedient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40864"/>
            <a:ext cx="228600" cy="228600"/>
          </a:xfrm>
          <a:prstGeom prst="rect">
            <a:avLst/>
          </a:prstGeom>
        </p:spPr>
      </p:pic>
      <p:sp>
        <p:nvSpPr>
          <p:cNvPr id="8" name="Regla Formato del expediente"/>
          <p:cNvSpPr txBox="1"/>
          <p:nvPr/>
        </p:nvSpPr>
        <p:spPr>
          <a:xfrm>
            <a:off x="1097280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Formato del expediente</a:t>
            </a:r>
            <a:endParaRPr lang="en-US" sz="1400" dirty="0"/>
          </a:p>
        </p:txBody>
      </p:sp>
      <p:pic>
        <p:nvPicPr>
          <p:cNvPr id="9" name="Check Fechas coherent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52344"/>
            <a:ext cx="228600" cy="228600"/>
          </a:xfrm>
          <a:prstGeom prst="rect">
            <a:avLst/>
          </a:prstGeom>
        </p:spPr>
      </p:pic>
      <p:sp>
        <p:nvSpPr>
          <p:cNvPr id="10" name="Regla Fechas coherentes"/>
          <p:cNvSpPr txBox="1"/>
          <p:nvPr/>
        </p:nvSpPr>
        <p:spPr>
          <a:xfrm>
            <a:off x="109728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Fechas coherentes</a:t>
            </a:r>
            <a:endParaRPr lang="en-US" sz="1400" dirty="0"/>
          </a:p>
        </p:txBody>
      </p:sp>
      <p:pic>
        <p:nvPicPr>
          <p:cNvPr id="11" name="Check Monto obligatori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63824"/>
            <a:ext cx="228600" cy="228600"/>
          </a:xfrm>
          <a:prstGeom prst="rect">
            <a:avLst/>
          </a:prstGeom>
        </p:spPr>
      </p:pic>
      <p:sp>
        <p:nvSpPr>
          <p:cNvPr id="12" name="Regla Monto obligatorio"/>
          <p:cNvSpPr txBox="1"/>
          <p:nvPr/>
        </p:nvSpPr>
        <p:spPr>
          <a:xfrm>
            <a:off x="109728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Monto obligatorio</a:t>
            </a:r>
            <a:endParaRPr lang="en-US" sz="1400" dirty="0"/>
          </a:p>
        </p:txBody>
      </p:sp>
      <p:pic>
        <p:nvPicPr>
          <p:cNvPr id="13" name="Check Deudores duplicado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575304"/>
            <a:ext cx="228600" cy="228600"/>
          </a:xfrm>
          <a:prstGeom prst="rect">
            <a:avLst/>
          </a:prstGeom>
        </p:spPr>
      </p:pic>
      <p:sp>
        <p:nvSpPr>
          <p:cNvPr id="14" name="Regla Deudores duplicados"/>
          <p:cNvSpPr txBox="1"/>
          <p:nvPr/>
        </p:nvSpPr>
        <p:spPr>
          <a:xfrm>
            <a:off x="1097280" y="3520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Deudores duplicados</a:t>
            </a:r>
            <a:endParaRPr lang="en-US" sz="1400" dirty="0"/>
          </a:p>
        </p:txBody>
      </p:sp>
      <p:pic>
        <p:nvPicPr>
          <p:cNvPr id="15" name="Check Totales del informe cuadrado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86784"/>
            <a:ext cx="228600" cy="228600"/>
          </a:xfrm>
          <a:prstGeom prst="rect">
            <a:avLst/>
          </a:prstGeom>
        </p:spPr>
      </p:pic>
      <p:sp>
        <p:nvSpPr>
          <p:cNvPr id="16" name="Regla Totales del informe cuadrados"/>
          <p:cNvSpPr txBox="1"/>
          <p:nvPr/>
        </p:nvSpPr>
        <p:spPr>
          <a:xfrm>
            <a:off x="1097280" y="3931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Totales del informe cuadrados</a:t>
            </a:r>
            <a:endParaRPr lang="en-US" sz="1400" dirty="0"/>
          </a:p>
        </p:txBody>
      </p:sp>
      <p:sp>
        <p:nvSpPr>
          <p:cNvPr id="17" name="Panel bandeja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E3B3A"/>
          </a:solidFill>
          <a:ln/>
        </p:spPr>
      </p:sp>
      <p:sp>
        <p:nvSpPr>
          <p:cNvPr id="18" name="Analista círculo"/>
          <p:cNvSpPr/>
          <p:nvPr/>
        </p:nvSpPr>
        <p:spPr>
          <a:xfrm>
            <a:off x="5029200" y="1417320"/>
            <a:ext cx="685800" cy="68580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19" name="Analista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650" y="1588770"/>
            <a:ext cx="342900" cy="342900"/>
          </a:xfrm>
          <a:prstGeom prst="rect">
            <a:avLst/>
          </a:prstGeom>
        </p:spPr>
      </p:pic>
      <p:sp>
        <p:nvSpPr>
          <p:cNvPr id="20" name="Título bandeja"/>
          <p:cNvSpPr txBox="1"/>
          <p:nvPr/>
        </p:nvSpPr>
        <p:spPr>
          <a:xfrm>
            <a:off x="50292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Bandeja de Excepciones</a:t>
            </a:r>
            <a:endParaRPr lang="en-US" sz="1600" dirty="0"/>
          </a:p>
        </p:txBody>
      </p:sp>
      <p:sp>
        <p:nvSpPr>
          <p:cNvPr id="21" name="Texto bandeja"/>
          <p:cNvSpPr txBox="1"/>
          <p:nvPr/>
        </p:nvSpPr>
        <p:spPr>
          <a:xfrm>
            <a:off x="5029200" y="269748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Cada rechazo llega con su motivo.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El analista corrige o descarta; el caso vuelve al flujo.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3"/>
                </a:solidFill>
              </a:rPr>
              <a:t>Si un informe no cuadra, se revisa completo antes de cargar.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que avisa y explica</a:t>
            </a:r>
            <a:endParaRPr lang="en-US" sz="2800" dirty="0"/>
          </a:p>
        </p:txBody>
      </p:sp>
      <p:sp>
        <p:nvSpPr>
          <p:cNvPr id="3" name="Panel IA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0E3B3A"/>
          </a:solidFill>
          <a:ln/>
        </p:spPr>
      </p:sp>
      <p:pic>
        <p:nvPicPr>
          <p:cNvPr id="4" name="Icono I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914400" cy="914400"/>
          </a:xfrm>
          <a:prstGeom prst="rect">
            <a:avLst/>
          </a:prstGeom>
        </p:spPr>
      </p:pic>
      <p:sp>
        <p:nvSpPr>
          <p:cNvPr id="5" name="Etiqueta en desarrollo"/>
          <p:cNvSpPr txBox="1"/>
          <p:nvPr/>
        </p:nvSpPr>
        <p:spPr>
          <a:xfrm>
            <a:off x="731520" y="3931920"/>
            <a:ext cx="2103120" cy="365760"/>
          </a:xfrm>
          <a:prstGeom prst="rect">
            <a:avLst/>
          </a:prstGeom>
          <a:solidFill>
            <a:srgbClr val="E0A4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tx2"/>
                </a:solidFill>
              </a:rPr>
              <a:t>EN DESARROLLO</a:t>
            </a:r>
            <a:endParaRPr lang="en-US" sz="1200" dirty="0"/>
          </a:p>
        </p:txBody>
      </p:sp>
      <p:sp>
        <p:nvSpPr>
          <p:cNvPr id="6" name="Texto IA"/>
          <p:cNvSpPr txBox="1"/>
          <p:nvPr/>
        </p:nvSpPr>
        <p:spPr>
          <a:xfrm>
            <a:off x="685800" y="26060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Comparará cada informe con el historial de casos y alertará lo que se salga de lo habitual.</a:t>
            </a:r>
            <a:endParaRPr lang="en-US" sz="1400" dirty="0"/>
          </a:p>
        </p:txBody>
      </p:sp>
      <p:sp>
        <p:nvSpPr>
          <p:cNvPr id="7" name="Anomalías por deudor círculo"/>
          <p:cNvSpPr/>
          <p:nvPr/>
        </p:nvSpPr>
        <p:spPr>
          <a:xfrm>
            <a:off x="3474720" y="1280160"/>
            <a:ext cx="640080" cy="64008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8" name="Anomalías por deudor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440180"/>
            <a:ext cx="320040" cy="320040"/>
          </a:xfrm>
          <a:prstGeom prst="rect">
            <a:avLst/>
          </a:prstGeom>
        </p:spPr>
      </p:pic>
      <p:sp>
        <p:nvSpPr>
          <p:cNvPr id="9" name="IA Anomalías por deudor"/>
          <p:cNvSpPr txBox="1"/>
          <p:nvPr/>
        </p:nvSpPr>
        <p:spPr>
          <a:xfrm>
            <a:off x="4343400" y="11887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Anomalías por deudor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Montos fuera de rango, oficios antiguos o un RUT repetido, con nivel Alto, Medio o Bajo.</a:t>
            </a:r>
            <a:endParaRPr lang="en-US" sz="1500" dirty="0"/>
          </a:p>
        </p:txBody>
      </p:sp>
      <p:sp>
        <p:nvSpPr>
          <p:cNvPr id="10" name="Tendencias de rechazo círculo"/>
          <p:cNvSpPr/>
          <p:nvPr/>
        </p:nvSpPr>
        <p:spPr>
          <a:xfrm>
            <a:off x="3474720" y="2423160"/>
            <a:ext cx="640080" cy="64008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11" name="Tendencias de rechazo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2583180"/>
            <a:ext cx="320040" cy="320040"/>
          </a:xfrm>
          <a:prstGeom prst="rect">
            <a:avLst/>
          </a:prstGeom>
        </p:spPr>
      </p:pic>
      <p:sp>
        <p:nvSpPr>
          <p:cNvPr id="12" name="IA Tendencias de rechazo"/>
          <p:cNvSpPr txBox="1"/>
          <p:nvPr/>
        </p:nvSpPr>
        <p:spPr>
          <a:xfrm>
            <a:off x="4343400" y="23317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Tendencias de rechazo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Detectará informes con más errores que lo normal y el motivo que domina.</a:t>
            </a:r>
            <a:endParaRPr lang="en-US" sz="1500" dirty="0"/>
          </a:p>
        </p:txBody>
      </p:sp>
      <p:sp>
        <p:nvSpPr>
          <p:cNvPr id="13" name="Reglas sugeridas círculo"/>
          <p:cNvSpPr/>
          <p:nvPr/>
        </p:nvSpPr>
        <p:spPr>
          <a:xfrm>
            <a:off x="3474720" y="3566160"/>
            <a:ext cx="640080" cy="640080"/>
          </a:xfrm>
          <a:prstGeom prst="ellipse">
            <a:avLst/>
          </a:prstGeom>
          <a:solidFill>
            <a:srgbClr val="DCEDEA"/>
          </a:solidFill>
          <a:ln/>
        </p:spPr>
      </p:sp>
      <p:pic>
        <p:nvPicPr>
          <p:cNvPr id="14" name="Reglas sugeridas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3726180"/>
            <a:ext cx="320040" cy="320040"/>
          </a:xfrm>
          <a:prstGeom prst="rect">
            <a:avLst/>
          </a:prstGeom>
        </p:spPr>
      </p:pic>
      <p:sp>
        <p:nvSpPr>
          <p:cNvPr id="15" name="IA Reglas sugeridas"/>
          <p:cNvSpPr txBox="1"/>
          <p:nvPr/>
        </p:nvSpPr>
        <p:spPr>
          <a:xfrm>
            <a:off x="4343400" y="34747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Reglas sugeridas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Propondrá nuevas validaciones; si el analista las aprueba, se aplicarán desde el siguiente informe.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sensibles que no salen del banco</a:t>
            </a:r>
            <a:endParaRPr lang="en-US" sz="2800" dirty="0"/>
          </a:p>
        </p:txBody>
      </p:sp>
      <p:sp>
        <p:nvSpPr>
          <p:cNvPr id="3" name="Tarjeta OCR local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4" name="OCR local círculo"/>
          <p:cNvSpPr/>
          <p:nvPr/>
        </p:nvSpPr>
        <p:spPr>
          <a:xfrm>
            <a:off x="731520" y="1572768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5" name="OCR local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55648"/>
            <a:ext cx="365760" cy="365760"/>
          </a:xfrm>
          <a:prstGeom prst="rect">
            <a:avLst/>
          </a:prstGeom>
        </p:spPr>
      </p:pic>
      <p:sp>
        <p:nvSpPr>
          <p:cNvPr id="6" name="Texto OCR local"/>
          <p:cNvSpPr txBox="1"/>
          <p:nvPr/>
        </p:nvSpPr>
        <p:spPr>
          <a:xfrm>
            <a:off x="1691640" y="13716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OCR local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Los documentos se leen dentro del banco, sin servicios externos en la nube.</a:t>
            </a:r>
            <a:endParaRPr lang="en-US" sz="1500" dirty="0"/>
          </a:p>
        </p:txBody>
      </p:sp>
      <p:sp>
        <p:nvSpPr>
          <p:cNvPr id="7" name="Tarjeta Bitácora inalterable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8" name="Bitácora inalterable círculo"/>
          <p:cNvSpPr/>
          <p:nvPr/>
        </p:nvSpPr>
        <p:spPr>
          <a:xfrm>
            <a:off x="4937760" y="1572768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9" name="Bitácora inalterable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55648"/>
            <a:ext cx="365760" cy="365760"/>
          </a:xfrm>
          <a:prstGeom prst="rect">
            <a:avLst/>
          </a:prstGeom>
        </p:spPr>
      </p:pic>
      <p:sp>
        <p:nvSpPr>
          <p:cNvPr id="10" name="Texto Bitácora inalterable"/>
          <p:cNvSpPr txBox="1"/>
          <p:nvPr/>
        </p:nvSpPr>
        <p:spPr>
          <a:xfrm>
            <a:off x="5897880" y="137160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Bitácora inalterable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acción queda registrada para auditoría y no se puede modificar.</a:t>
            </a:r>
            <a:endParaRPr lang="en-US" sz="1500" dirty="0"/>
          </a:p>
        </p:txBody>
      </p:sp>
      <p:sp>
        <p:nvSpPr>
          <p:cNvPr id="11" name="Tarjeta Roles y permisos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12" name="Roles y permisos círculo"/>
          <p:cNvSpPr/>
          <p:nvPr/>
        </p:nvSpPr>
        <p:spPr>
          <a:xfrm>
            <a:off x="731520" y="3264408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13" name="Roles y permiso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47288"/>
            <a:ext cx="365760" cy="365760"/>
          </a:xfrm>
          <a:prstGeom prst="rect">
            <a:avLst/>
          </a:prstGeom>
        </p:spPr>
      </p:pic>
      <p:sp>
        <p:nvSpPr>
          <p:cNvPr id="14" name="Texto Roles y permisos"/>
          <p:cNvSpPr txBox="1"/>
          <p:nvPr/>
        </p:nvSpPr>
        <p:spPr>
          <a:xfrm>
            <a:off x="1691640" y="30632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Roles y permisos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Cada usuario ve y hace solo lo que su rol permite.</a:t>
            </a:r>
            <a:endParaRPr lang="en-US" sz="1500" dirty="0"/>
          </a:p>
        </p:txBody>
      </p:sp>
      <p:sp>
        <p:nvSpPr>
          <p:cNvPr id="15" name="Tarjeta Sin costos de licencia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3F7F6"/>
          </a:solidFill>
          <a:ln/>
        </p:spPr>
      </p:sp>
      <p:sp>
        <p:nvSpPr>
          <p:cNvPr id="16" name="Sin costos de licencia círculo"/>
          <p:cNvSpPr/>
          <p:nvPr/>
        </p:nvSpPr>
        <p:spPr>
          <a:xfrm>
            <a:off x="4937760" y="3264408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pic>
        <p:nvPicPr>
          <p:cNvPr id="17" name="Sin costos de licencia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447288"/>
            <a:ext cx="365760" cy="365760"/>
          </a:xfrm>
          <a:prstGeom prst="rect">
            <a:avLst/>
          </a:prstGeom>
        </p:spPr>
      </p:pic>
      <p:sp>
        <p:nvSpPr>
          <p:cNvPr id="18" name="Texto Sin costos de licencia"/>
          <p:cNvSpPr txBox="1"/>
          <p:nvPr/>
        </p:nvSpPr>
        <p:spPr>
          <a:xfrm>
            <a:off x="5897880" y="306324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costos de licencia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Herramientas de código abierto o ediciones gratuitas de SQL Server.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al cierre de la Fase 2</a:t>
            </a:r>
            <a:endParaRPr lang="en-US" sz="2800" dirty="0"/>
          </a:p>
        </p:txBody>
      </p:sp>
      <p:graphicFrame>
        <p:nvGraphicFramePr>
          <p:cNvPr id="3" name="Gráfico avance" descr=""/>
          <p:cNvGraphicFramePr/>
          <p:nvPr/>
        </p:nvGraphicFramePr>
        <p:xfrm>
          <a:off x="457200" y="1143000"/>
          <a:ext cx="2560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entro gráfico"/>
          <p:cNvSpPr txBox="1"/>
          <p:nvPr/>
        </p:nvSpPr>
        <p:spPr>
          <a:xfrm>
            <a:off x="822960" y="20116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8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etapas listas</a:t>
            </a:r>
            <a:endParaRPr lang="en-US" sz="2800" dirty="0"/>
          </a:p>
        </p:txBody>
      </p:sp>
      <p:sp>
        <p:nvSpPr>
          <p:cNvPr id="5" name="Pruebas"/>
          <p:cNvSpPr txBox="1"/>
          <p:nvPr/>
        </p:nvSpPr>
        <p:spPr>
          <a:xfrm>
            <a:off x="457200" y="3886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pruebas automatizadas</a:t>
            </a:r>
            <a:endParaRPr lang="en-US" sz="2000" dirty="0"/>
          </a:p>
        </p:txBody>
      </p:sp>
      <p:pic>
        <p:nvPicPr>
          <p:cNvPr id="6" name="Estado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252728"/>
            <a:ext cx="237744" cy="237744"/>
          </a:xfrm>
          <a:prstGeom prst="rect">
            <a:avLst/>
          </a:prstGeom>
        </p:spPr>
      </p:pic>
      <p:sp>
        <p:nvSpPr>
          <p:cNvPr id="7" name="Etapa 0"/>
          <p:cNvSpPr txBox="1"/>
          <p:nvPr/>
        </p:nvSpPr>
        <p:spPr>
          <a:xfrm>
            <a:off x="4114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Recepción por correo, SFTP y web</a:t>
            </a:r>
            <a:endParaRPr lang="en-US" sz="1400" dirty="0"/>
          </a:p>
        </p:txBody>
      </p:sp>
      <p:sp>
        <p:nvSpPr>
          <p:cNvPr id="8" name="Etiqueta estado 0"/>
          <p:cNvSpPr txBox="1"/>
          <p:nvPr/>
        </p:nvSpPr>
        <p:spPr>
          <a:xfrm>
            <a:off x="777240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Listo</a:t>
            </a:r>
            <a:endParaRPr lang="en-US" sz="1200" dirty="0"/>
          </a:p>
        </p:txBody>
      </p:sp>
      <p:pic>
        <p:nvPicPr>
          <p:cNvPr id="9" name="Estado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55064"/>
            <a:ext cx="237744" cy="237744"/>
          </a:xfrm>
          <a:prstGeom prst="rect">
            <a:avLst/>
          </a:prstGeom>
        </p:spPr>
      </p:pic>
      <p:sp>
        <p:nvSpPr>
          <p:cNvPr id="10" name="Etapa 1"/>
          <p:cNvSpPr txBox="1"/>
          <p:nvPr/>
        </p:nvSpPr>
        <p:spPr>
          <a:xfrm>
            <a:off x="4114800" y="15910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Extracción en 7 formatos con OCR</a:t>
            </a:r>
            <a:endParaRPr lang="en-US" sz="1400" dirty="0"/>
          </a:p>
        </p:txBody>
      </p:sp>
      <p:sp>
        <p:nvSpPr>
          <p:cNvPr id="11" name="Etiqueta estado 1"/>
          <p:cNvSpPr txBox="1"/>
          <p:nvPr/>
        </p:nvSpPr>
        <p:spPr>
          <a:xfrm>
            <a:off x="7772400" y="15910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Listo</a:t>
            </a:r>
            <a:endParaRPr lang="en-US" sz="1200" dirty="0"/>
          </a:p>
        </p:txBody>
      </p:sp>
      <p:pic>
        <p:nvPicPr>
          <p:cNvPr id="12" name="Estado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057400"/>
            <a:ext cx="237744" cy="237744"/>
          </a:xfrm>
          <a:prstGeom prst="rect">
            <a:avLst/>
          </a:prstGeom>
        </p:spPr>
      </p:pic>
      <p:sp>
        <p:nvSpPr>
          <p:cNvPr id="13" name="Etapa 2"/>
          <p:cNvSpPr txBox="1"/>
          <p:nvPr/>
        </p:nvSpPr>
        <p:spPr>
          <a:xfrm>
            <a:off x="4114800" y="1993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ETL con validaciones y trazabilidad</a:t>
            </a:r>
            <a:endParaRPr lang="en-US" sz="1400" dirty="0"/>
          </a:p>
        </p:txBody>
      </p:sp>
      <p:sp>
        <p:nvSpPr>
          <p:cNvPr id="14" name="Etiqueta estado 2"/>
          <p:cNvSpPr txBox="1"/>
          <p:nvPr/>
        </p:nvSpPr>
        <p:spPr>
          <a:xfrm>
            <a:off x="7772400" y="19933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Listo</a:t>
            </a:r>
            <a:endParaRPr lang="en-US" sz="1200" dirty="0"/>
          </a:p>
        </p:txBody>
      </p:sp>
      <p:pic>
        <p:nvPicPr>
          <p:cNvPr id="15" name="Estado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459736"/>
            <a:ext cx="237744" cy="237744"/>
          </a:xfrm>
          <a:prstGeom prst="rect">
            <a:avLst/>
          </a:prstGeom>
        </p:spPr>
      </p:pic>
      <p:sp>
        <p:nvSpPr>
          <p:cNvPr id="16" name="Etapa 3"/>
          <p:cNvSpPr txBox="1"/>
          <p:nvPr/>
        </p:nvSpPr>
        <p:spPr>
          <a:xfrm>
            <a:off x="4114800" y="2395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Bandeja de Excepciones</a:t>
            </a:r>
            <a:endParaRPr lang="en-US" sz="1400" dirty="0"/>
          </a:p>
        </p:txBody>
      </p:sp>
      <p:sp>
        <p:nvSpPr>
          <p:cNvPr id="17" name="Etiqueta estado 3"/>
          <p:cNvSpPr txBox="1"/>
          <p:nvPr/>
        </p:nvSpPr>
        <p:spPr>
          <a:xfrm>
            <a:off x="777240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Listo</a:t>
            </a:r>
            <a:endParaRPr lang="en-US" sz="1200" dirty="0"/>
          </a:p>
        </p:txBody>
      </p:sp>
      <p:pic>
        <p:nvPicPr>
          <p:cNvPr id="18" name="Estado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862072"/>
            <a:ext cx="237744" cy="237744"/>
          </a:xfrm>
          <a:prstGeom prst="rect">
            <a:avLst/>
          </a:prstGeom>
        </p:spPr>
      </p:pic>
      <p:sp>
        <p:nvSpPr>
          <p:cNvPr id="19" name="Etapa 4"/>
          <p:cNvSpPr txBox="1"/>
          <p:nvPr/>
        </p:nvSpPr>
        <p:spPr>
          <a:xfrm>
            <a:off x="4114800" y="2798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 analítica de anomalías</a:t>
            </a:r>
            <a:endParaRPr lang="en-US" sz="1400" dirty="0"/>
          </a:p>
        </p:txBody>
      </p:sp>
      <p:sp>
        <p:nvSpPr>
          <p:cNvPr id="20" name="Etiqueta estado 4"/>
          <p:cNvSpPr txBox="1"/>
          <p:nvPr/>
        </p:nvSpPr>
        <p:spPr>
          <a:xfrm>
            <a:off x="7772400" y="27980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En curso</a:t>
            </a:r>
            <a:endParaRPr lang="en-US" sz="1200" dirty="0"/>
          </a:p>
        </p:txBody>
      </p:sp>
      <p:pic>
        <p:nvPicPr>
          <p:cNvPr id="21" name="Estado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264408"/>
            <a:ext cx="237744" cy="237744"/>
          </a:xfrm>
          <a:prstGeom prst="rect">
            <a:avLst/>
          </a:prstGeom>
        </p:spPr>
      </p:pic>
      <p:sp>
        <p:nvSpPr>
          <p:cNvPr id="22" name="Etapa 5"/>
          <p:cNvSpPr txBox="1"/>
          <p:nvPr/>
        </p:nvSpPr>
        <p:spPr>
          <a:xfrm>
            <a:off x="411480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Cruce con clientes y regla 0,5 UTM</a:t>
            </a:r>
            <a:endParaRPr lang="en-US" sz="1400" dirty="0"/>
          </a:p>
        </p:txBody>
      </p:sp>
      <p:sp>
        <p:nvSpPr>
          <p:cNvPr id="23" name="Etiqueta estado 5"/>
          <p:cNvSpPr txBox="1"/>
          <p:nvPr/>
        </p:nvSpPr>
        <p:spPr>
          <a:xfrm>
            <a:off x="777240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Fase 3</a:t>
            </a:r>
            <a:endParaRPr lang="en-US" sz="1200" dirty="0"/>
          </a:p>
        </p:txBody>
      </p:sp>
      <p:pic>
        <p:nvPicPr>
          <p:cNvPr id="24" name="Estado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3666744"/>
            <a:ext cx="237744" cy="237744"/>
          </a:xfrm>
          <a:prstGeom prst="rect">
            <a:avLst/>
          </a:prstGeom>
        </p:spPr>
      </p:pic>
      <p:sp>
        <p:nvSpPr>
          <p:cNvPr id="25" name="Etapa 6"/>
          <p:cNvSpPr txBox="1"/>
          <p:nvPr/>
        </p:nvSpPr>
        <p:spPr>
          <a:xfrm>
            <a:off x="411480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Informe de respuesta TGR y avisos</a:t>
            </a:r>
            <a:endParaRPr lang="en-US" sz="1400" dirty="0"/>
          </a:p>
        </p:txBody>
      </p:sp>
      <p:sp>
        <p:nvSpPr>
          <p:cNvPr id="26" name="Etiqueta estado 6"/>
          <p:cNvSpPr txBox="1"/>
          <p:nvPr/>
        </p:nvSpPr>
        <p:spPr>
          <a:xfrm>
            <a:off x="7772400" y="36027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Fase 3</a:t>
            </a:r>
            <a:endParaRPr lang="en-US" sz="1200" dirty="0"/>
          </a:p>
        </p:txBody>
      </p:sp>
      <p:pic>
        <p:nvPicPr>
          <p:cNvPr id="27" name="Estado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4069080"/>
            <a:ext cx="237744" cy="237744"/>
          </a:xfrm>
          <a:prstGeom prst="rect">
            <a:avLst/>
          </a:prstGeom>
        </p:spPr>
      </p:pic>
      <p:sp>
        <p:nvSpPr>
          <p:cNvPr id="28" name="Etapa 7"/>
          <p:cNvSpPr txBox="1"/>
          <p:nvPr/>
        </p:nvSpPr>
        <p:spPr>
          <a:xfrm>
            <a:off x="4114800" y="4005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Dashboard, usuarios y roles</a:t>
            </a:r>
            <a:endParaRPr lang="en-US" sz="1400" dirty="0"/>
          </a:p>
        </p:txBody>
      </p:sp>
      <p:sp>
        <p:nvSpPr>
          <p:cNvPr id="29" name="Etiqueta estado 7"/>
          <p:cNvSpPr txBox="1"/>
          <p:nvPr/>
        </p:nvSpPr>
        <p:spPr>
          <a:xfrm>
            <a:off x="7772400" y="40050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Fase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pasos: Fase 3</a:t>
            </a:r>
            <a:endParaRPr lang="en-US" sz="2800" dirty="0"/>
          </a:p>
        </p:txBody>
      </p:sp>
      <p:sp>
        <p:nvSpPr>
          <p:cNvPr id="3" name="Paso círculo 1"/>
          <p:cNvSpPr/>
          <p:nvPr/>
        </p:nvSpPr>
        <p:spPr>
          <a:xfrm>
            <a:off x="1051560" y="1280160"/>
            <a:ext cx="731520" cy="731520"/>
          </a:xfrm>
          <a:prstGeom prst="ellipse">
            <a:avLst/>
          </a:prstGeom>
          <a:solidFill>
            <a:srgbClr val="E0A43A"/>
          </a:solidFill>
          <a:ln/>
        </p:spPr>
      </p:sp>
      <p:sp>
        <p:nvSpPr>
          <p:cNvPr id="4" name="Paso número 1"/>
          <p:cNvSpPr txBox="1"/>
          <p:nvPr/>
        </p:nvSpPr>
        <p:spPr>
          <a:xfrm>
            <a:off x="105156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Conector 1"/>
          <p:cNvSpPr/>
          <p:nvPr/>
        </p:nvSpPr>
        <p:spPr>
          <a:xfrm>
            <a:off x="1874520" y="1645920"/>
            <a:ext cx="1280160" cy="0"/>
          </a:xfrm>
          <a:prstGeom prst="line">
            <a:avLst/>
          </a:prstGeom>
          <a:noFill/>
          <a:ln w="25400">
            <a:solidFill>
              <a:srgbClr val="DCEDEA"/>
            </a:solidFill>
            <a:prstDash val="solid"/>
          </a:ln>
        </p:spPr>
      </p:sp>
      <p:sp>
        <p:nvSpPr>
          <p:cNvPr id="6" name="Tarjeta paso 1"/>
          <p:cNvSpPr/>
          <p:nvPr/>
        </p:nvSpPr>
        <p:spPr>
          <a:xfrm>
            <a:off x="457200" y="22402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7F6"/>
          </a:solidFill>
          <a:ln/>
        </p:spPr>
      </p:sp>
      <p:sp>
        <p:nvSpPr>
          <p:cNvPr id="7" name="Título paso 1"/>
          <p:cNvSpPr txBox="1"/>
          <p:nvPr/>
        </p:nvSpPr>
        <p:spPr>
          <a:xfrm>
            <a:off x="6400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Cruce con clientes</a:t>
            </a:r>
            <a:endParaRPr lang="en-US" sz="1500" dirty="0"/>
          </a:p>
        </p:txBody>
      </p:sp>
      <p:sp>
        <p:nvSpPr>
          <p:cNvPr id="8" name="Texto paso 1"/>
          <p:cNvSpPr txBox="1"/>
          <p:nvPr/>
        </p:nvSpPr>
        <p:spPr>
          <a:xfrm>
            <a:off x="640080" y="27889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Saldos por RUT, regla de 0,5 UTM y deudas de la más antigua a la más nueva.</a:t>
            </a:r>
            <a:endParaRPr lang="en-US" sz="1200" dirty="0"/>
          </a:p>
        </p:txBody>
      </p:sp>
      <p:sp>
        <p:nvSpPr>
          <p:cNvPr id="9" name="Paso círculo 2"/>
          <p:cNvSpPr/>
          <p:nvPr/>
        </p:nvSpPr>
        <p:spPr>
          <a:xfrm>
            <a:off x="3154680" y="1280160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0" name="Paso número 2"/>
          <p:cNvSpPr txBox="1"/>
          <p:nvPr/>
        </p:nvSpPr>
        <p:spPr>
          <a:xfrm>
            <a:off x="315468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Conector 2"/>
          <p:cNvSpPr/>
          <p:nvPr/>
        </p:nvSpPr>
        <p:spPr>
          <a:xfrm>
            <a:off x="3977640" y="1645920"/>
            <a:ext cx="1280160" cy="0"/>
          </a:xfrm>
          <a:prstGeom prst="line">
            <a:avLst/>
          </a:prstGeom>
          <a:noFill/>
          <a:ln w="25400">
            <a:solidFill>
              <a:srgbClr val="DCEDEA"/>
            </a:solidFill>
            <a:prstDash val="solid"/>
          </a:ln>
        </p:spPr>
      </p:sp>
      <p:sp>
        <p:nvSpPr>
          <p:cNvPr id="12" name="Tarjeta paso 2"/>
          <p:cNvSpPr/>
          <p:nvPr/>
        </p:nvSpPr>
        <p:spPr>
          <a:xfrm>
            <a:off x="2560320" y="22402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7F6"/>
          </a:solidFill>
          <a:ln/>
        </p:spPr>
      </p:sp>
      <p:sp>
        <p:nvSpPr>
          <p:cNvPr id="13" name="Título paso 2"/>
          <p:cNvSpPr txBox="1"/>
          <p:nvPr/>
        </p:nvSpPr>
        <p:spPr>
          <a:xfrm>
            <a:off x="274320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Respuesta a la TGR</a:t>
            </a:r>
            <a:endParaRPr lang="en-US" sz="1500" dirty="0"/>
          </a:p>
        </p:txBody>
      </p:sp>
      <p:sp>
        <p:nvSpPr>
          <p:cNvPr id="14" name="Texto paso 2"/>
          <p:cNvSpPr txBox="1"/>
          <p:nvPr/>
        </p:nvSpPr>
        <p:spPr>
          <a:xfrm>
            <a:off x="2743200" y="27889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Informe de quién tuvo descuento y por qué, más avisos a los clientes.</a:t>
            </a:r>
            <a:endParaRPr lang="en-US" sz="1200" dirty="0"/>
          </a:p>
        </p:txBody>
      </p:sp>
      <p:sp>
        <p:nvSpPr>
          <p:cNvPr id="15" name="Paso círculo 3"/>
          <p:cNvSpPr/>
          <p:nvPr/>
        </p:nvSpPr>
        <p:spPr>
          <a:xfrm>
            <a:off x="5257800" y="1280160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16" name="Paso número 3"/>
          <p:cNvSpPr txBox="1"/>
          <p:nvPr/>
        </p:nvSpPr>
        <p:spPr>
          <a:xfrm>
            <a:off x="525780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Conector 3"/>
          <p:cNvSpPr/>
          <p:nvPr/>
        </p:nvSpPr>
        <p:spPr>
          <a:xfrm>
            <a:off x="6080760" y="1645920"/>
            <a:ext cx="1280160" cy="0"/>
          </a:xfrm>
          <a:prstGeom prst="line">
            <a:avLst/>
          </a:prstGeom>
          <a:noFill/>
          <a:ln w="25400">
            <a:solidFill>
              <a:srgbClr val="DCEDEA"/>
            </a:solidFill>
            <a:prstDash val="solid"/>
          </a:ln>
        </p:spPr>
      </p:sp>
      <p:sp>
        <p:nvSpPr>
          <p:cNvPr id="18" name="Tarjeta paso 3"/>
          <p:cNvSpPr/>
          <p:nvPr/>
        </p:nvSpPr>
        <p:spPr>
          <a:xfrm>
            <a:off x="4663440" y="22402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7F6"/>
          </a:solidFill>
          <a:ln/>
        </p:spPr>
      </p:sp>
      <p:sp>
        <p:nvSpPr>
          <p:cNvPr id="19" name="Título paso 3"/>
          <p:cNvSpPr txBox="1"/>
          <p:nvPr/>
        </p:nvSpPr>
        <p:spPr>
          <a:xfrm>
            <a:off x="48463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Dashboard y roles</a:t>
            </a:r>
            <a:endParaRPr lang="en-US" sz="1500" dirty="0"/>
          </a:p>
        </p:txBody>
      </p:sp>
      <p:sp>
        <p:nvSpPr>
          <p:cNvPr id="20" name="Texto paso 3"/>
          <p:cNvSpPr txBox="1"/>
          <p:nvPr/>
        </p:nvSpPr>
        <p:spPr>
          <a:xfrm>
            <a:off x="4846320" y="27889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Métricas del proceso en pantalla y acceso controlado por usuario.</a:t>
            </a:r>
            <a:endParaRPr lang="en-US" sz="1200" dirty="0"/>
          </a:p>
        </p:txBody>
      </p:sp>
      <p:sp>
        <p:nvSpPr>
          <p:cNvPr id="21" name="Paso círculo 4"/>
          <p:cNvSpPr/>
          <p:nvPr/>
        </p:nvSpPr>
        <p:spPr>
          <a:xfrm>
            <a:off x="7360920" y="1280160"/>
            <a:ext cx="731520" cy="731520"/>
          </a:xfrm>
          <a:prstGeom prst="ellipse">
            <a:avLst/>
          </a:prstGeom>
          <a:solidFill>
            <a:srgbClr val="1F6F6B"/>
          </a:solidFill>
          <a:ln/>
        </p:spPr>
      </p:sp>
      <p:sp>
        <p:nvSpPr>
          <p:cNvPr id="22" name="Paso número 4"/>
          <p:cNvSpPr txBox="1"/>
          <p:nvPr/>
        </p:nvSpPr>
        <p:spPr>
          <a:xfrm>
            <a:off x="7360920" y="1280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arjeta paso 4"/>
          <p:cNvSpPr/>
          <p:nvPr/>
        </p:nvSpPr>
        <p:spPr>
          <a:xfrm>
            <a:off x="6766560" y="224028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3F7F6"/>
          </a:solidFill>
          <a:ln/>
        </p:spPr>
      </p:sp>
      <p:sp>
        <p:nvSpPr>
          <p:cNvPr id="24" name="Título paso 4"/>
          <p:cNvSpPr txBox="1"/>
          <p:nvPr/>
        </p:nvSpPr>
        <p:spPr>
          <a:xfrm>
            <a:off x="69494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IA y cierre</a:t>
            </a:r>
            <a:endParaRPr lang="en-US" sz="1500" dirty="0"/>
          </a:p>
        </p:txBody>
      </p:sp>
      <p:sp>
        <p:nvSpPr>
          <p:cNvPr id="25" name="Texto paso 4"/>
          <p:cNvSpPr txBox="1"/>
          <p:nvPr/>
        </p:nvSpPr>
        <p:spPr>
          <a:xfrm>
            <a:off x="6949440" y="27889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Terminar la IA analítica, pruebas de punta a punta y entrega final.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Mensaje cierre"/>
          <p:cNvSpPr txBox="1"/>
          <p:nvPr/>
        </p:nvSpPr>
        <p:spPr>
          <a:xfrm>
            <a:off x="91440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Menos trabajo manual, más control y una respuesta auditable a la TGR</a:t>
            </a:r>
            <a:endParaRPr lang="en-US" sz="1800" dirty="0"/>
          </a:p>
        </p:txBody>
      </p:sp>
      <p:sp>
        <p:nvSpPr>
          <p:cNvPr id="4" name="Preguntas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¿Preguntas?</a:t>
            </a:r>
            <a:endParaRPr lang="en-US" sz="2000" dirty="0"/>
          </a:p>
        </p:txBody>
      </p:sp>
      <p:sp>
        <p:nvSpPr>
          <p:cNvPr id="5" name="Equipo cierre"/>
          <p:cNvSpPr txBox="1"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Tomás Catalán  ·  María Trinidad Gaete  ·  David Muñoz  ·  Héctor Sanhueza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TDH Banco">
  <a:themeElements>
    <a:clrScheme name="TTDH Banco">
      <a:dk1>
        <a:srgbClr val="1C2A2A"/>
      </a:dk1>
      <a:lt1>
        <a:srgbClr val="FFFFFF"/>
      </a:lt1>
      <a:dk2>
        <a:srgbClr val="0E3B3A"/>
      </a:dk2>
      <a:lt2>
        <a:srgbClr val="F3F7F6"/>
      </a:lt2>
      <a:accent1>
        <a:srgbClr val="1F6F6B"/>
      </a:accent1>
      <a:accent2>
        <a:srgbClr val="E0A43A"/>
      </a:accent2>
      <a:accent3>
        <a:srgbClr val="DCEDEA"/>
      </a:accent3>
      <a:accent4>
        <a:srgbClr val="5B6B6A"/>
      </a:accent4>
      <a:accent5>
        <a:srgbClr val="C2553F"/>
      </a:accent5>
      <a:accent6>
        <a:srgbClr val="8FB8B3"/>
      </a:accent6>
      <a:hlink>
        <a:srgbClr val="1F6F6B"/>
      </a:hlink>
      <a:folHlink>
        <a:srgbClr val="5B6B6A"/>
      </a:folHlink>
    </a:clrScheme>
    <a:fontScheme name="TTDH Ban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TTDH Automation – Avance Fase 2</dc:title>
  <dc:subject>PptxGenJS Presentation</dc:subject>
  <dc:creator>Equipo TTDH Automation</dc:creator>
  <cp:lastModifiedBy>Equipo TTDH Automation</cp:lastModifiedBy>
  <cp:revision>1</cp:revision>
  <dcterms:created xsi:type="dcterms:W3CDTF">2026-10-15T21:37:50Z</dcterms:created>
  <dcterms:modified xsi:type="dcterms:W3CDTF">2026-10-15T21:37:50Z</dcterms:modified>
</cp:coreProperties>
</file>